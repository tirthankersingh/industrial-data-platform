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peline and comparisons" id="{623ece92-2a85-8dec-94a6-80715ce6998f}">
          <p14:sldIdLst>
            <p14:sldId id="256"/>
            <p14:sldId id="257"/>
            <p14:sldId id="258"/>
            <p14:sldId id="259"/>
            <p14:sldId id="260"/>
            <p14:sldId id="261"/>
          </p14:sldIdLst>
        </p14:section>
        <p14:section name="What we did" id="{729159e9-dec9-00e1-7ef7-1f756fdc228f}">
          <p14:sldIdLst>
            <p14:sldId id="262"/>
            <p14:sldId id="263"/>
            <p14:sldId id="264"/>
            <p14:sldId id="265"/>
            <p14:sldId id="266"/>
            <p14:sldId id="267"/>
            <p14:sldId id="268"/>
            <p14:sldId id="269"/>
            <p14:sldId id="270"/>
          </p14:sldIdLst>
        </p14:section>
        <p14:section name="Live demo" id="{a14c5754-6a73-9083-31f7-76ab98aaab30}">
          <p14:sldIdLst>
            <p14:sldId id="271"/>
            <p14:sldId id="272"/>
          </p14:sldIdLst>
        </p14:section>
        <p14:section name="Backup" id="{d2b648c1-f490-9535-89ae-e7c6b7066d97}">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4434B"/>
                </a:solidFill>
                <a:latin typeface="+mn-lt"/>
              </a:defRPr>
            </a:pPr>
            <a:r>
              <a:rPr sz="1400" b="0" i="0" u="none" strike="noStrike">
                <a:solidFill>
                  <a:srgbClr val="34434B"/>
                </a:solidFill>
                <a:latin typeface="+mn-lt"/>
              </a:rPr>
              <a:t>Monthly cloud cost, ₹ lakh (same factory, same data)</a:t>
            </a:r>
          </a:p>
        </c:rich>
      </c:tx>
      <c:layout/>
      <c:overlay val="0"/>
    </c:title>
    <c:autoTitleDeleted val="0"/>
    <c:plotArea>
      <c:layout/>
      <c:barChart>
        <c:barDir val="bar"/>
        <c:grouping val="clustered"/>
        <c:varyColors val="0"/>
        <c:ser>
          <c:idx val="0"/>
          <c:order val="0"/>
          <c:tx>
            <c:strRef>
              <c:f>Sheet1!$B$1</c:f>
              <c:strCache>
                <c:ptCount val="1"/>
                <c:pt idx="0">
                  <c:v>Azure</c:v>
                </c:pt>
              </c:strCache>
            </c:strRef>
          </c:tx>
          <c:spPr>
            <a:solidFill>
              <a:srgbClr val="1B8A8F"/>
            </a:solidFill>
            <a:effectLst/>
          </c:spPr>
          <c:invertIfNegative val="0"/>
          <c:dLbls>
            <c:numFmt formatCode="0.0#" sourceLinked="0"/>
            <c:txPr>
              <a:bodyPr/>
              <a:lstStyle/>
              <a:p>
                <a:pPr>
                  <a:defRPr b="0" i="0" strike="noStrike" sz="1100" u="none">
                    <a:solidFill>
                      <a:srgbClr val="34434B"/>
                    </a:solidFill>
                    <a:latin typeface="+mn-lt"/>
                  </a:defRPr>
                </a:pPr>
              </a:p>
            </c:txPr>
            <c:showLegendKey val="0"/>
            <c:showVal val="1"/>
            <c:showCatName val="0"/>
            <c:showSerName val="0"/>
            <c:showPercent val="0"/>
            <c:showBubbleSize val="0"/>
            <c:showLeaderLines val="0"/>
          </c:dLbls>
          <c:cat>
            <c:multiLvlStrRef>
              <c:f>Sheet1!$A$2:$A$5</c:f>
              <c:multiLvlStrCache>
                <c:ptCount val="4"/>
                <c:lvl>
                  <c:pt idx="0">
                    <c:v>S0 one message per reading</c:v>
                  </c:pt>
                  <c:pt idx="1">
                    <c:v>S3 raw 2 kHz streamed</c:v>
                  </c:pt>
                  <c:pt idx="2">
                    <c:v>S1 batched raw</c:v>
                  </c:pt>
                  <c:pt idx="3">
                    <c:v>S2 batched + edge features</c:v>
                  </c:pt>
                </c:lvl>
              </c:multiLvlStrCache>
            </c:multiLvlStrRef>
          </c:cat>
          <c:val>
            <c:numRef>
              <c:f>Sheet1!$B$2:$B$5</c:f>
              <c:numCache>
                <c:formatCode>General</c:formatCode>
                <c:ptCount val="4"/>
                <c:pt idx="0">
                  <c:v>14.26</c:v>
                </c:pt>
                <c:pt idx="1">
                  <c:v>3.94</c:v>
                </c:pt>
                <c:pt idx="2">
                  <c:v>0.8</c:v>
                </c:pt>
                <c:pt idx="3">
                  <c:v>0.8</c:v>
                </c:pt>
              </c:numCache>
            </c:numRef>
          </c:val>
        </c:ser>
        <c:ser>
          <c:idx val="1"/>
          <c:order val="1"/>
          <c:tx>
            <c:strRef>
              <c:f>Sheet1!$C$1</c:f>
              <c:strCache>
                <c:ptCount val="1"/>
                <c:pt idx="0">
                  <c:v>AWS</c:v>
                </c:pt>
              </c:strCache>
            </c:strRef>
          </c:tx>
          <c:spPr>
            <a:solidFill>
              <a:srgbClr val="6C7A82"/>
            </a:solidFill>
            <a:effectLst/>
          </c:spPr>
          <c:invertIfNegative val="0"/>
          <c:dLbls>
            <c:numFmt formatCode="0.0#" sourceLinked="0"/>
            <c:txPr>
              <a:bodyPr/>
              <a:lstStyle/>
              <a:p>
                <a:pPr>
                  <a:defRPr b="0" i="0" strike="noStrike" sz="1100" u="none">
                    <a:solidFill>
                      <a:srgbClr val="34434B"/>
                    </a:solidFill>
                    <a:latin typeface="+mn-lt"/>
                  </a:defRPr>
                </a:pPr>
              </a:p>
            </c:txPr>
            <c:showLegendKey val="0"/>
            <c:showVal val="1"/>
            <c:showCatName val="0"/>
            <c:showSerName val="0"/>
            <c:showPercent val="0"/>
            <c:showBubbleSize val="0"/>
            <c:showLeaderLines val="0"/>
          </c:dLbls>
          <c:cat>
            <c:multiLvlStrRef>
              <c:f>Sheet1!$A$2:$A$5</c:f>
              <c:multiLvlStrCache>
                <c:ptCount val="4"/>
                <c:lvl>
                  <c:pt idx="0">
                    <c:v>S0 one message per reading</c:v>
                  </c:pt>
                  <c:pt idx="1">
                    <c:v>S3 raw 2 kHz streamed</c:v>
                  </c:pt>
                  <c:pt idx="2">
                    <c:v>S1 batched raw</c:v>
                  </c:pt>
                  <c:pt idx="3">
                    <c:v>S2 batched + edge features</c:v>
                  </c:pt>
                </c:lvl>
              </c:multiLvlStrCache>
            </c:multiLvlStrRef>
          </c:cat>
          <c:val>
            <c:numRef>
              <c:f>Sheet1!$C$2:$C$5</c:f>
              <c:numCache>
                <c:formatCode>General</c:formatCode>
                <c:ptCount val="4"/>
                <c:pt idx="0">
                  <c:v>29.92</c:v>
                </c:pt>
                <c:pt idx="1">
                  <c:v>2.85</c:v>
                </c:pt>
                <c:pt idx="2">
                  <c:v>0.43</c:v>
                </c:pt>
                <c:pt idx="3">
                  <c:v>0.43</c:v>
                </c:pt>
              </c:numCache>
            </c:numRef>
          </c:val>
        </c:ser>
        <c:dLbls>
          <c:numFmt formatCode="0.0#" sourceLinked="0"/>
          <c:txPr>
            <a:bodyPr/>
            <a:lstStyle/>
            <a:p>
              <a:pPr>
                <a:defRPr b="0" i="0" strike="noStrike" sz="1100" u="none">
                  <a:solidFill>
                    <a:srgbClr val="34434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4434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34434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4434B"/>
                </a:solidFill>
                <a:latin typeface="+mn-lt"/>
              </a:defRPr>
            </a:pPr>
            <a:r>
              <a:rPr sz="1400" b="0" i="0" u="none" strike="noStrike">
                <a:solidFill>
                  <a:srgbClr val="34434B"/>
                </a:solidFill>
                <a:latin typeface="+mn-lt"/>
              </a:rPr>
              <a:t>Weighted score out of 5 (10 criteria)</a:t>
            </a:r>
          </a:p>
        </c:rich>
      </c:tx>
      <c:layout/>
      <c:overlay val="0"/>
    </c:title>
    <c:autoTitleDeleted val="0"/>
    <c:plotArea>
      <c:layout/>
      <c:barChart>
        <c:barDir val="bar"/>
        <c:grouping val="clustered"/>
        <c:varyColors val="0"/>
        <c:ser>
          <c:idx val="0"/>
          <c:order val="0"/>
          <c:tx>
            <c:strRef>
              <c:f>Sheet1!$B$1</c:f>
              <c:strCache>
                <c:ptCount val="1"/>
                <c:pt idx="0">
                  <c:v>Weighted score</c:v>
                </c:pt>
              </c:strCache>
            </c:strRef>
          </c:tx>
          <c:spPr>
            <a:solidFill>
              <a:srgbClr val="E8702A"/>
            </a:solidFill>
            <a:effectLst/>
          </c:spPr>
          <c:invertIfNegative val="0"/>
          <c:dLbls>
            <c:numFmt formatCode="0.00" sourceLinked="0"/>
            <c:txPr>
              <a:bodyPr/>
              <a:lstStyle/>
              <a:p>
                <a:pPr>
                  <a:defRPr b="1" i="0" strike="noStrike" sz="1400" u="none">
                    <a:solidFill>
                      <a:srgbClr val="1E262B"/>
                    </a:solidFill>
                    <a:latin typeface="+mn-lt"/>
                  </a:defRPr>
                </a:pPr>
              </a:p>
            </c:txPr>
            <c:showLegendKey val="0"/>
            <c:showVal val="1"/>
            <c:showCatName val="0"/>
            <c:showSerName val="0"/>
            <c:showPercent val="0"/>
            <c:showBubbleSize val="0"/>
            <c:showLeaderLines val="0"/>
          </c:dLbls>
          <c:dPt>
            <c:idx val="0"/>
            <c:invertIfNegative val="0"/>
            <c:bubble3D val="0"/>
            <c:spPr>
              <a:solidFill>
                <a:srgbClr val="E8702A"/>
              </a:solidFill>
              <a:effectLst/>
            </c:spPr>
          </c:dPt>
          <c:dPt>
            <c:idx val="1"/>
            <c:invertIfNegative val="0"/>
            <c:bubble3D val="0"/>
            <c:spPr>
              <a:solidFill>
                <a:srgbClr val="6C7A82"/>
              </a:solidFill>
              <a:effectLst/>
            </c:spPr>
          </c:dPt>
          <c:dPt>
            <c:idx val="2"/>
            <c:invertIfNegative val="0"/>
            <c:bubble3D val="0"/>
            <c:spPr>
              <a:solidFill>
                <a:srgbClr val="6C7A82"/>
              </a:solidFill>
              <a:effectLst/>
            </c:spPr>
          </c:dPt>
          <c:cat>
            <c:multiLvlStrRef>
              <c:f>Sheet1!$A$2:$A$4</c:f>
              <c:multiLvlStrCache>
                <c:ptCount val="3"/>
                <c:lvl>
                  <c:pt idx="0">
                    <c:v>Azure</c:v>
                  </c:pt>
                  <c:pt idx="1">
                    <c:v>AWS</c:v>
                  </c:pt>
                  <c:pt idx="2">
                    <c:v>GCP</c:v>
                  </c:pt>
                </c:lvl>
              </c:multiLvlStrCache>
            </c:multiLvlStrRef>
          </c:cat>
          <c:val>
            <c:numRef>
              <c:f>Sheet1!$B$2:$B$4</c:f>
              <c:numCache>
                <c:formatCode>General</c:formatCode>
                <c:ptCount val="3"/>
                <c:pt idx="0">
                  <c:v>4.22</c:v>
                </c:pt>
                <c:pt idx="1">
                  <c:v>3.92</c:v>
                </c:pt>
                <c:pt idx="2">
                  <c:v>3.57</c:v>
                </c:pt>
              </c:numCache>
            </c:numRef>
          </c:val>
        </c:ser>
        <c:dLbls>
          <c:numFmt formatCode="0.00" sourceLinked="0"/>
          <c:txPr>
            <a:bodyPr/>
            <a:lstStyle/>
            <a:p>
              <a:pPr>
                <a:defRPr b="1" i="0" strike="noStrike" sz="1400" u="none">
                  <a:solidFill>
                    <a:srgbClr val="1E26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500" b="0" i="0" u="none" strike="noStrike">
                <a:solidFill>
                  <a:srgbClr val="34434B"/>
                </a:solidFill>
                <a:latin typeface="+mn-lt"/>
              </a:defRPr>
            </a:pPr>
            <a:endParaRPr lang="en-US"/>
          </a:p>
        </c:txPr>
        <c:crossAx val="2094734552"/>
        <c:crosses val="autoZero"/>
        <c:auto val="1"/>
        <c:lblAlgn val="ctr"/>
        <c:noMultiLvlLbl val="1"/>
      </c:catAx>
      <c:valAx>
        <c:axId val="2094734552"/>
        <c:scaling>
          <c:orientation val="minMax"/>
          <c:max val="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just compare clouds on paper. We built the pipeline, measured it on real factory data, and the last slide is the live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datasets go in on the left, a manufacturing decision comes out on the right. Every number in the report, slides and dashboard comes from these same scripts, so nothing is typed in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factory, same data: 14 to 30 lakh rupees a month if every reading is its own message, 43 to 80 thousand if the edge batches. Batching at the edge is the single biggest lever, bigger than which cloud you pick. Prices from official calculators, FX 94.71 per USD, 21 Oct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measured on real Bosch production data, not assumed. You can't compress noise, but you can summarise it: RMS, kurtosis, crest factor, band energies. 143 times smaller and the anomaly model still separates good from bad at 0.98.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lake is cheap but messy, a warehouse is tidy but costly for raw signals. A lakehouse is the storeroom with a librarian: cheap open files plus a transaction log for de-duplication, updates and history. Over 99% of our bytes are raw vibration, the data that needs the least SQL. That one fact chooses the storage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Lakes store, warehouses query, lakehouses do both. Warehouses are adding lake features and lakehouses are adding warehouse features: they meet in the middle. We used two of these for real: PostgreSQL locally and Google BigQuery in the cloud. You'll see BigQuery live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real industrial datasets and two benchmarks. Bosch is the heart: real production vibration. Our rule was that no number appears without a source you can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Hz fleet: 1,000 a second, 3.6 million an hour, 86.4 million a day, 2.59 billion a month, 31.5 billion a year. One 100 Hz sensor is 3.15 billion a year per machine; on every machine it is ten times the whole fleet. One vibration sensor outweighs everything else combined. That's why the edge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checked every service against official vendor pages on 21 October 2026. A comparison built from old blog posts would recommend products that no longer exist. Full 13-criterion table is in the backup slides and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 isn't the argument; the scenario is. Old OPC UA controllers, Microsoft tools already in the plants, and a Pune region next to Chakan. Azure wins every 5-point weight shift and 88.7% of 10,000 random re-weightings. AWS only wins if cost carries at least 35% of the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of the professor's flow onto Azure services, and next to it what actually runs in our prototype. Open formats everywhere: that's why we could move the same data to BigQuery in under an hour without changing a single query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Protection needs milliseconds, plants lose internet, raw signals cost lakhs. So high-frequency work stays at the edge, and fleet-scale work goes to the cloud. We stopped the receiver, then cut the link, and all 482 messages arrived exactly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star schema: the machine_data fact table with machine, plant, part and alarm masters, and check constraints that reject impossible values. All 8 required questions answered. We ran the same SQL on BigQuery and got the same answers: that's our proof of no lock-in.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climb all four rungs. The Bosch anomaly model holds when trained on 2019 and tested on 2021. We report precision as well as recall, because one industry study found a 10% false-alarm rate wiped out the savings of predictive maintenance.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Downtime costs the biggest industrial companies 11% of revenue, up to 2.3 million dollars an hour in automotive, yet most factory data is never used. We'd rather show you where our work breaks than hide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app 10 minutes early: the first load after sleep takes about 20 seconds. Path: 1 Fleet overview, point at the sidebar 'Data source: Google BigQuery', 83 of 100 running, OEE 75.5%. 2 Plant drill-down. 3 Machine health with ISO zones. 4 Alarms Pareto. 5 Edge demo: 'this is the 143x'. 6 Data volume and cost: turn off batching and watch the rupees jump. 7 Predictive maintenance ranking. Optional 30 s: BigQuery console query returns P3-TURN-05 = 199,677, same as PostgreSQL. Backup: screenshots in the hidden slides if Wi-Fi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compared, platforms compared, decision made, and it's running.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Part B table, checked against official sources on 21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Indicative list-price model; see docs/results/part_c_cost_model.csv.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Machines never accept inbound connections; the edge gateway makes outbound, encrypted connections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1E262B"/>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234440"/>
            <a:ext cx="10058400" cy="411480"/>
          </a:xfrm>
          <a:prstGeom prst="rect">
            <a:avLst/>
          </a:prstGeom>
          <a:noFill/>
          <a:ln/>
        </p:spPr>
        <p:txBody>
          <a:bodyPr wrap="square" rtlCol="0"/>
          <a:lstStyle>
            <a:lvl1pPr indent="0" marL="0">
              <a:buNone/>
              <a:defRPr lang="en-US" sz="1600" b="1" spc="200" kern="0" dirty="0">
                <a:solidFill>
                  <a:schemeClr val="accent1"/>
                </a:solidFill>
              </a:defRPr>
            </a:lvl1pPr>
          </a:lstStyle>
          <a:p>
            <a:pPr indent="0" marL="0">
              <a:buNone/>
            </a:pPr>
            <a:endParaRPr lang="en-US" sz="1600" dirty="0"/>
          </a:p>
        </p:txBody>
      </p:sp>
      <p:sp>
        <p:nvSpPr>
          <p:cNvPr id="3" name="Text 0"/>
          <p:cNvSpPr/>
          <p:nvPr>
            <p:ph idx="101" type="title" hasCustomPrompt="1"/>
          </p:nvPr>
        </p:nvSpPr>
        <p:spPr>
          <a:xfrm>
            <a:off x="548640" y="1691640"/>
            <a:ext cx="10515600" cy="17373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4" name="Text 0"/>
          <p:cNvSpPr/>
          <p:nvPr>
            <p:ph idx="102" type="body" hasCustomPrompt="1"/>
          </p:nvPr>
        </p:nvSpPr>
        <p:spPr>
          <a:xfrm>
            <a:off x="548640" y="3520440"/>
            <a:ext cx="10058400" cy="822960"/>
          </a:xfrm>
          <a:prstGeom prst="rect">
            <a:avLst/>
          </a:prstGeom>
          <a:noFill/>
          <a:ln/>
        </p:spPr>
        <p:txBody>
          <a:bodyPr wrap="square" rtlCol="0"/>
          <a:lstStyle>
            <a:lvl1pPr indent="0" marL="0">
              <a:buNone/>
              <a:defRPr lang="en-US" sz="2200" dirty="0">
                <a:solidFill>
                  <a:schemeClr val="accent6"/>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rgbClr val="1E262B"/>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234440"/>
            <a:ext cx="10058400" cy="411480"/>
          </a:xfrm>
          <a:prstGeom prst="rect">
            <a:avLst/>
          </a:prstGeom>
          <a:noFill/>
          <a:ln/>
        </p:spPr>
        <p:txBody>
          <a:bodyPr wrap="square" lIns="0" tIns="0" rIns="0" bIns="0" rtlCol="0"/>
          <a:lstStyle/>
          <a:p>
            <a:pPr indent="0" marL="0">
              <a:buNone/>
            </a:pPr>
            <a:r>
              <a:rPr lang="en-US" sz="1600" b="1" spc="200" kern="0" dirty="0">
                <a:solidFill>
                  <a:schemeClr val="accent1"/>
                </a:solidFill>
              </a:rPr>
              <a:t>SMART-FACTORY DATA PLATFORM</a:t>
            </a:r>
            <a:endParaRPr lang="en-US" sz="1600" dirty="0"/>
          </a:p>
        </p:txBody>
      </p:sp>
      <p:sp>
        <p:nvSpPr>
          <p:cNvPr id="3" name="Text 0"/>
          <p:cNvSpPr/>
          <p:nvPr>
            <p:ph idx="101" type="title" hasCustomPrompt="1"/>
          </p:nvPr>
        </p:nvSpPr>
        <p:spPr>
          <a:xfrm>
            <a:off x="548640" y="1691640"/>
            <a:ext cx="10515600" cy="1737360"/>
          </a:xfrm>
          <a:prstGeom prst="rect">
            <a:avLst/>
          </a:prstGeom>
          <a:noFill/>
          <a:ln/>
        </p:spPr>
        <p:txBody>
          <a:bodyPr wrap="square" lIns="0" tIns="0" rIns="0" bIns="0" rtlCol="0" anchor="t"/>
          <a:lstStyle/>
          <a:p>
            <a:pPr algn="l" indent="0" marL="0">
              <a:buNone/>
            </a:pPr>
            <a:r>
              <a:rPr lang="en-US" sz="4800" b="1" dirty="0">
                <a:solidFill>
                  <a:schemeClr val="bg1"/>
                </a:solidFill>
              </a:rPr>
              <a:t>From 31.5 billion readings to one decision</a:t>
            </a:r>
            <a:endParaRPr lang="en-US" sz="4800" dirty="0"/>
          </a:p>
        </p:txBody>
      </p:sp>
      <p:sp>
        <p:nvSpPr>
          <p:cNvPr id="4" name="Text 0"/>
          <p:cNvSpPr/>
          <p:nvPr>
            <p:ph idx="102" type="body" hasCustomPrompt="1"/>
          </p:nvPr>
        </p:nvSpPr>
        <p:spPr>
          <a:xfrm>
            <a:off x="548640" y="3520440"/>
            <a:ext cx="10058400" cy="822960"/>
          </a:xfrm>
          <a:prstGeom prst="rect">
            <a:avLst/>
          </a:prstGeom>
          <a:noFill/>
          <a:ln/>
        </p:spPr>
        <p:txBody>
          <a:bodyPr wrap="square" lIns="0" tIns="0" rIns="0" bIns="0" rtlCol="0" anchor="t"/>
          <a:lstStyle/>
          <a:p>
            <a:pPr indent="0" marL="0">
              <a:buNone/>
            </a:pPr>
            <a:r>
              <a:rPr lang="en-US" sz="2200" dirty="0">
                <a:solidFill>
                  <a:schemeClr val="accent6"/>
                </a:solidFill>
              </a:rPr>
              <a:t>How factory data should flow, what we built and measured on real Bosch data, and the live system</a:t>
            </a:r>
            <a:endParaRPr lang="en-US" sz="2200" dirty="0"/>
          </a:p>
        </p:txBody>
      </p:sp>
      <p:sp>
        <p:nvSpPr>
          <p:cNvPr id="5" name="Text 3"/>
          <p:cNvSpPr txBox="1"/>
          <p:nvPr/>
        </p:nvSpPr>
        <p:spPr>
          <a:xfrm>
            <a:off x="548640" y="4434840"/>
            <a:ext cx="2560320" cy="868680"/>
          </a:xfrm>
          <a:prstGeom prst="rect">
            <a:avLst/>
          </a:prstGeom>
          <a:noFill/>
          <a:ln/>
        </p:spPr>
        <p:txBody>
          <a:bodyPr wrap="square" lIns="0" tIns="0" rIns="0" bIns="0" rtlCol="0" anchor="b"/>
          <a:lstStyle/>
          <a:p>
            <a:pPr indent="0" marL="0">
              <a:buNone/>
            </a:pPr>
            <a:r>
              <a:rPr lang="en-US" sz="3600" b="1" dirty="0">
                <a:solidFill>
                  <a:schemeClr val="accent1"/>
                </a:solidFill>
              </a:rPr>
              <a:t>100</a:t>
            </a:r>
            <a:endParaRPr lang="en-US" sz="3600" dirty="0"/>
          </a:p>
        </p:txBody>
      </p:sp>
      <p:sp>
        <p:nvSpPr>
          <p:cNvPr id="6" name="Text 4"/>
          <p:cNvSpPr txBox="1"/>
          <p:nvPr/>
        </p:nvSpPr>
        <p:spPr>
          <a:xfrm>
            <a:off x="548640" y="5349240"/>
            <a:ext cx="2560320" cy="640080"/>
          </a:xfrm>
          <a:prstGeom prst="rect">
            <a:avLst/>
          </a:prstGeom>
          <a:noFill/>
          <a:ln/>
        </p:spPr>
        <p:txBody>
          <a:bodyPr wrap="square" lIns="0" tIns="0" rIns="0" bIns="0" rtlCol="0" anchor="t"/>
          <a:lstStyle/>
          <a:p>
            <a:pPr indent="0" marL="0">
              <a:buNone/>
            </a:pPr>
            <a:r>
              <a:rPr lang="en-US" sz="1400" dirty="0">
                <a:solidFill>
                  <a:schemeClr val="accent6"/>
                </a:solidFill>
              </a:rPr>
              <a:t>CNC machines</a:t>
            </a:r>
            <a:endParaRPr lang="en-US" sz="1400" dirty="0"/>
          </a:p>
        </p:txBody>
      </p:sp>
      <p:sp>
        <p:nvSpPr>
          <p:cNvPr id="7" name="Text 5"/>
          <p:cNvSpPr txBox="1"/>
          <p:nvPr/>
        </p:nvSpPr>
        <p:spPr>
          <a:xfrm>
            <a:off x="3337560" y="4434840"/>
            <a:ext cx="2560320" cy="868680"/>
          </a:xfrm>
          <a:prstGeom prst="rect">
            <a:avLst/>
          </a:prstGeom>
          <a:noFill/>
          <a:ln/>
        </p:spPr>
        <p:txBody>
          <a:bodyPr wrap="square" lIns="0" tIns="0" rIns="0" bIns="0" rtlCol="0" anchor="b"/>
          <a:lstStyle/>
          <a:p>
            <a:pPr indent="0" marL="0">
              <a:buNone/>
            </a:pPr>
            <a:r>
              <a:rPr lang="en-US" sz="3600" b="1" dirty="0">
                <a:solidFill>
                  <a:schemeClr val="accent1"/>
                </a:solidFill>
              </a:rPr>
              <a:t>3</a:t>
            </a:r>
            <a:endParaRPr lang="en-US" sz="3600" dirty="0"/>
          </a:p>
        </p:txBody>
      </p:sp>
      <p:sp>
        <p:nvSpPr>
          <p:cNvPr id="8" name="Text 6"/>
          <p:cNvSpPr txBox="1"/>
          <p:nvPr/>
        </p:nvSpPr>
        <p:spPr>
          <a:xfrm>
            <a:off x="3337560" y="5349240"/>
            <a:ext cx="2560320" cy="640080"/>
          </a:xfrm>
          <a:prstGeom prst="rect">
            <a:avLst/>
          </a:prstGeom>
          <a:noFill/>
          <a:ln/>
        </p:spPr>
        <p:txBody>
          <a:bodyPr wrap="square" lIns="0" tIns="0" rIns="0" bIns="0" rtlCol="0" anchor="t"/>
          <a:lstStyle/>
          <a:p>
            <a:pPr indent="0" marL="0">
              <a:buNone/>
            </a:pPr>
            <a:r>
              <a:rPr lang="en-US" sz="1400" dirty="0">
                <a:solidFill>
                  <a:schemeClr val="accent6"/>
                </a:solidFill>
              </a:rPr>
              <a:t>plants: Chakan · Oragadam · Manesar</a:t>
            </a:r>
            <a:endParaRPr lang="en-US" sz="1400" dirty="0"/>
          </a:p>
        </p:txBody>
      </p:sp>
      <p:sp>
        <p:nvSpPr>
          <p:cNvPr id="9" name="Text 7"/>
          <p:cNvSpPr txBox="1"/>
          <p:nvPr/>
        </p:nvSpPr>
        <p:spPr>
          <a:xfrm>
            <a:off x="6126480" y="4434840"/>
            <a:ext cx="2560320" cy="868680"/>
          </a:xfrm>
          <a:prstGeom prst="rect">
            <a:avLst/>
          </a:prstGeom>
          <a:noFill/>
          <a:ln/>
        </p:spPr>
        <p:txBody>
          <a:bodyPr wrap="square" lIns="0" tIns="0" rIns="0" bIns="0" rtlCol="0" anchor="b"/>
          <a:lstStyle/>
          <a:p>
            <a:pPr indent="0" marL="0">
              <a:buNone/>
            </a:pPr>
            <a:r>
              <a:rPr lang="en-US" sz="3600" b="1" dirty="0">
                <a:solidFill>
                  <a:schemeClr val="accent1"/>
                </a:solidFill>
              </a:rPr>
              <a:t>876,100</a:t>
            </a:r>
            <a:endParaRPr lang="en-US" sz="3600" dirty="0"/>
          </a:p>
        </p:txBody>
      </p:sp>
      <p:sp>
        <p:nvSpPr>
          <p:cNvPr id="10" name="Text 8"/>
          <p:cNvSpPr txBox="1"/>
          <p:nvPr/>
        </p:nvSpPr>
        <p:spPr>
          <a:xfrm>
            <a:off x="6126480" y="5349240"/>
            <a:ext cx="2560320" cy="640080"/>
          </a:xfrm>
          <a:prstGeom prst="rect">
            <a:avLst/>
          </a:prstGeom>
          <a:noFill/>
          <a:ln/>
        </p:spPr>
        <p:txBody>
          <a:bodyPr wrap="square" lIns="0" tIns="0" rIns="0" bIns="0" rtlCol="0" anchor="t"/>
          <a:lstStyle/>
          <a:p>
            <a:pPr indent="0" marL="0">
              <a:buNone/>
            </a:pPr>
            <a:r>
              <a:rPr lang="en-US" sz="1400" dirty="0">
                <a:solidFill>
                  <a:schemeClr val="accent6"/>
                </a:solidFill>
              </a:rPr>
              <a:t>machine-hours in SQL</a:t>
            </a:r>
            <a:endParaRPr lang="en-US" sz="1400" dirty="0"/>
          </a:p>
        </p:txBody>
      </p:sp>
      <p:sp>
        <p:nvSpPr>
          <p:cNvPr id="11" name="Text 9"/>
          <p:cNvSpPr txBox="1"/>
          <p:nvPr/>
        </p:nvSpPr>
        <p:spPr>
          <a:xfrm>
            <a:off x="8915400" y="4434840"/>
            <a:ext cx="2560320" cy="868680"/>
          </a:xfrm>
          <a:prstGeom prst="rect">
            <a:avLst/>
          </a:prstGeom>
          <a:noFill/>
          <a:ln/>
        </p:spPr>
        <p:txBody>
          <a:bodyPr wrap="square" lIns="0" tIns="0" rIns="0" bIns="0" rtlCol="0" anchor="b"/>
          <a:lstStyle/>
          <a:p>
            <a:pPr indent="0" marL="0">
              <a:buNone/>
            </a:pPr>
            <a:r>
              <a:rPr lang="en-US" sz="3600" b="1" dirty="0">
                <a:solidFill>
                  <a:schemeClr val="accent1"/>
                </a:solidFill>
              </a:rPr>
              <a:t>Live</a:t>
            </a:r>
            <a:endParaRPr lang="en-US" sz="3600" dirty="0"/>
          </a:p>
        </p:txBody>
      </p:sp>
      <p:sp>
        <p:nvSpPr>
          <p:cNvPr id="12" name="Text 10"/>
          <p:cNvSpPr txBox="1"/>
          <p:nvPr/>
        </p:nvSpPr>
        <p:spPr>
          <a:xfrm>
            <a:off x="8915400" y="5349240"/>
            <a:ext cx="2560320" cy="640080"/>
          </a:xfrm>
          <a:prstGeom prst="rect">
            <a:avLst/>
          </a:prstGeom>
          <a:noFill/>
          <a:ln/>
        </p:spPr>
        <p:txBody>
          <a:bodyPr wrap="square" lIns="0" tIns="0" rIns="0" bIns="0" rtlCol="0" anchor="t"/>
          <a:lstStyle/>
          <a:p>
            <a:pPr indent="0" marL="0">
              <a:buNone/>
            </a:pPr>
            <a:r>
              <a:rPr lang="en-US" sz="1400" dirty="0">
                <a:solidFill>
                  <a:schemeClr val="accent6"/>
                </a:solidFill>
              </a:rPr>
              <a:t>on Google BigQuery</a:t>
            </a:r>
            <a:endParaRPr lang="en-US" sz="1400" dirty="0"/>
          </a:p>
        </p:txBody>
      </p:sp>
      <p:sp>
        <p:nvSpPr>
          <p:cNvPr id="13" name="Text 11"/>
          <p:cNvSpPr txBox="1"/>
          <p:nvPr/>
        </p:nvSpPr>
        <p:spPr>
          <a:xfrm>
            <a:off x="548640" y="6263640"/>
            <a:ext cx="10972800" cy="320040"/>
          </a:xfrm>
          <a:prstGeom prst="rect">
            <a:avLst/>
          </a:prstGeom>
          <a:noFill/>
          <a:ln/>
        </p:spPr>
        <p:txBody>
          <a:bodyPr wrap="square" lIns="0" tIns="0" rIns="0" bIns="0" rtlCol="0" anchor="t"/>
          <a:lstStyle/>
          <a:p>
            <a:pPr indent="0" marL="0">
              <a:buNone/>
            </a:pPr>
            <a:r>
              <a:rPr lang="en-US" sz="1200" dirty="0">
                <a:solidFill>
                  <a:schemeClr val="accent6"/>
                </a:solidFill>
              </a:rPr>
              <a:t>Tirthanker Singh  ·  github.com/TirthankerSingh/industrial-data-platform  ·  industrial-data-platform.streamlit.app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WHAT WE BUILT</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Nine stages, one command to rebuild, one source of truth</a:t>
            </a:r>
            <a:endParaRPr lang="en-US" sz="3400" dirty="0"/>
          </a:p>
        </p:txBody>
      </p:sp>
      <p:sp>
        <p:nvSpPr>
          <p:cNvPr id="4" name="Shape 2"/>
          <p:cNvSpPr/>
          <p:nvPr/>
        </p:nvSpPr>
        <p:spPr>
          <a:xfrm>
            <a:off x="548640" y="1828800"/>
            <a:ext cx="1965960" cy="1005840"/>
          </a:xfrm>
          <a:prstGeom prst="roundRect">
            <a:avLst>
              <a:gd name="adj" fmla="val 9091"/>
            </a:avLst>
          </a:prstGeom>
          <a:solidFill>
            <a:schemeClr val="bg2"/>
          </a:solidFill>
          <a:ln w="12700">
            <a:solidFill>
              <a:schemeClr val="bg2"/>
            </a:solidFill>
            <a:prstDash val="solid"/>
          </a:ln>
        </p:spPr>
      </p:sp>
      <p:sp>
        <p:nvSpPr>
          <p:cNvPr id="5" name="Text 3"/>
          <p:cNvSpPr txBox="1"/>
          <p:nvPr/>
        </p:nvSpPr>
        <p:spPr>
          <a:xfrm>
            <a:off x="685800" y="1920240"/>
            <a:ext cx="548640" cy="274320"/>
          </a:xfrm>
          <a:prstGeom prst="rect">
            <a:avLst/>
          </a:prstGeom>
          <a:noFill/>
          <a:ln/>
        </p:spPr>
        <p:txBody>
          <a:bodyPr wrap="square" lIns="0" tIns="0" rIns="0" bIns="0" rtlCol="0" anchor="t"/>
          <a:lstStyle/>
          <a:p>
            <a:pPr indent="0" marL="0">
              <a:buNone/>
            </a:pPr>
            <a:r>
              <a:rPr lang="en-US" sz="1200" b="1" dirty="0">
                <a:solidFill>
                  <a:schemeClr val="accent1"/>
                </a:solidFill>
              </a:rPr>
              <a:t>01</a:t>
            </a:r>
            <a:endParaRPr lang="en-US" sz="1200" dirty="0"/>
          </a:p>
        </p:txBody>
      </p:sp>
      <p:sp>
        <p:nvSpPr>
          <p:cNvPr id="6" name="Text 4"/>
          <p:cNvSpPr txBox="1"/>
          <p:nvPr/>
        </p:nvSpPr>
        <p:spPr>
          <a:xfrm>
            <a:off x="685800" y="2212848"/>
            <a:ext cx="1691640" cy="548640"/>
          </a:xfrm>
          <a:prstGeom prst="rect">
            <a:avLst/>
          </a:prstGeom>
          <a:noFill/>
          <a:ln/>
        </p:spPr>
        <p:txBody>
          <a:bodyPr wrap="square" lIns="0" tIns="0" rIns="0" bIns="0" rtlCol="0" anchor="t"/>
          <a:lstStyle/>
          <a:p>
            <a:pPr indent="0" marL="0">
              <a:buNone/>
            </a:pPr>
            <a:r>
              <a:rPr lang="en-US" sz="1500" b="1" dirty="0">
                <a:solidFill>
                  <a:schemeClr val="tx1"/>
                </a:solidFill>
              </a:rPr>
              <a:t>Collect 4 datasets</a:t>
            </a:r>
            <a:endParaRPr lang="en-US" sz="1500" dirty="0"/>
          </a:p>
        </p:txBody>
      </p:sp>
      <p:sp>
        <p:nvSpPr>
          <p:cNvPr id="7" name="Shape 5"/>
          <p:cNvSpPr/>
          <p:nvPr/>
        </p:nvSpPr>
        <p:spPr>
          <a:xfrm>
            <a:off x="2587752" y="2240280"/>
            <a:ext cx="155448" cy="182880"/>
          </a:xfrm>
          <a:prstGeom prst="rtTriangle">
            <a:avLst/>
          </a:prstGeom>
          <a:solidFill>
            <a:schemeClr val="accent3"/>
          </a:solidFill>
          <a:ln w="12700">
            <a:solidFill>
              <a:schemeClr val="accent3"/>
            </a:solidFill>
            <a:prstDash val="solid"/>
          </a:ln>
        </p:spPr>
      </p:sp>
      <p:sp>
        <p:nvSpPr>
          <p:cNvPr id="8" name="Shape 6"/>
          <p:cNvSpPr/>
          <p:nvPr/>
        </p:nvSpPr>
        <p:spPr>
          <a:xfrm>
            <a:off x="2816352" y="1828800"/>
            <a:ext cx="1965960" cy="1005840"/>
          </a:xfrm>
          <a:prstGeom prst="roundRect">
            <a:avLst>
              <a:gd name="adj" fmla="val 9091"/>
            </a:avLst>
          </a:prstGeom>
          <a:solidFill>
            <a:schemeClr val="bg2"/>
          </a:solidFill>
          <a:ln w="12700">
            <a:solidFill>
              <a:schemeClr val="bg2"/>
            </a:solidFill>
            <a:prstDash val="solid"/>
          </a:ln>
        </p:spPr>
      </p:sp>
      <p:sp>
        <p:nvSpPr>
          <p:cNvPr id="9" name="Text 7"/>
          <p:cNvSpPr txBox="1"/>
          <p:nvPr/>
        </p:nvSpPr>
        <p:spPr>
          <a:xfrm>
            <a:off x="2953512" y="1920240"/>
            <a:ext cx="548640" cy="274320"/>
          </a:xfrm>
          <a:prstGeom prst="rect">
            <a:avLst/>
          </a:prstGeom>
          <a:noFill/>
          <a:ln/>
        </p:spPr>
        <p:txBody>
          <a:bodyPr wrap="square" lIns="0" tIns="0" rIns="0" bIns="0" rtlCol="0" anchor="t"/>
          <a:lstStyle/>
          <a:p>
            <a:pPr indent="0" marL="0">
              <a:buNone/>
            </a:pPr>
            <a:r>
              <a:rPr lang="en-US" sz="1200" b="1" dirty="0">
                <a:solidFill>
                  <a:schemeClr val="accent1"/>
                </a:solidFill>
              </a:rPr>
              <a:t>02</a:t>
            </a:r>
            <a:endParaRPr lang="en-US" sz="1200" dirty="0"/>
          </a:p>
        </p:txBody>
      </p:sp>
      <p:sp>
        <p:nvSpPr>
          <p:cNvPr id="10" name="Text 8"/>
          <p:cNvSpPr txBox="1"/>
          <p:nvPr/>
        </p:nvSpPr>
        <p:spPr>
          <a:xfrm>
            <a:off x="2953512" y="2212848"/>
            <a:ext cx="1691640" cy="548640"/>
          </a:xfrm>
          <a:prstGeom prst="rect">
            <a:avLst/>
          </a:prstGeom>
          <a:noFill/>
          <a:ln/>
        </p:spPr>
        <p:txBody>
          <a:bodyPr wrap="square" lIns="0" tIns="0" rIns="0" bIns="0" rtlCol="0" anchor="t"/>
          <a:lstStyle/>
          <a:p>
            <a:pPr indent="0" marL="0">
              <a:buNone/>
            </a:pPr>
            <a:r>
              <a:rPr lang="en-US" sz="1500" b="1" dirty="0">
                <a:solidFill>
                  <a:schemeClr val="tx1"/>
                </a:solidFill>
              </a:rPr>
              <a:t>Edge features</a:t>
            </a:r>
            <a:endParaRPr lang="en-US" sz="1500" dirty="0"/>
          </a:p>
        </p:txBody>
      </p:sp>
      <p:sp>
        <p:nvSpPr>
          <p:cNvPr id="11" name="Shape 9"/>
          <p:cNvSpPr/>
          <p:nvPr/>
        </p:nvSpPr>
        <p:spPr>
          <a:xfrm>
            <a:off x="4855464" y="2240280"/>
            <a:ext cx="155448" cy="182880"/>
          </a:xfrm>
          <a:prstGeom prst="rtTriangle">
            <a:avLst/>
          </a:prstGeom>
          <a:solidFill>
            <a:schemeClr val="accent3"/>
          </a:solidFill>
          <a:ln w="12700">
            <a:solidFill>
              <a:schemeClr val="accent3"/>
            </a:solidFill>
            <a:prstDash val="solid"/>
          </a:ln>
        </p:spPr>
      </p:sp>
      <p:sp>
        <p:nvSpPr>
          <p:cNvPr id="12" name="Shape 10"/>
          <p:cNvSpPr/>
          <p:nvPr/>
        </p:nvSpPr>
        <p:spPr>
          <a:xfrm>
            <a:off x="5084064" y="1828800"/>
            <a:ext cx="1965960" cy="1005840"/>
          </a:xfrm>
          <a:prstGeom prst="roundRect">
            <a:avLst>
              <a:gd name="adj" fmla="val 9091"/>
            </a:avLst>
          </a:prstGeom>
          <a:solidFill>
            <a:schemeClr val="bg2"/>
          </a:solidFill>
          <a:ln w="12700">
            <a:solidFill>
              <a:schemeClr val="bg2"/>
            </a:solidFill>
            <a:prstDash val="solid"/>
          </a:ln>
        </p:spPr>
      </p:sp>
      <p:sp>
        <p:nvSpPr>
          <p:cNvPr id="13" name="Text 11"/>
          <p:cNvSpPr txBox="1"/>
          <p:nvPr/>
        </p:nvSpPr>
        <p:spPr>
          <a:xfrm>
            <a:off x="5221224" y="1920240"/>
            <a:ext cx="548640" cy="274320"/>
          </a:xfrm>
          <a:prstGeom prst="rect">
            <a:avLst/>
          </a:prstGeom>
          <a:noFill/>
          <a:ln/>
        </p:spPr>
        <p:txBody>
          <a:bodyPr wrap="square" lIns="0" tIns="0" rIns="0" bIns="0" rtlCol="0" anchor="t"/>
          <a:lstStyle/>
          <a:p>
            <a:pPr indent="0" marL="0">
              <a:buNone/>
            </a:pPr>
            <a:r>
              <a:rPr lang="en-US" sz="1200" b="1" dirty="0">
                <a:solidFill>
                  <a:schemeClr val="accent1"/>
                </a:solidFill>
              </a:rPr>
              <a:t>03</a:t>
            </a:r>
            <a:endParaRPr lang="en-US" sz="1200" dirty="0"/>
          </a:p>
        </p:txBody>
      </p:sp>
      <p:sp>
        <p:nvSpPr>
          <p:cNvPr id="14" name="Text 12"/>
          <p:cNvSpPr txBox="1"/>
          <p:nvPr/>
        </p:nvSpPr>
        <p:spPr>
          <a:xfrm>
            <a:off x="5221224" y="2212848"/>
            <a:ext cx="1691640" cy="548640"/>
          </a:xfrm>
          <a:prstGeom prst="rect">
            <a:avLst/>
          </a:prstGeom>
          <a:noFill/>
          <a:ln/>
        </p:spPr>
        <p:txBody>
          <a:bodyPr wrap="square" lIns="0" tIns="0" rIns="0" bIns="0" rtlCol="0" anchor="t"/>
          <a:lstStyle/>
          <a:p>
            <a:pPr indent="0" marL="0">
              <a:buNone/>
            </a:pPr>
            <a:r>
              <a:rPr lang="en-US" sz="1500" b="1" dirty="0">
                <a:solidFill>
                  <a:schemeClr val="tx1"/>
                </a:solidFill>
              </a:rPr>
              <a:t>Calibrate</a:t>
            </a:r>
            <a:endParaRPr lang="en-US" sz="1500" dirty="0"/>
          </a:p>
        </p:txBody>
      </p:sp>
      <p:sp>
        <p:nvSpPr>
          <p:cNvPr id="15" name="Shape 13"/>
          <p:cNvSpPr/>
          <p:nvPr/>
        </p:nvSpPr>
        <p:spPr>
          <a:xfrm>
            <a:off x="7123176" y="2240280"/>
            <a:ext cx="155448" cy="182880"/>
          </a:xfrm>
          <a:prstGeom prst="rtTriangle">
            <a:avLst/>
          </a:prstGeom>
          <a:solidFill>
            <a:schemeClr val="accent3"/>
          </a:solidFill>
          <a:ln w="12700">
            <a:solidFill>
              <a:schemeClr val="accent3"/>
            </a:solidFill>
            <a:prstDash val="solid"/>
          </a:ln>
        </p:spPr>
      </p:sp>
      <p:sp>
        <p:nvSpPr>
          <p:cNvPr id="16" name="Shape 14"/>
          <p:cNvSpPr/>
          <p:nvPr/>
        </p:nvSpPr>
        <p:spPr>
          <a:xfrm>
            <a:off x="7351776" y="1828800"/>
            <a:ext cx="1965960" cy="1005840"/>
          </a:xfrm>
          <a:prstGeom prst="roundRect">
            <a:avLst>
              <a:gd name="adj" fmla="val 9091"/>
            </a:avLst>
          </a:prstGeom>
          <a:solidFill>
            <a:schemeClr val="bg2"/>
          </a:solidFill>
          <a:ln w="12700">
            <a:solidFill>
              <a:schemeClr val="bg2"/>
            </a:solidFill>
            <a:prstDash val="solid"/>
          </a:ln>
        </p:spPr>
      </p:sp>
      <p:sp>
        <p:nvSpPr>
          <p:cNvPr id="17" name="Text 15"/>
          <p:cNvSpPr txBox="1"/>
          <p:nvPr/>
        </p:nvSpPr>
        <p:spPr>
          <a:xfrm>
            <a:off x="7488936" y="1920240"/>
            <a:ext cx="548640" cy="274320"/>
          </a:xfrm>
          <a:prstGeom prst="rect">
            <a:avLst/>
          </a:prstGeom>
          <a:noFill/>
          <a:ln/>
        </p:spPr>
        <p:txBody>
          <a:bodyPr wrap="square" lIns="0" tIns="0" rIns="0" bIns="0" rtlCol="0" anchor="t"/>
          <a:lstStyle/>
          <a:p>
            <a:pPr indent="0" marL="0">
              <a:buNone/>
            </a:pPr>
            <a:r>
              <a:rPr lang="en-US" sz="1200" b="1" dirty="0">
                <a:solidFill>
                  <a:schemeClr val="accent1"/>
                </a:solidFill>
              </a:rPr>
              <a:t>04</a:t>
            </a:r>
            <a:endParaRPr lang="en-US" sz="1200" dirty="0"/>
          </a:p>
        </p:txBody>
      </p:sp>
      <p:sp>
        <p:nvSpPr>
          <p:cNvPr id="18" name="Text 16"/>
          <p:cNvSpPr txBox="1"/>
          <p:nvPr/>
        </p:nvSpPr>
        <p:spPr>
          <a:xfrm>
            <a:off x="7488936" y="2212848"/>
            <a:ext cx="1691640" cy="548640"/>
          </a:xfrm>
          <a:prstGeom prst="rect">
            <a:avLst/>
          </a:prstGeom>
          <a:noFill/>
          <a:ln/>
        </p:spPr>
        <p:txBody>
          <a:bodyPr wrap="square" lIns="0" tIns="0" rIns="0" bIns="0" rtlCol="0" anchor="t"/>
          <a:lstStyle/>
          <a:p>
            <a:pPr indent="0" marL="0">
              <a:buNone/>
            </a:pPr>
            <a:r>
              <a:rPr lang="en-US" sz="1500" b="1" dirty="0">
                <a:solidFill>
                  <a:schemeClr val="tx1"/>
                </a:solidFill>
              </a:rPr>
              <a:t>Fleet table</a:t>
            </a:r>
            <a:endParaRPr lang="en-US" sz="1500" dirty="0"/>
          </a:p>
        </p:txBody>
      </p:sp>
      <p:sp>
        <p:nvSpPr>
          <p:cNvPr id="19" name="Shape 17"/>
          <p:cNvSpPr/>
          <p:nvPr/>
        </p:nvSpPr>
        <p:spPr>
          <a:xfrm>
            <a:off x="9390888" y="2240280"/>
            <a:ext cx="155448" cy="182880"/>
          </a:xfrm>
          <a:prstGeom prst="rtTriangle">
            <a:avLst/>
          </a:prstGeom>
          <a:solidFill>
            <a:schemeClr val="accent3"/>
          </a:solidFill>
          <a:ln w="12700">
            <a:solidFill>
              <a:schemeClr val="accent3"/>
            </a:solidFill>
            <a:prstDash val="solid"/>
          </a:ln>
        </p:spPr>
      </p:sp>
      <p:sp>
        <p:nvSpPr>
          <p:cNvPr id="20" name="Shape 18"/>
          <p:cNvSpPr/>
          <p:nvPr/>
        </p:nvSpPr>
        <p:spPr>
          <a:xfrm>
            <a:off x="9619488" y="1828800"/>
            <a:ext cx="1965960" cy="1005840"/>
          </a:xfrm>
          <a:prstGeom prst="roundRect">
            <a:avLst>
              <a:gd name="adj" fmla="val 9091"/>
            </a:avLst>
          </a:prstGeom>
          <a:solidFill>
            <a:schemeClr val="bg2"/>
          </a:solidFill>
          <a:ln w="12700">
            <a:solidFill>
              <a:schemeClr val="bg2"/>
            </a:solidFill>
            <a:prstDash val="solid"/>
          </a:ln>
        </p:spPr>
      </p:sp>
      <p:sp>
        <p:nvSpPr>
          <p:cNvPr id="21" name="Text 19"/>
          <p:cNvSpPr txBox="1"/>
          <p:nvPr/>
        </p:nvSpPr>
        <p:spPr>
          <a:xfrm>
            <a:off x="9756648" y="1920240"/>
            <a:ext cx="548640" cy="274320"/>
          </a:xfrm>
          <a:prstGeom prst="rect">
            <a:avLst/>
          </a:prstGeom>
          <a:noFill/>
          <a:ln/>
        </p:spPr>
        <p:txBody>
          <a:bodyPr wrap="square" lIns="0" tIns="0" rIns="0" bIns="0" rtlCol="0" anchor="t"/>
          <a:lstStyle/>
          <a:p>
            <a:pPr indent="0" marL="0">
              <a:buNone/>
            </a:pPr>
            <a:r>
              <a:rPr lang="en-US" sz="1200" b="1" dirty="0">
                <a:solidFill>
                  <a:schemeClr val="accent1"/>
                </a:solidFill>
              </a:rPr>
              <a:t>05</a:t>
            </a:r>
            <a:endParaRPr lang="en-US" sz="1200" dirty="0"/>
          </a:p>
        </p:txBody>
      </p:sp>
      <p:sp>
        <p:nvSpPr>
          <p:cNvPr id="22" name="Text 20"/>
          <p:cNvSpPr txBox="1"/>
          <p:nvPr/>
        </p:nvSpPr>
        <p:spPr>
          <a:xfrm>
            <a:off x="9756648" y="2212848"/>
            <a:ext cx="1691640" cy="548640"/>
          </a:xfrm>
          <a:prstGeom prst="rect">
            <a:avLst/>
          </a:prstGeom>
          <a:noFill/>
          <a:ln/>
        </p:spPr>
        <p:txBody>
          <a:bodyPr wrap="square" lIns="0" tIns="0" rIns="0" bIns="0" rtlCol="0" anchor="t"/>
          <a:lstStyle/>
          <a:p>
            <a:pPr indent="0" marL="0">
              <a:buNone/>
            </a:pPr>
            <a:r>
              <a:rPr lang="en-US" sz="1500" b="1" dirty="0">
                <a:solidFill>
                  <a:schemeClr val="tx1"/>
                </a:solidFill>
              </a:rPr>
              <a:t>PostgreSQL / BigQuery</a:t>
            </a:r>
            <a:endParaRPr lang="en-US" sz="1500" dirty="0"/>
          </a:p>
        </p:txBody>
      </p:sp>
      <p:sp>
        <p:nvSpPr>
          <p:cNvPr id="23" name="Shape 21"/>
          <p:cNvSpPr/>
          <p:nvPr/>
        </p:nvSpPr>
        <p:spPr>
          <a:xfrm>
            <a:off x="1682496" y="3246120"/>
            <a:ext cx="1965960" cy="1005840"/>
          </a:xfrm>
          <a:prstGeom prst="roundRect">
            <a:avLst>
              <a:gd name="adj" fmla="val 9091"/>
            </a:avLst>
          </a:prstGeom>
          <a:solidFill>
            <a:schemeClr val="bg2"/>
          </a:solidFill>
          <a:ln w="12700">
            <a:solidFill>
              <a:schemeClr val="bg2"/>
            </a:solidFill>
            <a:prstDash val="solid"/>
          </a:ln>
        </p:spPr>
      </p:sp>
      <p:sp>
        <p:nvSpPr>
          <p:cNvPr id="24" name="Text 22"/>
          <p:cNvSpPr txBox="1"/>
          <p:nvPr/>
        </p:nvSpPr>
        <p:spPr>
          <a:xfrm>
            <a:off x="1819656" y="3337560"/>
            <a:ext cx="548640" cy="274320"/>
          </a:xfrm>
          <a:prstGeom prst="rect">
            <a:avLst/>
          </a:prstGeom>
          <a:noFill/>
          <a:ln/>
        </p:spPr>
        <p:txBody>
          <a:bodyPr wrap="square" lIns="0" tIns="0" rIns="0" bIns="0" rtlCol="0" anchor="t"/>
          <a:lstStyle/>
          <a:p>
            <a:pPr indent="0" marL="0">
              <a:buNone/>
            </a:pPr>
            <a:r>
              <a:rPr lang="en-US" sz="1200" b="1" dirty="0">
                <a:solidFill>
                  <a:schemeClr val="accent1"/>
                </a:solidFill>
              </a:rPr>
              <a:t>06</a:t>
            </a:r>
            <a:endParaRPr lang="en-US" sz="1200" dirty="0"/>
          </a:p>
        </p:txBody>
      </p:sp>
      <p:sp>
        <p:nvSpPr>
          <p:cNvPr id="25" name="Text 23"/>
          <p:cNvSpPr txBox="1"/>
          <p:nvPr/>
        </p:nvSpPr>
        <p:spPr>
          <a:xfrm>
            <a:off x="1819656" y="3630168"/>
            <a:ext cx="1691640" cy="548640"/>
          </a:xfrm>
          <a:prstGeom prst="rect">
            <a:avLst/>
          </a:prstGeom>
          <a:noFill/>
          <a:ln/>
        </p:spPr>
        <p:txBody>
          <a:bodyPr wrap="square" lIns="0" tIns="0" rIns="0" bIns="0" rtlCol="0" anchor="t"/>
          <a:lstStyle/>
          <a:p>
            <a:pPr indent="0" marL="0">
              <a:buNone/>
            </a:pPr>
            <a:r>
              <a:rPr lang="en-US" sz="1500" b="1" dirty="0">
                <a:solidFill>
                  <a:schemeClr val="tx1"/>
                </a:solidFill>
              </a:rPr>
              <a:t>ML models</a:t>
            </a:r>
            <a:endParaRPr lang="en-US" sz="1500" dirty="0"/>
          </a:p>
        </p:txBody>
      </p:sp>
      <p:sp>
        <p:nvSpPr>
          <p:cNvPr id="26" name="Shape 24"/>
          <p:cNvSpPr/>
          <p:nvPr/>
        </p:nvSpPr>
        <p:spPr>
          <a:xfrm>
            <a:off x="3721608" y="3657600"/>
            <a:ext cx="155448" cy="182880"/>
          </a:xfrm>
          <a:prstGeom prst="rtTriangle">
            <a:avLst/>
          </a:prstGeom>
          <a:solidFill>
            <a:schemeClr val="accent3"/>
          </a:solidFill>
          <a:ln w="12700">
            <a:solidFill>
              <a:schemeClr val="accent3"/>
            </a:solidFill>
            <a:prstDash val="solid"/>
          </a:ln>
        </p:spPr>
      </p:sp>
      <p:sp>
        <p:nvSpPr>
          <p:cNvPr id="27" name="Shape 25"/>
          <p:cNvSpPr/>
          <p:nvPr/>
        </p:nvSpPr>
        <p:spPr>
          <a:xfrm>
            <a:off x="3950208" y="3246120"/>
            <a:ext cx="1965960" cy="1005840"/>
          </a:xfrm>
          <a:prstGeom prst="roundRect">
            <a:avLst>
              <a:gd name="adj" fmla="val 9091"/>
            </a:avLst>
          </a:prstGeom>
          <a:solidFill>
            <a:schemeClr val="bg2"/>
          </a:solidFill>
          <a:ln w="12700">
            <a:solidFill>
              <a:schemeClr val="bg2"/>
            </a:solidFill>
            <a:prstDash val="solid"/>
          </a:ln>
        </p:spPr>
      </p:sp>
      <p:sp>
        <p:nvSpPr>
          <p:cNvPr id="28" name="Text 26"/>
          <p:cNvSpPr txBox="1"/>
          <p:nvPr/>
        </p:nvSpPr>
        <p:spPr>
          <a:xfrm>
            <a:off x="4087368" y="3337560"/>
            <a:ext cx="548640" cy="274320"/>
          </a:xfrm>
          <a:prstGeom prst="rect">
            <a:avLst/>
          </a:prstGeom>
          <a:noFill/>
          <a:ln/>
        </p:spPr>
        <p:txBody>
          <a:bodyPr wrap="square" lIns="0" tIns="0" rIns="0" bIns="0" rtlCol="0" anchor="t"/>
          <a:lstStyle/>
          <a:p>
            <a:pPr indent="0" marL="0">
              <a:buNone/>
            </a:pPr>
            <a:r>
              <a:rPr lang="en-US" sz="1200" b="1" dirty="0">
                <a:solidFill>
                  <a:schemeClr val="accent1"/>
                </a:solidFill>
              </a:rPr>
              <a:t>07</a:t>
            </a:r>
            <a:endParaRPr lang="en-US" sz="1200" dirty="0"/>
          </a:p>
        </p:txBody>
      </p:sp>
      <p:sp>
        <p:nvSpPr>
          <p:cNvPr id="29" name="Text 27"/>
          <p:cNvSpPr txBox="1"/>
          <p:nvPr/>
        </p:nvSpPr>
        <p:spPr>
          <a:xfrm>
            <a:off x="4087368" y="3630168"/>
            <a:ext cx="1691640" cy="548640"/>
          </a:xfrm>
          <a:prstGeom prst="rect">
            <a:avLst/>
          </a:prstGeom>
          <a:noFill/>
          <a:ln/>
        </p:spPr>
        <p:txBody>
          <a:bodyPr wrap="square" lIns="0" tIns="0" rIns="0" bIns="0" rtlCol="0" anchor="t"/>
          <a:lstStyle/>
          <a:p>
            <a:pPr indent="0" marL="0">
              <a:buNone/>
            </a:pPr>
            <a:r>
              <a:rPr lang="en-US" sz="1500" b="1" dirty="0">
                <a:solidFill>
                  <a:schemeClr val="tx1"/>
                </a:solidFill>
              </a:rPr>
              <a:t>MQTT gateway</a:t>
            </a:r>
            <a:endParaRPr lang="en-US" sz="1500" dirty="0"/>
          </a:p>
        </p:txBody>
      </p:sp>
      <p:sp>
        <p:nvSpPr>
          <p:cNvPr id="30" name="Shape 28"/>
          <p:cNvSpPr/>
          <p:nvPr/>
        </p:nvSpPr>
        <p:spPr>
          <a:xfrm>
            <a:off x="5989320" y="3657600"/>
            <a:ext cx="155448" cy="182880"/>
          </a:xfrm>
          <a:prstGeom prst="rtTriangle">
            <a:avLst/>
          </a:prstGeom>
          <a:solidFill>
            <a:schemeClr val="accent3"/>
          </a:solidFill>
          <a:ln w="12700">
            <a:solidFill>
              <a:schemeClr val="accent3"/>
            </a:solidFill>
            <a:prstDash val="solid"/>
          </a:ln>
        </p:spPr>
      </p:sp>
      <p:sp>
        <p:nvSpPr>
          <p:cNvPr id="31" name="Shape 29"/>
          <p:cNvSpPr/>
          <p:nvPr/>
        </p:nvSpPr>
        <p:spPr>
          <a:xfrm>
            <a:off x="6217920" y="3246120"/>
            <a:ext cx="1965960" cy="1005840"/>
          </a:xfrm>
          <a:prstGeom prst="roundRect">
            <a:avLst>
              <a:gd name="adj" fmla="val 9091"/>
            </a:avLst>
          </a:prstGeom>
          <a:solidFill>
            <a:schemeClr val="bg2"/>
          </a:solidFill>
          <a:ln w="12700">
            <a:solidFill>
              <a:schemeClr val="bg2"/>
            </a:solidFill>
            <a:prstDash val="solid"/>
          </a:ln>
        </p:spPr>
      </p:sp>
      <p:sp>
        <p:nvSpPr>
          <p:cNvPr id="32" name="Text 30"/>
          <p:cNvSpPr txBox="1"/>
          <p:nvPr/>
        </p:nvSpPr>
        <p:spPr>
          <a:xfrm>
            <a:off x="6355080" y="3337560"/>
            <a:ext cx="548640" cy="274320"/>
          </a:xfrm>
          <a:prstGeom prst="rect">
            <a:avLst/>
          </a:prstGeom>
          <a:noFill/>
          <a:ln/>
        </p:spPr>
        <p:txBody>
          <a:bodyPr wrap="square" lIns="0" tIns="0" rIns="0" bIns="0" rtlCol="0" anchor="t"/>
          <a:lstStyle/>
          <a:p>
            <a:pPr indent="0" marL="0">
              <a:buNone/>
            </a:pPr>
            <a:r>
              <a:rPr lang="en-US" sz="1200" b="1" dirty="0">
                <a:solidFill>
                  <a:schemeClr val="accent1"/>
                </a:solidFill>
              </a:rPr>
              <a:t>08</a:t>
            </a:r>
            <a:endParaRPr lang="en-US" sz="1200" dirty="0"/>
          </a:p>
        </p:txBody>
      </p:sp>
      <p:sp>
        <p:nvSpPr>
          <p:cNvPr id="33" name="Text 31"/>
          <p:cNvSpPr txBox="1"/>
          <p:nvPr/>
        </p:nvSpPr>
        <p:spPr>
          <a:xfrm>
            <a:off x="6355080" y="3630168"/>
            <a:ext cx="1691640" cy="548640"/>
          </a:xfrm>
          <a:prstGeom prst="rect">
            <a:avLst/>
          </a:prstGeom>
          <a:noFill/>
          <a:ln/>
        </p:spPr>
        <p:txBody>
          <a:bodyPr wrap="square" lIns="0" tIns="0" rIns="0" bIns="0" rtlCol="0" anchor="t"/>
          <a:lstStyle/>
          <a:p>
            <a:pPr indent="0" marL="0">
              <a:buNone/>
            </a:pPr>
            <a:r>
              <a:rPr lang="en-US" sz="1500" b="1" dirty="0">
                <a:solidFill>
                  <a:schemeClr val="tx1"/>
                </a:solidFill>
              </a:rPr>
              <a:t>Dashboard</a:t>
            </a:r>
            <a:endParaRPr lang="en-US" sz="1500" dirty="0"/>
          </a:p>
        </p:txBody>
      </p:sp>
      <p:sp>
        <p:nvSpPr>
          <p:cNvPr id="34" name="Shape 32"/>
          <p:cNvSpPr/>
          <p:nvPr/>
        </p:nvSpPr>
        <p:spPr>
          <a:xfrm>
            <a:off x="8257032" y="3657600"/>
            <a:ext cx="155448" cy="182880"/>
          </a:xfrm>
          <a:prstGeom prst="rtTriangle">
            <a:avLst/>
          </a:prstGeom>
          <a:solidFill>
            <a:schemeClr val="accent3"/>
          </a:solidFill>
          <a:ln w="12700">
            <a:solidFill>
              <a:schemeClr val="accent3"/>
            </a:solidFill>
            <a:prstDash val="solid"/>
          </a:ln>
        </p:spPr>
      </p:sp>
      <p:sp>
        <p:nvSpPr>
          <p:cNvPr id="35" name="Shape 33"/>
          <p:cNvSpPr/>
          <p:nvPr/>
        </p:nvSpPr>
        <p:spPr>
          <a:xfrm>
            <a:off x="8485632" y="3246120"/>
            <a:ext cx="1965960" cy="1005840"/>
          </a:xfrm>
          <a:prstGeom prst="roundRect">
            <a:avLst>
              <a:gd name="adj" fmla="val 9091"/>
            </a:avLst>
          </a:prstGeom>
          <a:solidFill>
            <a:schemeClr val="accent1"/>
          </a:solidFill>
          <a:ln w="12700">
            <a:solidFill>
              <a:schemeClr val="accent1"/>
            </a:solidFill>
            <a:prstDash val="solid"/>
          </a:ln>
        </p:spPr>
      </p:sp>
      <p:sp>
        <p:nvSpPr>
          <p:cNvPr id="36" name="Text 34"/>
          <p:cNvSpPr txBox="1"/>
          <p:nvPr/>
        </p:nvSpPr>
        <p:spPr>
          <a:xfrm>
            <a:off x="8622792" y="3337560"/>
            <a:ext cx="548640" cy="274320"/>
          </a:xfrm>
          <a:prstGeom prst="rect">
            <a:avLst/>
          </a:prstGeom>
          <a:noFill/>
          <a:ln/>
        </p:spPr>
        <p:txBody>
          <a:bodyPr wrap="square" lIns="0" tIns="0" rIns="0" bIns="0" rtlCol="0" anchor="t"/>
          <a:lstStyle/>
          <a:p>
            <a:pPr indent="0" marL="0">
              <a:buNone/>
            </a:pPr>
            <a:r>
              <a:rPr lang="en-US" sz="1200" b="1" dirty="0">
                <a:solidFill>
                  <a:schemeClr val="bg1"/>
                </a:solidFill>
              </a:rPr>
              <a:t>09</a:t>
            </a:r>
            <a:endParaRPr lang="en-US" sz="1200" dirty="0"/>
          </a:p>
        </p:txBody>
      </p:sp>
      <p:sp>
        <p:nvSpPr>
          <p:cNvPr id="37" name="Text 35"/>
          <p:cNvSpPr txBox="1"/>
          <p:nvPr/>
        </p:nvSpPr>
        <p:spPr>
          <a:xfrm>
            <a:off x="8622792" y="3630168"/>
            <a:ext cx="1691640" cy="548640"/>
          </a:xfrm>
          <a:prstGeom prst="rect">
            <a:avLst/>
          </a:prstGeom>
          <a:noFill/>
          <a:ln/>
        </p:spPr>
        <p:txBody>
          <a:bodyPr wrap="square" lIns="0" tIns="0" rIns="0" bIns="0" rtlCol="0" anchor="t"/>
          <a:lstStyle/>
          <a:p>
            <a:pPr indent="0" marL="0">
              <a:buNone/>
            </a:pPr>
            <a:r>
              <a:rPr lang="en-US" sz="1500" b="1" dirty="0">
                <a:solidFill>
                  <a:schemeClr val="bg1"/>
                </a:solidFill>
              </a:rPr>
              <a:t>Decision</a:t>
            </a:r>
            <a:endParaRPr lang="en-US" sz="1500" dirty="0"/>
          </a:p>
        </p:txBody>
      </p:sp>
      <p:sp>
        <p:nvSpPr>
          <p:cNvPr id="38" name="Text 36"/>
          <p:cNvSpPr txBox="1"/>
          <p:nvPr/>
        </p:nvSpPr>
        <p:spPr>
          <a:xfrm>
            <a:off x="548640" y="4617720"/>
            <a:ext cx="3383280" cy="868680"/>
          </a:xfrm>
          <a:prstGeom prst="rect">
            <a:avLst/>
          </a:prstGeom>
          <a:noFill/>
          <a:ln/>
        </p:spPr>
        <p:txBody>
          <a:bodyPr wrap="square" lIns="0" tIns="0" rIns="0" bIns="0" rtlCol="0" anchor="b"/>
          <a:lstStyle/>
          <a:p>
            <a:pPr indent="0" marL="0">
              <a:buNone/>
            </a:pPr>
            <a:r>
              <a:rPr lang="en-US" sz="4000" b="1" dirty="0">
                <a:solidFill>
                  <a:schemeClr val="accent1"/>
                </a:solidFill>
              </a:rPr>
              <a:t>1</a:t>
            </a:r>
            <a:endParaRPr lang="en-US" sz="4000" dirty="0"/>
          </a:p>
        </p:txBody>
      </p:sp>
      <p:sp>
        <p:nvSpPr>
          <p:cNvPr id="39" name="Text 37"/>
          <p:cNvSpPr txBox="1"/>
          <p:nvPr/>
        </p:nvSpPr>
        <p:spPr>
          <a:xfrm>
            <a:off x="548640" y="5532120"/>
            <a:ext cx="3383280" cy="640080"/>
          </a:xfrm>
          <a:prstGeom prst="rect">
            <a:avLst/>
          </a:prstGeom>
          <a:noFill/>
          <a:ln/>
        </p:spPr>
        <p:txBody>
          <a:bodyPr wrap="square" lIns="0" tIns="0" rIns="0" bIns="0" rtlCol="0" anchor="t"/>
          <a:lstStyle/>
          <a:p>
            <a:pPr indent="0" marL="0">
              <a:buNone/>
            </a:pPr>
            <a:r>
              <a:rPr lang="en-US" sz="1400" dirty="0">
                <a:solidFill>
                  <a:schemeClr val="tx2"/>
                </a:solidFill>
              </a:rPr>
              <a:t>command rebuilds everything</a:t>
            </a:r>
            <a:endParaRPr lang="en-US" sz="1400" dirty="0"/>
          </a:p>
        </p:txBody>
      </p:sp>
      <p:sp>
        <p:nvSpPr>
          <p:cNvPr id="40" name="Text 38"/>
          <p:cNvSpPr txBox="1"/>
          <p:nvPr/>
        </p:nvSpPr>
        <p:spPr>
          <a:xfrm>
            <a:off x="4297680" y="4617720"/>
            <a:ext cx="3383280" cy="868680"/>
          </a:xfrm>
          <a:prstGeom prst="rect">
            <a:avLst/>
          </a:prstGeom>
          <a:noFill/>
          <a:ln/>
        </p:spPr>
        <p:txBody>
          <a:bodyPr wrap="square" lIns="0" tIns="0" rIns="0" bIns="0" rtlCol="0" anchor="b"/>
          <a:lstStyle/>
          <a:p>
            <a:pPr indent="0" marL="0">
              <a:buNone/>
            </a:pPr>
            <a:r>
              <a:rPr lang="en-US" sz="4000" b="1" dirty="0">
                <a:solidFill>
                  <a:schemeClr val="accent1"/>
                </a:solidFill>
              </a:rPr>
              <a:t>0</a:t>
            </a:r>
            <a:endParaRPr lang="en-US" sz="4000" dirty="0"/>
          </a:p>
        </p:txBody>
      </p:sp>
      <p:sp>
        <p:nvSpPr>
          <p:cNvPr id="41" name="Text 39"/>
          <p:cNvSpPr txBox="1"/>
          <p:nvPr/>
        </p:nvSpPr>
        <p:spPr>
          <a:xfrm>
            <a:off x="4297680" y="5532120"/>
            <a:ext cx="3383280" cy="640080"/>
          </a:xfrm>
          <a:prstGeom prst="rect">
            <a:avLst/>
          </a:prstGeom>
          <a:noFill/>
          <a:ln/>
        </p:spPr>
        <p:txBody>
          <a:bodyPr wrap="square" lIns="0" tIns="0" rIns="0" bIns="0" rtlCol="0" anchor="t"/>
          <a:lstStyle/>
          <a:p>
            <a:pPr indent="0" marL="0">
              <a:buNone/>
            </a:pPr>
            <a:r>
              <a:rPr lang="en-US" sz="1400" dirty="0">
                <a:solidFill>
                  <a:schemeClr val="tx2"/>
                </a:solidFill>
              </a:rPr>
              <a:t>numbers typed by hand</a:t>
            </a:r>
            <a:endParaRPr lang="en-US" sz="1400" dirty="0"/>
          </a:p>
        </p:txBody>
      </p:sp>
      <p:sp>
        <p:nvSpPr>
          <p:cNvPr id="42" name="Text 40"/>
          <p:cNvSpPr txBox="1"/>
          <p:nvPr/>
        </p:nvSpPr>
        <p:spPr>
          <a:xfrm>
            <a:off x="8046720" y="4617720"/>
            <a:ext cx="3383280" cy="868680"/>
          </a:xfrm>
          <a:prstGeom prst="rect">
            <a:avLst/>
          </a:prstGeom>
          <a:noFill/>
          <a:ln/>
        </p:spPr>
        <p:txBody>
          <a:bodyPr wrap="square" lIns="0" tIns="0" rIns="0" bIns="0" rtlCol="0" anchor="b"/>
          <a:lstStyle/>
          <a:p>
            <a:pPr indent="0" marL="0">
              <a:buNone/>
            </a:pPr>
            <a:r>
              <a:rPr lang="en-US" sz="4000" b="1" dirty="0">
                <a:solidFill>
                  <a:schemeClr val="accent1"/>
                </a:solidFill>
              </a:rPr>
              <a:t>4</a:t>
            </a:r>
            <a:endParaRPr lang="en-US" sz="4000" dirty="0"/>
          </a:p>
        </p:txBody>
      </p:sp>
      <p:sp>
        <p:nvSpPr>
          <p:cNvPr id="43" name="Text 41"/>
          <p:cNvSpPr txBox="1"/>
          <p:nvPr/>
        </p:nvSpPr>
        <p:spPr>
          <a:xfrm>
            <a:off x="8046720" y="5532120"/>
            <a:ext cx="3383280" cy="640080"/>
          </a:xfrm>
          <a:prstGeom prst="rect">
            <a:avLst/>
          </a:prstGeom>
          <a:noFill/>
          <a:ln/>
        </p:spPr>
        <p:txBody>
          <a:bodyPr wrap="square" lIns="0" tIns="0" rIns="0" bIns="0" rtlCol="0" anchor="t"/>
          <a:lstStyle/>
          <a:p>
            <a:pPr indent="0" marL="0">
              <a:buNone/>
            </a:pPr>
            <a:r>
              <a:rPr lang="en-US" sz="1400" dirty="0">
                <a:solidFill>
                  <a:schemeClr val="tx2"/>
                </a:solidFill>
              </a:rPr>
              <a:t>public datasets, each labelled</a:t>
            </a:r>
            <a:endParaRPr lang="en-US" sz="14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PIPELINE COMPARISON 1</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Pipeline design moves the bill more than the cloud does</a:t>
            </a:r>
            <a:endParaRPr lang="en-US" sz="3400" dirty="0"/>
          </a:p>
        </p:txBody>
      </p:sp>
      <p:graphicFrame>
        <p:nvGraphicFramePr>
          <p:cNvPr id="4" name="Chart 0" descr=""/>
          <p:cNvGraphicFramePr/>
          <p:nvPr/>
        </p:nvGraphicFramePr>
        <p:xfrm>
          <a:off x="548640" y="164592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8001000" y="1737360"/>
            <a:ext cx="3639312" cy="4389120"/>
          </a:xfrm>
          <a:prstGeom prst="roundRect">
            <a:avLst>
              <a:gd name="adj" fmla="val 2010"/>
            </a:avLst>
          </a:prstGeom>
          <a:solidFill>
            <a:schemeClr val="bg2"/>
          </a:solidFill>
          <a:ln w="12700">
            <a:solidFill>
              <a:schemeClr val="bg2"/>
            </a:solidFill>
            <a:prstDash val="solid"/>
          </a:ln>
        </p:spPr>
      </p:sp>
      <p:sp>
        <p:nvSpPr>
          <p:cNvPr id="6" name="Text 3"/>
          <p:cNvSpPr txBox="1"/>
          <p:nvPr/>
        </p:nvSpPr>
        <p:spPr>
          <a:xfrm>
            <a:off x="8275320" y="1874520"/>
            <a:ext cx="3200400" cy="868680"/>
          </a:xfrm>
          <a:prstGeom prst="rect">
            <a:avLst/>
          </a:prstGeom>
          <a:noFill/>
          <a:ln/>
        </p:spPr>
        <p:txBody>
          <a:bodyPr wrap="square" lIns="0" tIns="0" rIns="0" bIns="0" rtlCol="0" anchor="b"/>
          <a:lstStyle/>
          <a:p>
            <a:pPr indent="0" marL="0">
              <a:buNone/>
            </a:pPr>
            <a:r>
              <a:rPr lang="en-US" sz="4600" b="1" dirty="0">
                <a:solidFill>
                  <a:schemeClr val="accent1"/>
                </a:solidFill>
              </a:rPr>
              <a:t>18–70×</a:t>
            </a:r>
            <a:endParaRPr lang="en-US" sz="4600" dirty="0"/>
          </a:p>
        </p:txBody>
      </p:sp>
      <p:sp>
        <p:nvSpPr>
          <p:cNvPr id="7" name="Text 4"/>
          <p:cNvSpPr txBox="1"/>
          <p:nvPr/>
        </p:nvSpPr>
        <p:spPr>
          <a:xfrm>
            <a:off x="8275320" y="2788920"/>
            <a:ext cx="3200400" cy="914400"/>
          </a:xfrm>
          <a:prstGeom prst="rect">
            <a:avLst/>
          </a:prstGeom>
          <a:noFill/>
          <a:ln/>
        </p:spPr>
        <p:txBody>
          <a:bodyPr wrap="square" lIns="0" tIns="0" rIns="0" bIns="0" rtlCol="0" anchor="t"/>
          <a:lstStyle/>
          <a:p>
            <a:pPr indent="0" marL="0">
              <a:buNone/>
            </a:pPr>
            <a:r>
              <a:rPr lang="en-US" sz="1400" dirty="0">
                <a:solidFill>
                  <a:schemeClr val="tx2"/>
                </a:solidFill>
              </a:rPr>
              <a:t>lower monthly bill when the edge batches messages instead of sending one per reading</a:t>
            </a:r>
            <a:endParaRPr lang="en-US" sz="1400" dirty="0"/>
          </a:p>
        </p:txBody>
      </p:sp>
      <p:sp>
        <p:nvSpPr>
          <p:cNvPr id="8" name="Text 5"/>
          <p:cNvSpPr txBox="1"/>
          <p:nvPr/>
        </p:nvSpPr>
        <p:spPr>
          <a:xfrm>
            <a:off x="8275320" y="3977640"/>
            <a:ext cx="3200400" cy="365760"/>
          </a:xfrm>
          <a:prstGeom prst="rect">
            <a:avLst/>
          </a:prstGeom>
          <a:noFill/>
          <a:ln/>
        </p:spPr>
        <p:txBody>
          <a:bodyPr wrap="square" lIns="0" tIns="0" rIns="0" bIns="0" rtlCol="0" anchor="t"/>
          <a:lstStyle/>
          <a:p>
            <a:pPr indent="0" marL="0">
              <a:buNone/>
            </a:pPr>
            <a:r>
              <a:rPr lang="en-US" sz="1600" b="1" dirty="0">
                <a:solidFill>
                  <a:schemeClr val="tx1"/>
                </a:solidFill>
              </a:rPr>
              <a:t>₹14–30 lakh → ₹43–80k a month</a:t>
            </a:r>
            <a:endParaRPr lang="en-US" sz="1600" dirty="0"/>
          </a:p>
        </p:txBody>
      </p:sp>
      <p:sp>
        <p:nvSpPr>
          <p:cNvPr id="9" name="Text 6"/>
          <p:cNvSpPr txBox="1"/>
          <p:nvPr/>
        </p:nvSpPr>
        <p:spPr>
          <a:xfrm>
            <a:off x="8275320" y="4480560"/>
            <a:ext cx="3154680" cy="1280160"/>
          </a:xfrm>
          <a:prstGeom prst="rect">
            <a:avLst/>
          </a:prstGeom>
          <a:noFill/>
          <a:ln/>
        </p:spPr>
        <p:txBody>
          <a:bodyPr wrap="square" lIns="0" tIns="0" rIns="0" bIns="0" rtlCol="0" anchor="t"/>
          <a:lstStyle/>
          <a:p>
            <a:pPr indent="0" marL="0">
              <a:buNone/>
            </a:pPr>
            <a:r>
              <a:rPr lang="en-US" sz="1500" dirty="0">
                <a:solidFill>
                  <a:schemeClr val="tx2"/>
                </a:solidFill>
              </a:rPr>
              <a:t>Batching at the edge is the single biggest cost lever, bigger than which cloud you pick.</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PIPELINE COMPARISON 2</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Compression gives 5×. Feature extraction gives 143×</a:t>
            </a:r>
            <a:endParaRPr lang="en-US" sz="3400" dirty="0"/>
          </a:p>
        </p:txBody>
      </p:sp>
      <p:sp>
        <p:nvSpPr>
          <p:cNvPr id="4" name="card"/>
          <p:cNvSpPr/>
          <p:nvPr/>
        </p:nvSpPr>
        <p:spPr>
          <a:xfrm>
            <a:off x="548640" y="1691640"/>
            <a:ext cx="4206240" cy="1325880"/>
          </a:xfrm>
          <a:prstGeom prst="roundRect">
            <a:avLst>
              <a:gd name="adj" fmla="val 5517"/>
            </a:avLst>
          </a:prstGeom>
          <a:solidFill>
            <a:schemeClr val="bg2"/>
          </a:solidFill>
          <a:ln w="12700">
            <a:solidFill>
              <a:schemeClr val="bg2"/>
            </a:solidFill>
            <a:prstDash val="solid"/>
          </a:ln>
        </p:spPr>
      </p:sp>
      <p:sp>
        <p:nvSpPr>
          <p:cNvPr id="5" name="Text 3"/>
          <p:cNvSpPr txBox="1"/>
          <p:nvPr/>
        </p:nvSpPr>
        <p:spPr>
          <a:xfrm>
            <a:off x="777240" y="1783080"/>
            <a:ext cx="1737360" cy="1143000"/>
          </a:xfrm>
          <a:prstGeom prst="rect">
            <a:avLst/>
          </a:prstGeom>
          <a:noFill/>
          <a:ln/>
        </p:spPr>
        <p:txBody>
          <a:bodyPr wrap="square" lIns="0" tIns="0" rIns="0" bIns="0" rtlCol="0" anchor="ctr"/>
          <a:lstStyle/>
          <a:p>
            <a:pPr indent="0" marL="0">
              <a:buNone/>
            </a:pPr>
            <a:r>
              <a:rPr lang="en-US" sz="4000" b="1" dirty="0">
                <a:solidFill>
                  <a:schemeClr val="accent3"/>
                </a:solidFill>
              </a:rPr>
              <a:t>5×</a:t>
            </a:r>
            <a:endParaRPr lang="en-US" sz="4000" dirty="0"/>
          </a:p>
        </p:txBody>
      </p:sp>
      <p:sp>
        <p:nvSpPr>
          <p:cNvPr id="6" name="Text 4"/>
          <p:cNvSpPr txBox="1"/>
          <p:nvPr/>
        </p:nvSpPr>
        <p:spPr>
          <a:xfrm>
            <a:off x="2560320" y="1783080"/>
            <a:ext cx="2057400" cy="1143000"/>
          </a:xfrm>
          <a:prstGeom prst="rect">
            <a:avLst/>
          </a:prstGeom>
          <a:noFill/>
          <a:ln/>
        </p:spPr>
        <p:txBody>
          <a:bodyPr wrap="square" lIns="0" tIns="0" rIns="0" bIns="0" rtlCol="0" anchor="ctr"/>
          <a:lstStyle/>
          <a:p>
            <a:pPr indent="0" marL="0">
              <a:buNone/>
            </a:pPr>
            <a:r>
              <a:rPr lang="en-US" sz="1400" dirty="0">
                <a:solidFill>
                  <a:schemeClr val="tx2"/>
                </a:solidFill>
              </a:rPr>
              <a:t>lossless compression of raw Bosch vibration (Parquet + Zstd): noise doesn't compress</a:t>
            </a:r>
            <a:endParaRPr lang="en-US" sz="1400" dirty="0"/>
          </a:p>
        </p:txBody>
      </p:sp>
      <p:sp>
        <p:nvSpPr>
          <p:cNvPr id="7" name="card"/>
          <p:cNvSpPr/>
          <p:nvPr/>
        </p:nvSpPr>
        <p:spPr>
          <a:xfrm>
            <a:off x="548640" y="3200400"/>
            <a:ext cx="4206240" cy="1325880"/>
          </a:xfrm>
          <a:prstGeom prst="roundRect">
            <a:avLst>
              <a:gd name="adj" fmla="val 5517"/>
            </a:avLst>
          </a:prstGeom>
          <a:solidFill>
            <a:schemeClr val="bg2"/>
          </a:solidFill>
          <a:ln w="12700">
            <a:solidFill>
              <a:schemeClr val="bg2"/>
            </a:solidFill>
            <a:prstDash val="solid"/>
          </a:ln>
        </p:spPr>
      </p:sp>
      <p:sp>
        <p:nvSpPr>
          <p:cNvPr id="8" name="Text 6"/>
          <p:cNvSpPr txBox="1"/>
          <p:nvPr/>
        </p:nvSpPr>
        <p:spPr>
          <a:xfrm>
            <a:off x="777240" y="3291840"/>
            <a:ext cx="1737360" cy="1143000"/>
          </a:xfrm>
          <a:prstGeom prst="rect">
            <a:avLst/>
          </a:prstGeom>
          <a:noFill/>
          <a:ln/>
        </p:spPr>
        <p:txBody>
          <a:bodyPr wrap="square" lIns="0" tIns="0" rIns="0" bIns="0" rtlCol="0" anchor="ctr"/>
          <a:lstStyle/>
          <a:p>
            <a:pPr indent="0" marL="0">
              <a:buNone/>
            </a:pPr>
            <a:r>
              <a:rPr lang="en-US" sz="4000" b="1" dirty="0">
                <a:solidFill>
                  <a:schemeClr val="accent1"/>
                </a:solidFill>
              </a:rPr>
              <a:t>143×</a:t>
            </a:r>
            <a:endParaRPr lang="en-US" sz="4000" dirty="0"/>
          </a:p>
        </p:txBody>
      </p:sp>
      <p:sp>
        <p:nvSpPr>
          <p:cNvPr id="9" name="Text 7"/>
          <p:cNvSpPr txBox="1"/>
          <p:nvPr/>
        </p:nvSpPr>
        <p:spPr>
          <a:xfrm>
            <a:off x="2560320" y="3291840"/>
            <a:ext cx="2057400" cy="1143000"/>
          </a:xfrm>
          <a:prstGeom prst="rect">
            <a:avLst/>
          </a:prstGeom>
          <a:noFill/>
          <a:ln/>
        </p:spPr>
        <p:txBody>
          <a:bodyPr wrap="square" lIns="0" tIns="0" rIns="0" bIns="0" rtlCol="0" anchor="ctr"/>
          <a:lstStyle/>
          <a:p>
            <a:pPr indent="0" marL="0">
              <a:buNone/>
            </a:pPr>
            <a:r>
              <a:rPr lang="en-US" sz="1400" dirty="0">
                <a:solidFill>
                  <a:schemeClr val="tx2"/>
                </a:solidFill>
              </a:rPr>
              <a:t>smaller with 42 edge features a second instead of 6,000 raw samples</a:t>
            </a:r>
            <a:endParaRPr lang="en-US" sz="1400" dirty="0"/>
          </a:p>
        </p:txBody>
      </p:sp>
      <p:sp>
        <p:nvSpPr>
          <p:cNvPr id="10" name="card"/>
          <p:cNvSpPr/>
          <p:nvPr/>
        </p:nvSpPr>
        <p:spPr>
          <a:xfrm>
            <a:off x="548640" y="4709160"/>
            <a:ext cx="4206240" cy="1325880"/>
          </a:xfrm>
          <a:prstGeom prst="roundRect">
            <a:avLst>
              <a:gd name="adj" fmla="val 5517"/>
            </a:avLst>
          </a:prstGeom>
          <a:solidFill>
            <a:schemeClr val="bg2"/>
          </a:solidFill>
          <a:ln w="12700">
            <a:solidFill>
              <a:schemeClr val="bg2"/>
            </a:solidFill>
            <a:prstDash val="solid"/>
          </a:ln>
        </p:spPr>
      </p:sp>
      <p:sp>
        <p:nvSpPr>
          <p:cNvPr id="11" name="Text 9"/>
          <p:cNvSpPr txBox="1"/>
          <p:nvPr/>
        </p:nvSpPr>
        <p:spPr>
          <a:xfrm>
            <a:off x="777240" y="4800600"/>
            <a:ext cx="1737360" cy="1143000"/>
          </a:xfrm>
          <a:prstGeom prst="rect">
            <a:avLst/>
          </a:prstGeom>
          <a:noFill/>
          <a:ln/>
        </p:spPr>
        <p:txBody>
          <a:bodyPr wrap="square" lIns="0" tIns="0" rIns="0" bIns="0" rtlCol="0" anchor="ctr"/>
          <a:lstStyle/>
          <a:p>
            <a:pPr indent="0" marL="0">
              <a:buNone/>
            </a:pPr>
            <a:r>
              <a:rPr lang="en-US" sz="4000" b="1" dirty="0">
                <a:solidFill>
                  <a:schemeClr val="accent2"/>
                </a:solidFill>
              </a:rPr>
              <a:t>0.98</a:t>
            </a:r>
            <a:endParaRPr lang="en-US" sz="4000" dirty="0"/>
          </a:p>
        </p:txBody>
      </p:sp>
      <p:sp>
        <p:nvSpPr>
          <p:cNvPr id="12" name="Text 10"/>
          <p:cNvSpPr txBox="1"/>
          <p:nvPr/>
        </p:nvSpPr>
        <p:spPr>
          <a:xfrm>
            <a:off x="2560320" y="4800600"/>
            <a:ext cx="2057400" cy="1143000"/>
          </a:xfrm>
          <a:prstGeom prst="rect">
            <a:avLst/>
          </a:prstGeom>
          <a:noFill/>
          <a:ln/>
        </p:spPr>
        <p:txBody>
          <a:bodyPr wrap="square" lIns="0" tIns="0" rIns="0" bIns="0" rtlCol="0" anchor="ctr"/>
          <a:lstStyle/>
          <a:p>
            <a:pPr indent="0" marL="0">
              <a:buNone/>
            </a:pPr>
            <a:r>
              <a:rPr lang="en-US" sz="1400" dirty="0">
                <a:solidFill>
                  <a:schemeClr val="tx2"/>
                </a:solidFill>
              </a:rPr>
              <a:t>ROC-AUC: the fault signal survives, good vs bad operations</a:t>
            </a:r>
            <a:endParaRPr lang="en-US" sz="1400" dirty="0"/>
          </a:p>
        </p:txBody>
      </p:sp>
      <p:pic>
        <p:nvPicPr>
          <p:cNvPr id="13" name="Image 0" descr="Real Bosch waveform vs one-second features">    </p:cNvPr>
          <p:cNvPicPr>
            <a:picLocks noChangeAspect="1"/>
          </p:cNvPicPr>
          <p:nvPr/>
        </p:nvPicPr>
        <p:blipFill>
          <a:blip r:embed="rId1"/>
          <a:stretch>
            <a:fillRect/>
          </a:stretch>
        </p:blipFill>
        <p:spPr>
          <a:xfrm>
            <a:off x="5120640" y="1691640"/>
            <a:ext cx="6519672" cy="4270248"/>
          </a:xfrm>
          <a:prstGeom prst="rect">
            <a:avLst/>
          </a:prstGeom>
        </p:spPr>
      </p:pic>
      <p:sp>
        <p:nvSpPr>
          <p:cNvPr id="14" name="Text 11"/>
          <p:cNvSpPr txBox="1"/>
          <p:nvPr/>
        </p:nvSpPr>
        <p:spPr>
          <a:xfrm>
            <a:off x="5120640" y="6035040"/>
            <a:ext cx="6492240" cy="274320"/>
          </a:xfrm>
          <a:prstGeom prst="rect">
            <a:avLst/>
          </a:prstGeom>
          <a:noFill/>
          <a:ln/>
        </p:spPr>
        <p:txBody>
          <a:bodyPr wrap="square" lIns="0" tIns="0" rIns="0" bIns="0" rtlCol="0" anchor="t"/>
          <a:lstStyle/>
          <a:p>
            <a:pPr indent="0" marL="0">
              <a:buNone/>
            </a:pPr>
            <a:r>
              <a:rPr lang="en-US" sz="1100" dirty="0">
                <a:solidFill>
                  <a:schemeClr val="accent3"/>
                </a:solidFill>
              </a:rPr>
              <a:t>Measured on real Bosch production data: 1,702 operations, 2 kHz × 3 axes</a:t>
            </a:r>
            <a:endParaRPr lang="en-US" sz="11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STORAGE COMPARISON</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Three shapes of data need three kinds of home</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7589520" cy="914400"/>
        </p:xfrm>
        <a:graphic>
          <a:graphicData uri="http://schemas.openxmlformats.org/drawingml/2006/table">
            <a:tbl>
              <a:tblPr/>
              <a:tblGrid>
                <a:gridCol w="2011680"/>
                <a:gridCol w="1737360"/>
                <a:gridCol w="2011680"/>
                <a:gridCol w="1828800"/>
              </a:tblGrid>
              <a:tr h="566928">
                <a:tc>
                  <a:txBody>
                    <a:bodyPr/>
                    <a:lstStyle/>
                    <a:p>
                      <a:pPr indent="0" marL="0">
                        <a:buNone/>
                      </a:pP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Data lake</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Data warehouse</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Lakehouse</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tx1"/>
                          </a:solidFill>
                        </a:rPr>
                        <a:t>Holds</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Everything, raw</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Clean tables</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b="1" dirty="0">
                          <a:solidFill>
                            <a:schemeClr val="tx1"/>
                          </a:solidFill>
                        </a:rPr>
                        <a:t>Everything + clean tables</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r>
              <a:tr h="566928">
                <a:tc>
                  <a:txBody>
                    <a:bodyPr/>
                    <a:lstStyle/>
                    <a:p>
                      <a:pPr indent="0" marL="0">
                        <a:buNone/>
                      </a:pPr>
                      <a:r>
                        <a:rPr lang="en-US" sz="1400" b="1" dirty="0">
                          <a:solidFill>
                            <a:schemeClr val="tx1"/>
                          </a:solidFill>
                        </a:rPr>
                        <a:t>Structure</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Decided when reading</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Fixed before loading</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b="1" dirty="0">
                          <a:solidFill>
                            <a:schemeClr val="tx1"/>
                          </a:solidFill>
                        </a:rPr>
                        <a:t>Both</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r>
              <a:tr h="566928">
                <a:tc>
                  <a:txBody>
                    <a:bodyPr/>
                    <a:lstStyle/>
                    <a:p>
                      <a:pPr indent="0" marL="0">
                        <a:buNone/>
                      </a:pPr>
                      <a:r>
                        <a:rPr lang="en-US" sz="1400" b="1" dirty="0">
                          <a:solidFill>
                            <a:schemeClr val="tx1"/>
                          </a:solidFill>
                        </a:rPr>
                        <a:t>Cost</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Lowest</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Highest</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b="1" dirty="0">
                          <a:solidFill>
                            <a:schemeClr val="tx1"/>
                          </a:solidFill>
                        </a:rPr>
                        <a:t>Low</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r>
              <a:tr h="566928">
                <a:tc>
                  <a:txBody>
                    <a:bodyPr/>
                    <a:lstStyle/>
                    <a:p>
                      <a:pPr indent="0" marL="0">
                        <a:buNone/>
                      </a:pPr>
                      <a:r>
                        <a:rPr lang="en-US" sz="1400" b="1" dirty="0">
                          <a:solidFill>
                            <a:schemeClr val="tx1"/>
                          </a:solidFill>
                        </a:rPr>
                        <a:t>Updates, de-dup, history</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No</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Yes</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b="1" dirty="0">
                          <a:solidFill>
                            <a:schemeClr val="tx1"/>
                          </a:solidFill>
                        </a:rPr>
                        <a:t>Yes</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r>
              <a:tr h="566928">
                <a:tc>
                  <a:txBody>
                    <a:bodyPr/>
                    <a:lstStyle/>
                    <a:p>
                      <a:pPr indent="0" marL="0">
                        <a:buNone/>
                      </a:pPr>
                      <a:r>
                        <a:rPr lang="en-US" sz="1400" b="1" dirty="0">
                          <a:solidFill>
                            <a:schemeClr val="tx1"/>
                          </a:solidFill>
                        </a:rPr>
                        <a:t>Examples</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S3, ADLS, GCS</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Snowflake, BigQuery, Redshift</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b="1" dirty="0">
                          <a:solidFill>
                            <a:schemeClr val="tx1"/>
                          </a:solidFill>
                        </a:rPr>
                        <a:t>Databricks, Fabric</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r>
              <a:tr h="566928">
                <a:tc>
                  <a:txBody>
                    <a:bodyPr/>
                    <a:lstStyle/>
                    <a:p>
                      <a:pPr indent="0" marL="0">
                        <a:buNone/>
                      </a:pPr>
                      <a:r>
                        <a:rPr lang="en-US" sz="1400" b="1" dirty="0">
                          <a:solidFill>
                            <a:schemeClr val="tx1"/>
                          </a:solidFill>
                        </a:rPr>
                        <a:t>Our data</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Raw vibration</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Fleet table, KPIs</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b="1" dirty="0">
                          <a:solidFill>
                            <a:schemeClr val="tx1"/>
                          </a:solidFill>
                        </a:rPr>
                        <a:t>All of it, one copy</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rgbClr val="FCE9DC"/>
                    </a:solidFill>
                  </a:tcPr>
                </a:tc>
              </a:tr>
            </a:tbl>
          </a:graphicData>
        </a:graphic>
      </p:graphicFrame>
      <p:sp>
        <p:nvSpPr>
          <p:cNvPr id="5" name="card"/>
          <p:cNvSpPr/>
          <p:nvPr/>
        </p:nvSpPr>
        <p:spPr>
          <a:xfrm>
            <a:off x="8549640" y="1691640"/>
            <a:ext cx="3090672" cy="3977640"/>
          </a:xfrm>
          <a:prstGeom prst="roundRect">
            <a:avLst>
              <a:gd name="adj" fmla="val 2367"/>
            </a:avLst>
          </a:prstGeom>
          <a:solidFill>
            <a:schemeClr val="tx1"/>
          </a:solidFill>
          <a:ln w="12700">
            <a:solidFill>
              <a:schemeClr val="tx1"/>
            </a:solidFill>
            <a:prstDash val="solid"/>
          </a:ln>
        </p:spPr>
      </p:sp>
      <p:sp>
        <p:nvSpPr>
          <p:cNvPr id="6" name="Text 3"/>
          <p:cNvSpPr txBox="1"/>
          <p:nvPr/>
        </p:nvSpPr>
        <p:spPr>
          <a:xfrm>
            <a:off x="8778240" y="1920240"/>
            <a:ext cx="2743200" cy="914400"/>
          </a:xfrm>
          <a:prstGeom prst="rect">
            <a:avLst/>
          </a:prstGeom>
          <a:noFill/>
          <a:ln/>
        </p:spPr>
        <p:txBody>
          <a:bodyPr wrap="square" lIns="0" tIns="0" rIns="0" bIns="0" rtlCol="0" anchor="t"/>
          <a:lstStyle/>
          <a:p>
            <a:pPr indent="0" marL="0">
              <a:buNone/>
            </a:pPr>
            <a:r>
              <a:rPr lang="en-US" sz="5400" b="1" dirty="0">
                <a:solidFill>
                  <a:schemeClr val="accent1"/>
                </a:solidFill>
              </a:rPr>
              <a:t>99%+</a:t>
            </a:r>
            <a:endParaRPr lang="en-US" sz="5400" dirty="0"/>
          </a:p>
        </p:txBody>
      </p:sp>
      <p:sp>
        <p:nvSpPr>
          <p:cNvPr id="7" name="Text 4"/>
          <p:cNvSpPr txBox="1"/>
          <p:nvPr/>
        </p:nvSpPr>
        <p:spPr>
          <a:xfrm>
            <a:off x="8778240" y="2926080"/>
            <a:ext cx="2651760" cy="1005840"/>
          </a:xfrm>
          <a:prstGeom prst="rect">
            <a:avLst/>
          </a:prstGeom>
          <a:noFill/>
          <a:ln/>
        </p:spPr>
        <p:txBody>
          <a:bodyPr wrap="square" lIns="0" tIns="0" rIns="0" bIns="0" rtlCol="0" anchor="t"/>
          <a:lstStyle/>
          <a:p>
            <a:pPr indent="0" marL="0">
              <a:buNone/>
            </a:pPr>
            <a:r>
              <a:rPr lang="en-US" sz="1600" dirty="0">
                <a:solidFill>
                  <a:schemeClr val="bg1"/>
                </a:solidFill>
              </a:rPr>
              <a:t>of the bytes are raw vibration, the data that needs the least SQL</a:t>
            </a:r>
            <a:endParaRPr lang="en-US" sz="1600" dirty="0"/>
          </a:p>
        </p:txBody>
      </p:sp>
      <p:sp>
        <p:nvSpPr>
          <p:cNvPr id="8" name="Text 5"/>
          <p:cNvSpPr txBox="1"/>
          <p:nvPr/>
        </p:nvSpPr>
        <p:spPr>
          <a:xfrm>
            <a:off x="8778240" y="4206240"/>
            <a:ext cx="2651760" cy="822960"/>
          </a:xfrm>
          <a:prstGeom prst="rect">
            <a:avLst/>
          </a:prstGeom>
          <a:noFill/>
          <a:ln/>
        </p:spPr>
        <p:txBody>
          <a:bodyPr wrap="square" lIns="0" tIns="0" rIns="0" bIns="0" rtlCol="0" anchor="t"/>
          <a:lstStyle/>
          <a:p>
            <a:pPr indent="0" marL="0">
              <a:buNone/>
            </a:pPr>
            <a:r>
              <a:rPr lang="en-US" sz="1600" b="1" dirty="0">
                <a:solidFill>
                  <a:schemeClr val="accent4"/>
                </a:solidFill>
              </a:rPr>
              <a:t>→ that one fact picks a lakehouse</a:t>
            </a:r>
            <a:endParaRPr lang="en-US" sz="16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PLATFORM COMPARISON</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Everyone is converging on the lakehouse</a:t>
            </a:r>
            <a:endParaRPr lang="en-US" sz="3400" dirty="0"/>
          </a:p>
        </p:txBody>
      </p:sp>
      <p:sp>
        <p:nvSpPr>
          <p:cNvPr id="4" name="card"/>
          <p:cNvSpPr/>
          <p:nvPr/>
        </p:nvSpPr>
        <p:spPr>
          <a:xfrm>
            <a:off x="548640" y="1691640"/>
            <a:ext cx="3611880" cy="2057400"/>
          </a:xfrm>
          <a:prstGeom prst="roundRect">
            <a:avLst>
              <a:gd name="adj" fmla="val 3556"/>
            </a:avLst>
          </a:prstGeom>
          <a:solidFill>
            <a:schemeClr val="bg2"/>
          </a:solidFill>
          <a:ln w="12700">
            <a:solidFill>
              <a:schemeClr val="bg2"/>
            </a:solidFill>
            <a:prstDash val="solid"/>
          </a:ln>
        </p:spPr>
      </p:sp>
      <p:sp>
        <p:nvSpPr>
          <p:cNvPr id="5" name="Text 3"/>
          <p:cNvSpPr txBox="1"/>
          <p:nvPr/>
        </p:nvSpPr>
        <p:spPr>
          <a:xfrm>
            <a:off x="777240" y="1874520"/>
            <a:ext cx="3200400" cy="365760"/>
          </a:xfrm>
          <a:prstGeom prst="rect">
            <a:avLst/>
          </a:prstGeom>
          <a:noFill/>
          <a:ln/>
        </p:spPr>
        <p:txBody>
          <a:bodyPr wrap="square" lIns="0" tIns="0" rIns="0" bIns="0" rtlCol="0" anchor="t"/>
          <a:lstStyle/>
          <a:p>
            <a:pPr indent="0" marL="0">
              <a:buNone/>
            </a:pPr>
            <a:r>
              <a:rPr lang="en-US" sz="2000" b="1" dirty="0">
                <a:solidFill>
                  <a:schemeClr val="tx1"/>
                </a:solidFill>
              </a:rPr>
              <a:t>Lakes</a:t>
            </a:r>
            <a:endParaRPr lang="en-US" sz="2000" dirty="0"/>
          </a:p>
        </p:txBody>
      </p:sp>
      <p:sp>
        <p:nvSpPr>
          <p:cNvPr id="6" name="Text 4"/>
          <p:cNvSpPr txBox="1"/>
          <p:nvPr/>
        </p:nvSpPr>
        <p:spPr>
          <a:xfrm>
            <a:off x="777240" y="2286000"/>
            <a:ext cx="3200400" cy="548640"/>
          </a:xfrm>
          <a:prstGeom prst="rect">
            <a:avLst/>
          </a:prstGeom>
          <a:noFill/>
          <a:ln/>
        </p:spPr>
        <p:txBody>
          <a:bodyPr wrap="square" lIns="0" tIns="0" rIns="0" bIns="0" rtlCol="0" anchor="t"/>
          <a:lstStyle/>
          <a:p>
            <a:pPr indent="0" marL="0">
              <a:buNone/>
            </a:pPr>
            <a:r>
              <a:rPr lang="en-US" sz="1400" b="1" dirty="0">
                <a:solidFill>
                  <a:schemeClr val="accent2"/>
                </a:solidFill>
              </a:rPr>
              <a:t>Amazon S3 · Azure ADLS · Google Cloud Storage</a:t>
            </a:r>
            <a:endParaRPr lang="en-US" sz="1400" dirty="0"/>
          </a:p>
        </p:txBody>
      </p:sp>
      <p:sp>
        <p:nvSpPr>
          <p:cNvPr id="7" name="Text 5"/>
          <p:cNvSpPr txBox="1"/>
          <p:nvPr/>
        </p:nvSpPr>
        <p:spPr>
          <a:xfrm>
            <a:off x="777240" y="2834640"/>
            <a:ext cx="3200400" cy="548640"/>
          </a:xfrm>
          <a:prstGeom prst="rect">
            <a:avLst/>
          </a:prstGeom>
          <a:noFill/>
          <a:ln/>
        </p:spPr>
        <p:txBody>
          <a:bodyPr wrap="square" lIns="0" tIns="0" rIns="0" bIns="0" rtlCol="0" anchor="t"/>
          <a:lstStyle/>
          <a:p>
            <a:pPr indent="0" marL="0">
              <a:buNone/>
            </a:pPr>
            <a:r>
              <a:rPr lang="en-US" sz="1400" dirty="0">
                <a:solidFill>
                  <a:schemeClr val="tx2"/>
                </a:solidFill>
              </a:rPr>
              <a:t>Cheap, durable home for raw signals and files</a:t>
            </a:r>
            <a:endParaRPr lang="en-US" sz="1400" dirty="0"/>
          </a:p>
        </p:txBody>
      </p:sp>
      <p:sp>
        <p:nvSpPr>
          <p:cNvPr id="8" name="card"/>
          <p:cNvSpPr/>
          <p:nvPr/>
        </p:nvSpPr>
        <p:spPr>
          <a:xfrm>
            <a:off x="4343400" y="1691640"/>
            <a:ext cx="3611880" cy="2057400"/>
          </a:xfrm>
          <a:prstGeom prst="roundRect">
            <a:avLst>
              <a:gd name="adj" fmla="val 3556"/>
            </a:avLst>
          </a:prstGeom>
          <a:solidFill>
            <a:schemeClr val="bg2"/>
          </a:solidFill>
          <a:ln w="12700">
            <a:solidFill>
              <a:schemeClr val="bg2"/>
            </a:solidFill>
            <a:prstDash val="solid"/>
          </a:ln>
        </p:spPr>
      </p:sp>
      <p:sp>
        <p:nvSpPr>
          <p:cNvPr id="9" name="Text 7"/>
          <p:cNvSpPr txBox="1"/>
          <p:nvPr/>
        </p:nvSpPr>
        <p:spPr>
          <a:xfrm>
            <a:off x="4572000" y="1874520"/>
            <a:ext cx="3200400" cy="365760"/>
          </a:xfrm>
          <a:prstGeom prst="rect">
            <a:avLst/>
          </a:prstGeom>
          <a:noFill/>
          <a:ln/>
        </p:spPr>
        <p:txBody>
          <a:bodyPr wrap="square" lIns="0" tIns="0" rIns="0" bIns="0" rtlCol="0" anchor="t"/>
          <a:lstStyle/>
          <a:p>
            <a:pPr indent="0" marL="0">
              <a:buNone/>
            </a:pPr>
            <a:r>
              <a:rPr lang="en-US" sz="2000" b="1" dirty="0">
                <a:solidFill>
                  <a:schemeClr val="tx1"/>
                </a:solidFill>
              </a:rPr>
              <a:t>Warehouses</a:t>
            </a:r>
            <a:endParaRPr lang="en-US" sz="2000" dirty="0"/>
          </a:p>
        </p:txBody>
      </p:sp>
      <p:sp>
        <p:nvSpPr>
          <p:cNvPr id="10" name="Text 8"/>
          <p:cNvSpPr txBox="1"/>
          <p:nvPr/>
        </p:nvSpPr>
        <p:spPr>
          <a:xfrm>
            <a:off x="4572000" y="2286000"/>
            <a:ext cx="3200400" cy="548640"/>
          </a:xfrm>
          <a:prstGeom prst="rect">
            <a:avLst/>
          </a:prstGeom>
          <a:noFill/>
          <a:ln/>
        </p:spPr>
        <p:txBody>
          <a:bodyPr wrap="square" lIns="0" tIns="0" rIns="0" bIns="0" rtlCol="0" anchor="t"/>
          <a:lstStyle/>
          <a:p>
            <a:pPr indent="0" marL="0">
              <a:buNone/>
            </a:pPr>
            <a:r>
              <a:rPr lang="en-US" sz="1400" b="1" dirty="0">
                <a:solidFill>
                  <a:schemeClr val="accent2"/>
                </a:solidFill>
              </a:rPr>
              <a:t>Snowflake · Google BigQuery · Amazon Redshift</a:t>
            </a:r>
            <a:endParaRPr lang="en-US" sz="1400" dirty="0"/>
          </a:p>
        </p:txBody>
      </p:sp>
      <p:sp>
        <p:nvSpPr>
          <p:cNvPr id="11" name="Text 9"/>
          <p:cNvSpPr txBox="1"/>
          <p:nvPr/>
        </p:nvSpPr>
        <p:spPr>
          <a:xfrm>
            <a:off x="4572000" y="2834640"/>
            <a:ext cx="3200400" cy="548640"/>
          </a:xfrm>
          <a:prstGeom prst="rect">
            <a:avLst/>
          </a:prstGeom>
          <a:noFill/>
          <a:ln/>
        </p:spPr>
        <p:txBody>
          <a:bodyPr wrap="square" lIns="0" tIns="0" rIns="0" bIns="0" rtlCol="0" anchor="t"/>
          <a:lstStyle/>
          <a:p>
            <a:pPr indent="0" marL="0">
              <a:buNone/>
            </a:pPr>
            <a:r>
              <a:rPr lang="en-US" sz="1400" dirty="0">
                <a:solidFill>
                  <a:schemeClr val="tx2"/>
                </a:solidFill>
              </a:rPr>
              <a:t>Best SQL and reporting; awkward for raw signals and heavy ML</a:t>
            </a:r>
            <a:endParaRPr lang="en-US" sz="1400" dirty="0"/>
          </a:p>
        </p:txBody>
      </p:sp>
      <p:sp>
        <p:nvSpPr>
          <p:cNvPr id="12" name="Text 10"/>
          <p:cNvSpPr txBox="1"/>
          <p:nvPr/>
        </p:nvSpPr>
        <p:spPr>
          <a:xfrm>
            <a:off x="4572000" y="3383280"/>
            <a:ext cx="320040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WE USED: BigQuery</a:t>
            </a:r>
            <a:endParaRPr lang="en-US" sz="1100" dirty="0"/>
          </a:p>
        </p:txBody>
      </p:sp>
      <p:sp>
        <p:nvSpPr>
          <p:cNvPr id="13" name="card"/>
          <p:cNvSpPr/>
          <p:nvPr/>
        </p:nvSpPr>
        <p:spPr>
          <a:xfrm>
            <a:off x="548640" y="3931920"/>
            <a:ext cx="3611880" cy="2057400"/>
          </a:xfrm>
          <a:prstGeom prst="roundRect">
            <a:avLst>
              <a:gd name="adj" fmla="val 3556"/>
            </a:avLst>
          </a:prstGeom>
          <a:solidFill>
            <a:schemeClr val="bg2"/>
          </a:solidFill>
          <a:ln w="12700">
            <a:solidFill>
              <a:schemeClr val="bg2"/>
            </a:solidFill>
            <a:prstDash val="solid"/>
          </a:ln>
        </p:spPr>
      </p:sp>
      <p:sp>
        <p:nvSpPr>
          <p:cNvPr id="14" name="Text 12"/>
          <p:cNvSpPr txBox="1"/>
          <p:nvPr/>
        </p:nvSpPr>
        <p:spPr>
          <a:xfrm>
            <a:off x="777240" y="4114800"/>
            <a:ext cx="3200400" cy="365760"/>
          </a:xfrm>
          <a:prstGeom prst="rect">
            <a:avLst/>
          </a:prstGeom>
          <a:noFill/>
          <a:ln/>
        </p:spPr>
        <p:txBody>
          <a:bodyPr wrap="square" lIns="0" tIns="0" rIns="0" bIns="0" rtlCol="0" anchor="t"/>
          <a:lstStyle/>
          <a:p>
            <a:pPr indent="0" marL="0">
              <a:buNone/>
            </a:pPr>
            <a:r>
              <a:rPr lang="en-US" sz="2000" b="1" dirty="0">
                <a:solidFill>
                  <a:schemeClr val="tx1"/>
                </a:solidFill>
              </a:rPr>
              <a:t>Lakehouses</a:t>
            </a:r>
            <a:endParaRPr lang="en-US" sz="2000" dirty="0"/>
          </a:p>
        </p:txBody>
      </p:sp>
      <p:sp>
        <p:nvSpPr>
          <p:cNvPr id="15" name="Text 13"/>
          <p:cNvSpPr txBox="1"/>
          <p:nvPr/>
        </p:nvSpPr>
        <p:spPr>
          <a:xfrm>
            <a:off x="777240" y="4526280"/>
            <a:ext cx="3200400" cy="548640"/>
          </a:xfrm>
          <a:prstGeom prst="rect">
            <a:avLst/>
          </a:prstGeom>
          <a:noFill/>
          <a:ln/>
        </p:spPr>
        <p:txBody>
          <a:bodyPr wrap="square" lIns="0" tIns="0" rIns="0" bIns="0" rtlCol="0" anchor="t"/>
          <a:lstStyle/>
          <a:p>
            <a:pPr indent="0" marL="0">
              <a:buNone/>
            </a:pPr>
            <a:r>
              <a:rPr lang="en-US" sz="1400" b="1" dirty="0">
                <a:solidFill>
                  <a:schemeClr val="accent2"/>
                </a:solidFill>
              </a:rPr>
              <a:t>Databricks (Delta Lake) · Microsoft Fabric</a:t>
            </a:r>
            <a:endParaRPr lang="en-US" sz="1400" dirty="0"/>
          </a:p>
        </p:txBody>
      </p:sp>
      <p:sp>
        <p:nvSpPr>
          <p:cNvPr id="16" name="Text 14"/>
          <p:cNvSpPr txBox="1"/>
          <p:nvPr/>
        </p:nvSpPr>
        <p:spPr>
          <a:xfrm>
            <a:off x="777240" y="5074920"/>
            <a:ext cx="3200400" cy="548640"/>
          </a:xfrm>
          <a:prstGeom prst="rect">
            <a:avLst/>
          </a:prstGeom>
          <a:noFill/>
          <a:ln/>
        </p:spPr>
        <p:txBody>
          <a:bodyPr wrap="square" lIns="0" tIns="0" rIns="0" bIns="0" rtlCol="0" anchor="t"/>
          <a:lstStyle/>
          <a:p>
            <a:pPr indent="0" marL="0">
              <a:buNone/>
            </a:pPr>
            <a:r>
              <a:rPr lang="en-US" sz="1400" dirty="0">
                <a:solidFill>
                  <a:schemeClr val="tx2"/>
                </a:solidFill>
              </a:rPr>
              <a:t>Open formats, ACID, one copy for BI and ML</a:t>
            </a:r>
            <a:endParaRPr lang="en-US" sz="1400" dirty="0"/>
          </a:p>
        </p:txBody>
      </p:sp>
      <p:sp>
        <p:nvSpPr>
          <p:cNvPr id="17" name="Text 15"/>
          <p:cNvSpPr txBox="1"/>
          <p:nvPr/>
        </p:nvSpPr>
        <p:spPr>
          <a:xfrm>
            <a:off x="777240" y="5623560"/>
            <a:ext cx="320040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OUR RECOMMENDATION</a:t>
            </a:r>
            <a:endParaRPr lang="en-US" sz="1100" dirty="0"/>
          </a:p>
        </p:txBody>
      </p:sp>
      <p:sp>
        <p:nvSpPr>
          <p:cNvPr id="18" name="card"/>
          <p:cNvSpPr/>
          <p:nvPr/>
        </p:nvSpPr>
        <p:spPr>
          <a:xfrm>
            <a:off x="4343400" y="3931920"/>
            <a:ext cx="3611880" cy="2057400"/>
          </a:xfrm>
          <a:prstGeom prst="roundRect">
            <a:avLst>
              <a:gd name="adj" fmla="val 3556"/>
            </a:avLst>
          </a:prstGeom>
          <a:solidFill>
            <a:schemeClr val="bg2"/>
          </a:solidFill>
          <a:ln w="12700">
            <a:solidFill>
              <a:schemeClr val="bg2"/>
            </a:solidFill>
            <a:prstDash val="solid"/>
          </a:ln>
        </p:spPr>
      </p:sp>
      <p:sp>
        <p:nvSpPr>
          <p:cNvPr id="19" name="Text 17"/>
          <p:cNvSpPr txBox="1"/>
          <p:nvPr/>
        </p:nvSpPr>
        <p:spPr>
          <a:xfrm>
            <a:off x="4572000" y="4114800"/>
            <a:ext cx="3200400" cy="365760"/>
          </a:xfrm>
          <a:prstGeom prst="rect">
            <a:avLst/>
          </a:prstGeom>
          <a:noFill/>
          <a:ln/>
        </p:spPr>
        <p:txBody>
          <a:bodyPr wrap="square" lIns="0" tIns="0" rIns="0" bIns="0" rtlCol="0" anchor="t"/>
          <a:lstStyle/>
          <a:p>
            <a:pPr indent="0" marL="0">
              <a:buNone/>
            </a:pPr>
            <a:r>
              <a:rPr lang="en-US" sz="2000" b="1" dirty="0">
                <a:solidFill>
                  <a:schemeClr val="tx1"/>
                </a:solidFill>
              </a:rPr>
              <a:t>Operational DB</a:t>
            </a:r>
            <a:endParaRPr lang="en-US" sz="2000" dirty="0"/>
          </a:p>
        </p:txBody>
      </p:sp>
      <p:sp>
        <p:nvSpPr>
          <p:cNvPr id="20" name="Text 18"/>
          <p:cNvSpPr txBox="1"/>
          <p:nvPr/>
        </p:nvSpPr>
        <p:spPr>
          <a:xfrm>
            <a:off x="4572000" y="4526280"/>
            <a:ext cx="3200400" cy="548640"/>
          </a:xfrm>
          <a:prstGeom prst="rect">
            <a:avLst/>
          </a:prstGeom>
          <a:noFill/>
          <a:ln/>
        </p:spPr>
        <p:txBody>
          <a:bodyPr wrap="square" lIns="0" tIns="0" rIns="0" bIns="0" rtlCol="0" anchor="t"/>
          <a:lstStyle/>
          <a:p>
            <a:pPr indent="0" marL="0">
              <a:buNone/>
            </a:pPr>
            <a:r>
              <a:rPr lang="en-US" sz="1400" b="1" dirty="0">
                <a:solidFill>
                  <a:schemeClr val="accent2"/>
                </a:solidFill>
              </a:rPr>
              <a:t>PostgreSQL</a:t>
            </a:r>
            <a:endParaRPr lang="en-US" sz="1400" dirty="0"/>
          </a:p>
        </p:txBody>
      </p:sp>
      <p:sp>
        <p:nvSpPr>
          <p:cNvPr id="21" name="Text 19"/>
          <p:cNvSpPr txBox="1"/>
          <p:nvPr/>
        </p:nvSpPr>
        <p:spPr>
          <a:xfrm>
            <a:off x="4572000" y="5074920"/>
            <a:ext cx="3200400" cy="548640"/>
          </a:xfrm>
          <a:prstGeom prst="rect">
            <a:avLst/>
          </a:prstGeom>
          <a:noFill/>
          <a:ln/>
        </p:spPr>
        <p:txBody>
          <a:bodyPr wrap="square" lIns="0" tIns="0" rIns="0" bIns="0" rtlCol="0" anchor="t"/>
          <a:lstStyle/>
          <a:p>
            <a:pPr indent="0" marL="0">
              <a:buNone/>
            </a:pPr>
            <a:r>
              <a:rPr lang="en-US" sz="1400" dirty="0">
                <a:solidFill>
                  <a:schemeClr val="tx2"/>
                </a:solidFill>
              </a:rPr>
              <a:t>Strict rules, fast lookups for the app and KPIs</a:t>
            </a:r>
            <a:endParaRPr lang="en-US" sz="1400" dirty="0"/>
          </a:p>
        </p:txBody>
      </p:sp>
      <p:sp>
        <p:nvSpPr>
          <p:cNvPr id="22" name="Text 20"/>
          <p:cNvSpPr txBox="1"/>
          <p:nvPr/>
        </p:nvSpPr>
        <p:spPr>
          <a:xfrm>
            <a:off x="4572000" y="5623560"/>
            <a:ext cx="320040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WE USED: PostgreSQL 16</a:t>
            </a:r>
            <a:endParaRPr lang="en-US" sz="1100" dirty="0"/>
          </a:p>
        </p:txBody>
      </p:sp>
      <p:sp>
        <p:nvSpPr>
          <p:cNvPr id="23" name="card"/>
          <p:cNvSpPr/>
          <p:nvPr/>
        </p:nvSpPr>
        <p:spPr>
          <a:xfrm>
            <a:off x="8275320" y="1691640"/>
            <a:ext cx="3364992" cy="4297680"/>
          </a:xfrm>
          <a:prstGeom prst="roundRect">
            <a:avLst>
              <a:gd name="adj" fmla="val 2174"/>
            </a:avLst>
          </a:prstGeom>
          <a:solidFill>
            <a:schemeClr val="tx1"/>
          </a:solidFill>
          <a:ln w="12700">
            <a:solidFill>
              <a:schemeClr val="tx1"/>
            </a:solidFill>
            <a:prstDash val="solid"/>
          </a:ln>
        </p:spPr>
      </p:sp>
      <p:sp>
        <p:nvSpPr>
          <p:cNvPr id="24" name="Text 22"/>
          <p:cNvSpPr txBox="1"/>
          <p:nvPr/>
        </p:nvSpPr>
        <p:spPr>
          <a:xfrm>
            <a:off x="8503920" y="1920240"/>
            <a:ext cx="2926080" cy="914400"/>
          </a:xfrm>
          <a:prstGeom prst="rect">
            <a:avLst/>
          </a:prstGeom>
          <a:noFill/>
          <a:ln/>
        </p:spPr>
        <p:txBody>
          <a:bodyPr wrap="square" lIns="0" tIns="0" rIns="0" bIns="0" rtlCol="0" anchor="t"/>
          <a:lstStyle/>
          <a:p>
            <a:pPr indent="0" marL="0">
              <a:buNone/>
            </a:pPr>
            <a:r>
              <a:rPr lang="en-US" sz="5400" b="1" dirty="0">
                <a:solidFill>
                  <a:schemeClr val="accent1"/>
                </a:solidFill>
              </a:rPr>
              <a:t>65%</a:t>
            </a:r>
            <a:endParaRPr lang="en-US" sz="5400" dirty="0"/>
          </a:p>
        </p:txBody>
      </p:sp>
      <p:sp>
        <p:nvSpPr>
          <p:cNvPr id="25" name="Text 23"/>
          <p:cNvSpPr txBox="1"/>
          <p:nvPr/>
        </p:nvSpPr>
        <p:spPr>
          <a:xfrm>
            <a:off x="8503920" y="2926080"/>
            <a:ext cx="2926080" cy="1005840"/>
          </a:xfrm>
          <a:prstGeom prst="rect">
            <a:avLst/>
          </a:prstGeom>
          <a:noFill/>
          <a:ln/>
        </p:spPr>
        <p:txBody>
          <a:bodyPr wrap="square" lIns="0" tIns="0" rIns="0" bIns="0" rtlCol="0" anchor="t"/>
          <a:lstStyle/>
          <a:p>
            <a:pPr indent="0" marL="0">
              <a:buNone/>
            </a:pPr>
            <a:r>
              <a:rPr lang="en-US" sz="1600" dirty="0">
                <a:solidFill>
                  <a:schemeClr val="bg1"/>
                </a:solidFill>
              </a:rPr>
              <a:t>of enterprises already run most of their analytics on a lakehouse</a:t>
            </a:r>
            <a:endParaRPr lang="en-US" sz="1600" dirty="0"/>
          </a:p>
        </p:txBody>
      </p:sp>
      <p:sp>
        <p:nvSpPr>
          <p:cNvPr id="26" name="Text 24"/>
          <p:cNvSpPr txBox="1"/>
          <p:nvPr/>
        </p:nvSpPr>
        <p:spPr>
          <a:xfrm>
            <a:off x="8503920" y="4069080"/>
            <a:ext cx="2926080" cy="731520"/>
          </a:xfrm>
          <a:prstGeom prst="rect">
            <a:avLst/>
          </a:prstGeom>
          <a:noFill/>
          <a:ln/>
        </p:spPr>
        <p:txBody>
          <a:bodyPr wrap="square" lIns="0" tIns="0" rIns="0" bIns="0" rtlCol="0" anchor="t"/>
          <a:lstStyle/>
          <a:p>
            <a:pPr indent="0" marL="0">
              <a:buNone/>
            </a:pPr>
            <a:r>
              <a:rPr lang="en-US" sz="1500" b="1" dirty="0">
                <a:solidFill>
                  <a:schemeClr val="accent4"/>
                </a:solidFill>
              </a:rPr>
              <a:t>42% of them moved from a cloud warehouse</a:t>
            </a:r>
            <a:endParaRPr lang="en-US" sz="1500" dirty="0"/>
          </a:p>
        </p:txBody>
      </p:sp>
      <p:sp>
        <p:nvSpPr>
          <p:cNvPr id="27" name="Text 25"/>
          <p:cNvSpPr txBox="1"/>
          <p:nvPr/>
        </p:nvSpPr>
        <p:spPr>
          <a:xfrm>
            <a:off x="8503920" y="5074920"/>
            <a:ext cx="2926080" cy="731520"/>
          </a:xfrm>
          <a:prstGeom prst="rect">
            <a:avLst/>
          </a:prstGeom>
          <a:noFill/>
          <a:ln/>
        </p:spPr>
        <p:txBody>
          <a:bodyPr wrap="square" lIns="0" tIns="0" rIns="0" bIns="0" rtlCol="0" anchor="t"/>
          <a:lstStyle/>
          <a:p>
            <a:pPr indent="0" marL="0">
              <a:buNone/>
            </a:pPr>
            <a:r>
              <a:rPr lang="en-US" sz="1100" dirty="0">
                <a:solidFill>
                  <a:schemeClr val="accent6"/>
                </a:solidFill>
              </a:rPr>
              <a:t>Dremio, State of the Data Lakehouse 2024 (vendor-sponsored survey, n = 500)</a:t>
            </a:r>
            <a:endParaRPr lang="en-US" sz="11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OUR DATA</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Four public datasets, each with a job</a:t>
            </a:r>
            <a:endParaRPr lang="en-US" sz="3400" dirty="0"/>
          </a:p>
        </p:txBody>
      </p:sp>
      <p:sp>
        <p:nvSpPr>
          <p:cNvPr id="4" name="card"/>
          <p:cNvSpPr/>
          <p:nvPr/>
        </p:nvSpPr>
        <p:spPr>
          <a:xfrm>
            <a:off x="548640" y="1737360"/>
            <a:ext cx="2624328" cy="3566160"/>
          </a:xfrm>
          <a:prstGeom prst="roundRect">
            <a:avLst>
              <a:gd name="adj" fmla="val 2787"/>
            </a:avLst>
          </a:prstGeom>
          <a:solidFill>
            <a:schemeClr val="bg2"/>
          </a:solidFill>
          <a:ln w="12700">
            <a:solidFill>
              <a:schemeClr val="bg2"/>
            </a:solidFill>
            <a:prstDash val="solid"/>
          </a:ln>
        </p:spPr>
      </p:sp>
      <p:sp>
        <p:nvSpPr>
          <p:cNvPr id="5" name="Shape 3"/>
          <p:cNvSpPr/>
          <p:nvPr/>
        </p:nvSpPr>
        <p:spPr>
          <a:xfrm>
            <a:off x="777240" y="1965960"/>
            <a:ext cx="868680" cy="329184"/>
          </a:xfrm>
          <a:prstGeom prst="roundRect">
            <a:avLst>
              <a:gd name="adj" fmla="val 27778"/>
            </a:avLst>
          </a:prstGeom>
          <a:solidFill>
            <a:schemeClr val="accent1"/>
          </a:solidFill>
          <a:ln w="12700">
            <a:solidFill>
              <a:schemeClr val="accent1"/>
            </a:solidFill>
            <a:prstDash val="solid"/>
          </a:ln>
        </p:spPr>
      </p:sp>
      <p:sp>
        <p:nvSpPr>
          <p:cNvPr id="6" name="Text 4"/>
          <p:cNvSpPr txBox="1"/>
          <p:nvPr/>
        </p:nvSpPr>
        <p:spPr>
          <a:xfrm>
            <a:off x="777240" y="1965960"/>
            <a:ext cx="868680" cy="329184"/>
          </a:xfrm>
          <a:prstGeom prst="rect">
            <a:avLst/>
          </a:prstGeom>
          <a:noFill/>
          <a:ln/>
        </p:spPr>
        <p:txBody>
          <a:bodyPr wrap="square" lIns="0" tIns="0" rIns="0" bIns="0" rtlCol="0" anchor="ctr"/>
          <a:lstStyle/>
          <a:p>
            <a:pPr algn="ctr" indent="0" marL="0">
              <a:buNone/>
            </a:pPr>
            <a:r>
              <a:rPr lang="en-US" sz="1200" b="1" dirty="0">
                <a:solidFill>
                  <a:schemeClr val="bg1"/>
                </a:solidFill>
              </a:rPr>
              <a:t>REAL</a:t>
            </a:r>
            <a:endParaRPr lang="en-US" sz="1200" dirty="0"/>
          </a:p>
        </p:txBody>
      </p:sp>
      <p:sp>
        <p:nvSpPr>
          <p:cNvPr id="7" name="Text 5"/>
          <p:cNvSpPr txBox="1"/>
          <p:nvPr/>
        </p:nvSpPr>
        <p:spPr>
          <a:xfrm>
            <a:off x="777240" y="2514600"/>
            <a:ext cx="2167128" cy="685800"/>
          </a:xfrm>
          <a:prstGeom prst="rect">
            <a:avLst/>
          </a:prstGeom>
          <a:noFill/>
          <a:ln/>
        </p:spPr>
        <p:txBody>
          <a:bodyPr wrap="square" lIns="0" tIns="0" rIns="0" bIns="0" rtlCol="0" anchor="t"/>
          <a:lstStyle/>
          <a:p>
            <a:pPr indent="0" marL="0">
              <a:buNone/>
            </a:pPr>
            <a:r>
              <a:rPr lang="en-US" sz="2000" b="1" dirty="0">
                <a:solidFill>
                  <a:schemeClr val="tx1"/>
                </a:solidFill>
              </a:rPr>
              <a:t>Bosch CNC</a:t>
            </a:r>
            <a:endParaRPr lang="en-US" sz="2000" dirty="0"/>
          </a:p>
        </p:txBody>
      </p:sp>
      <p:sp>
        <p:nvSpPr>
          <p:cNvPr id="8" name="Text 6"/>
          <p:cNvSpPr txBox="1"/>
          <p:nvPr/>
        </p:nvSpPr>
        <p:spPr>
          <a:xfrm>
            <a:off x="777240" y="3246120"/>
            <a:ext cx="2167128" cy="868680"/>
          </a:xfrm>
          <a:prstGeom prst="rect">
            <a:avLst/>
          </a:prstGeom>
          <a:noFill/>
          <a:ln/>
        </p:spPr>
        <p:txBody>
          <a:bodyPr wrap="square" lIns="0" tIns="0" rIns="0" bIns="0" rtlCol="0" anchor="t"/>
          <a:lstStyle/>
          <a:p>
            <a:pPr indent="0" marL="0">
              <a:buNone/>
            </a:pPr>
            <a:r>
              <a:rPr lang="en-US" sz="1400" dirty="0">
                <a:solidFill>
                  <a:schemeClr val="tx2"/>
                </a:solidFill>
              </a:rPr>
              <a:t>1,702 operations · 2 kHz × 3 axes · 2019–2021</a:t>
            </a:r>
            <a:endParaRPr lang="en-US" sz="1400" dirty="0"/>
          </a:p>
        </p:txBody>
      </p:sp>
      <p:sp>
        <p:nvSpPr>
          <p:cNvPr id="9" name="Text 7"/>
          <p:cNvSpPr txBox="1"/>
          <p:nvPr/>
        </p:nvSpPr>
        <p:spPr>
          <a:xfrm>
            <a:off x="777240" y="4206240"/>
            <a:ext cx="914400"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JOB</a:t>
            </a:r>
            <a:endParaRPr lang="en-US" sz="1100" dirty="0"/>
          </a:p>
        </p:txBody>
      </p:sp>
      <p:sp>
        <p:nvSpPr>
          <p:cNvPr id="10" name="Text 8"/>
          <p:cNvSpPr txBox="1"/>
          <p:nvPr/>
        </p:nvSpPr>
        <p:spPr>
          <a:xfrm>
            <a:off x="777240" y="4480560"/>
            <a:ext cx="2167128" cy="640080"/>
          </a:xfrm>
          <a:prstGeom prst="rect">
            <a:avLst/>
          </a:prstGeom>
          <a:noFill/>
          <a:ln/>
        </p:spPr>
        <p:txBody>
          <a:bodyPr wrap="square" lIns="0" tIns="0" rIns="0" bIns="0" rtlCol="0" anchor="t"/>
          <a:lstStyle/>
          <a:p>
            <a:pPr indent="0" marL="0">
              <a:buNone/>
            </a:pPr>
            <a:r>
              <a:rPr lang="en-US" sz="1400" b="1" dirty="0">
                <a:solidFill>
                  <a:schemeClr val="tx1"/>
                </a:solidFill>
              </a:rPr>
              <a:t>Edge proof and anomaly detection</a:t>
            </a:r>
            <a:endParaRPr lang="en-US" sz="1400" dirty="0"/>
          </a:p>
        </p:txBody>
      </p:sp>
      <p:sp>
        <p:nvSpPr>
          <p:cNvPr id="11" name="card"/>
          <p:cNvSpPr/>
          <p:nvPr/>
        </p:nvSpPr>
        <p:spPr>
          <a:xfrm>
            <a:off x="3355848" y="1737360"/>
            <a:ext cx="2624328" cy="3566160"/>
          </a:xfrm>
          <a:prstGeom prst="roundRect">
            <a:avLst>
              <a:gd name="adj" fmla="val 2787"/>
            </a:avLst>
          </a:prstGeom>
          <a:solidFill>
            <a:schemeClr val="bg2"/>
          </a:solidFill>
          <a:ln w="12700">
            <a:solidFill>
              <a:schemeClr val="bg2"/>
            </a:solidFill>
            <a:prstDash val="solid"/>
          </a:ln>
        </p:spPr>
      </p:sp>
      <p:sp>
        <p:nvSpPr>
          <p:cNvPr id="12" name="Shape 10"/>
          <p:cNvSpPr/>
          <p:nvPr/>
        </p:nvSpPr>
        <p:spPr>
          <a:xfrm>
            <a:off x="3584448" y="1965960"/>
            <a:ext cx="868680" cy="329184"/>
          </a:xfrm>
          <a:prstGeom prst="roundRect">
            <a:avLst>
              <a:gd name="adj" fmla="val 27778"/>
            </a:avLst>
          </a:prstGeom>
          <a:solidFill>
            <a:schemeClr val="accent1"/>
          </a:solidFill>
          <a:ln w="12700">
            <a:solidFill>
              <a:schemeClr val="accent1"/>
            </a:solidFill>
            <a:prstDash val="solid"/>
          </a:ln>
        </p:spPr>
      </p:sp>
      <p:sp>
        <p:nvSpPr>
          <p:cNvPr id="13" name="Text 11"/>
          <p:cNvSpPr txBox="1"/>
          <p:nvPr/>
        </p:nvSpPr>
        <p:spPr>
          <a:xfrm>
            <a:off x="3584448" y="1965960"/>
            <a:ext cx="868680" cy="329184"/>
          </a:xfrm>
          <a:prstGeom prst="rect">
            <a:avLst/>
          </a:prstGeom>
          <a:noFill/>
          <a:ln/>
        </p:spPr>
        <p:txBody>
          <a:bodyPr wrap="square" lIns="0" tIns="0" rIns="0" bIns="0" rtlCol="0" anchor="ctr"/>
          <a:lstStyle/>
          <a:p>
            <a:pPr algn="ctr" indent="0" marL="0">
              <a:buNone/>
            </a:pPr>
            <a:r>
              <a:rPr lang="en-US" sz="1200" b="1" dirty="0">
                <a:solidFill>
                  <a:schemeClr val="bg1"/>
                </a:solidFill>
              </a:rPr>
              <a:t>REAL</a:t>
            </a:r>
            <a:endParaRPr lang="en-US" sz="1200" dirty="0"/>
          </a:p>
        </p:txBody>
      </p:sp>
      <p:sp>
        <p:nvSpPr>
          <p:cNvPr id="14" name="Text 12"/>
          <p:cNvSpPr txBox="1"/>
          <p:nvPr/>
        </p:nvSpPr>
        <p:spPr>
          <a:xfrm>
            <a:off x="3584448" y="2514600"/>
            <a:ext cx="2167128" cy="685800"/>
          </a:xfrm>
          <a:prstGeom prst="rect">
            <a:avLst/>
          </a:prstGeom>
          <a:noFill/>
          <a:ln/>
        </p:spPr>
        <p:txBody>
          <a:bodyPr wrap="square" lIns="0" tIns="0" rIns="0" bIns="0" rtlCol="0" anchor="t"/>
          <a:lstStyle/>
          <a:p>
            <a:pPr indent="0" marL="0">
              <a:buNone/>
            </a:pPr>
            <a:r>
              <a:rPr lang="en-US" sz="2000" b="1" dirty="0">
                <a:solidFill>
                  <a:schemeClr val="tx1"/>
                </a:solidFill>
              </a:rPr>
              <a:t>UMich CNC mill</a:t>
            </a:r>
            <a:endParaRPr lang="en-US" sz="2000" dirty="0"/>
          </a:p>
        </p:txBody>
      </p:sp>
      <p:sp>
        <p:nvSpPr>
          <p:cNvPr id="15" name="Text 13"/>
          <p:cNvSpPr txBox="1"/>
          <p:nvPr/>
        </p:nvSpPr>
        <p:spPr>
          <a:xfrm>
            <a:off x="3584448" y="3246120"/>
            <a:ext cx="2167128" cy="868680"/>
          </a:xfrm>
          <a:prstGeom prst="rect">
            <a:avLst/>
          </a:prstGeom>
          <a:noFill/>
          <a:ln/>
        </p:spPr>
        <p:txBody>
          <a:bodyPr wrap="square" lIns="0" tIns="0" rIns="0" bIns="0" rtlCol="0" anchor="t"/>
          <a:lstStyle/>
          <a:p>
            <a:pPr indent="0" marL="0">
              <a:buNone/>
            </a:pPr>
            <a:r>
              <a:rPr lang="en-US" sz="1400" dirty="0">
                <a:solidFill>
                  <a:schemeClr val="tx2"/>
                </a:solidFill>
              </a:rPr>
              <a:t>18 experiments · spindle current · inspection</a:t>
            </a:r>
            <a:endParaRPr lang="en-US" sz="1400" dirty="0"/>
          </a:p>
        </p:txBody>
      </p:sp>
      <p:sp>
        <p:nvSpPr>
          <p:cNvPr id="16" name="Text 14"/>
          <p:cNvSpPr txBox="1"/>
          <p:nvPr/>
        </p:nvSpPr>
        <p:spPr>
          <a:xfrm>
            <a:off x="3584448" y="4206240"/>
            <a:ext cx="914400"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JOB</a:t>
            </a:r>
            <a:endParaRPr lang="en-US" sz="1100" dirty="0"/>
          </a:p>
        </p:txBody>
      </p:sp>
      <p:sp>
        <p:nvSpPr>
          <p:cNvPr id="17" name="Text 15"/>
          <p:cNvSpPr txBox="1"/>
          <p:nvPr/>
        </p:nvSpPr>
        <p:spPr>
          <a:xfrm>
            <a:off x="3584448" y="4480560"/>
            <a:ext cx="2167128" cy="640080"/>
          </a:xfrm>
          <a:prstGeom prst="rect">
            <a:avLst/>
          </a:prstGeom>
          <a:noFill/>
          <a:ln/>
        </p:spPr>
        <p:txBody>
          <a:bodyPr wrap="square" lIns="0" tIns="0" rIns="0" bIns="0" rtlCol="0" anchor="t"/>
          <a:lstStyle/>
          <a:p>
            <a:pPr indent="0" marL="0">
              <a:buNone/>
            </a:pPr>
            <a:r>
              <a:rPr lang="en-US" sz="1400" b="1" dirty="0">
                <a:solidFill>
                  <a:schemeClr val="tx1"/>
                </a:solidFill>
              </a:rPr>
              <a:t>Spindle load, tool wear, quality</a:t>
            </a:r>
            <a:endParaRPr lang="en-US" sz="1400" dirty="0"/>
          </a:p>
        </p:txBody>
      </p:sp>
      <p:sp>
        <p:nvSpPr>
          <p:cNvPr id="18" name="card"/>
          <p:cNvSpPr/>
          <p:nvPr/>
        </p:nvSpPr>
        <p:spPr>
          <a:xfrm>
            <a:off x="6163056" y="1737360"/>
            <a:ext cx="2624328" cy="3566160"/>
          </a:xfrm>
          <a:prstGeom prst="roundRect">
            <a:avLst>
              <a:gd name="adj" fmla="val 2787"/>
            </a:avLst>
          </a:prstGeom>
          <a:solidFill>
            <a:schemeClr val="bg2"/>
          </a:solidFill>
          <a:ln w="12700">
            <a:solidFill>
              <a:schemeClr val="bg2"/>
            </a:solidFill>
            <a:prstDash val="solid"/>
          </a:ln>
        </p:spPr>
      </p:sp>
      <p:sp>
        <p:nvSpPr>
          <p:cNvPr id="19" name="Shape 17"/>
          <p:cNvSpPr/>
          <p:nvPr/>
        </p:nvSpPr>
        <p:spPr>
          <a:xfrm>
            <a:off x="6391656" y="1965960"/>
            <a:ext cx="1417320" cy="329184"/>
          </a:xfrm>
          <a:prstGeom prst="roundRect">
            <a:avLst>
              <a:gd name="adj" fmla="val 27778"/>
            </a:avLst>
          </a:prstGeom>
          <a:solidFill>
            <a:schemeClr val="accent2"/>
          </a:solidFill>
          <a:ln w="12700">
            <a:solidFill>
              <a:schemeClr val="accent2"/>
            </a:solidFill>
            <a:prstDash val="solid"/>
          </a:ln>
        </p:spPr>
      </p:sp>
      <p:sp>
        <p:nvSpPr>
          <p:cNvPr id="20" name="Text 18"/>
          <p:cNvSpPr txBox="1"/>
          <p:nvPr/>
        </p:nvSpPr>
        <p:spPr>
          <a:xfrm>
            <a:off x="6391656" y="1965960"/>
            <a:ext cx="1417320" cy="329184"/>
          </a:xfrm>
          <a:prstGeom prst="rect">
            <a:avLst/>
          </a:prstGeom>
          <a:noFill/>
          <a:ln/>
        </p:spPr>
        <p:txBody>
          <a:bodyPr wrap="square" lIns="0" tIns="0" rIns="0" bIns="0" rtlCol="0" anchor="ctr"/>
          <a:lstStyle/>
          <a:p>
            <a:pPr algn="ctr" indent="0" marL="0">
              <a:buNone/>
            </a:pPr>
            <a:r>
              <a:rPr lang="en-US" sz="1200" b="1" dirty="0">
                <a:solidFill>
                  <a:schemeClr val="bg1"/>
                </a:solidFill>
              </a:rPr>
              <a:t>BENCHMARK</a:t>
            </a:r>
            <a:endParaRPr lang="en-US" sz="1200" dirty="0"/>
          </a:p>
        </p:txBody>
      </p:sp>
      <p:sp>
        <p:nvSpPr>
          <p:cNvPr id="21" name="Text 19"/>
          <p:cNvSpPr txBox="1"/>
          <p:nvPr/>
        </p:nvSpPr>
        <p:spPr>
          <a:xfrm>
            <a:off x="6391656" y="2514600"/>
            <a:ext cx="2167128" cy="685800"/>
          </a:xfrm>
          <a:prstGeom prst="rect">
            <a:avLst/>
          </a:prstGeom>
          <a:noFill/>
          <a:ln/>
        </p:spPr>
        <p:txBody>
          <a:bodyPr wrap="square" lIns="0" tIns="0" rIns="0" bIns="0" rtlCol="0" anchor="t"/>
          <a:lstStyle/>
          <a:p>
            <a:pPr indent="0" marL="0">
              <a:buNone/>
            </a:pPr>
            <a:r>
              <a:rPr lang="en-US" sz="2000" b="1" dirty="0">
                <a:solidFill>
                  <a:schemeClr val="tx1"/>
                </a:solidFill>
              </a:rPr>
              <a:t>Microsoft Azure PdM</a:t>
            </a:r>
            <a:endParaRPr lang="en-US" sz="2000" dirty="0"/>
          </a:p>
        </p:txBody>
      </p:sp>
      <p:sp>
        <p:nvSpPr>
          <p:cNvPr id="22" name="Text 20"/>
          <p:cNvSpPr txBox="1"/>
          <p:nvPr/>
        </p:nvSpPr>
        <p:spPr>
          <a:xfrm>
            <a:off x="6391656" y="3246120"/>
            <a:ext cx="2167128" cy="868680"/>
          </a:xfrm>
          <a:prstGeom prst="rect">
            <a:avLst/>
          </a:prstGeom>
          <a:noFill/>
          <a:ln/>
        </p:spPr>
        <p:txBody>
          <a:bodyPr wrap="square" lIns="0" tIns="0" rIns="0" bIns="0" rtlCol="0" anchor="t"/>
          <a:lstStyle/>
          <a:p>
            <a:pPr indent="0" marL="0">
              <a:buNone/>
            </a:pPr>
            <a:r>
              <a:rPr lang="en-US" sz="1400" dirty="0">
                <a:solidFill>
                  <a:schemeClr val="tx2"/>
                </a:solidFill>
              </a:rPr>
              <a:t>100 machines × 1 year · 876,100 hours</a:t>
            </a:r>
            <a:endParaRPr lang="en-US" sz="1400" dirty="0"/>
          </a:p>
        </p:txBody>
      </p:sp>
      <p:sp>
        <p:nvSpPr>
          <p:cNvPr id="23" name="Text 21"/>
          <p:cNvSpPr txBox="1"/>
          <p:nvPr/>
        </p:nvSpPr>
        <p:spPr>
          <a:xfrm>
            <a:off x="6391656" y="4206240"/>
            <a:ext cx="914400"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JOB</a:t>
            </a:r>
            <a:endParaRPr lang="en-US" sz="1100" dirty="0"/>
          </a:p>
        </p:txBody>
      </p:sp>
      <p:sp>
        <p:nvSpPr>
          <p:cNvPr id="24" name="Text 22"/>
          <p:cNvSpPr txBox="1"/>
          <p:nvPr/>
        </p:nvSpPr>
        <p:spPr>
          <a:xfrm>
            <a:off x="6391656" y="4480560"/>
            <a:ext cx="2167128" cy="640080"/>
          </a:xfrm>
          <a:prstGeom prst="rect">
            <a:avLst/>
          </a:prstGeom>
          <a:noFill/>
          <a:ln/>
        </p:spPr>
        <p:txBody>
          <a:bodyPr wrap="square" lIns="0" tIns="0" rIns="0" bIns="0" rtlCol="0" anchor="t"/>
          <a:lstStyle/>
          <a:p>
            <a:pPr indent="0" marL="0">
              <a:buNone/>
            </a:pPr>
            <a:r>
              <a:rPr lang="en-US" sz="1400" b="1" dirty="0">
                <a:solidFill>
                  <a:schemeClr val="tx1"/>
                </a:solidFill>
              </a:rPr>
              <a:t>Fleet backbone, failure warning</a:t>
            </a:r>
            <a:endParaRPr lang="en-US" sz="1400" dirty="0"/>
          </a:p>
        </p:txBody>
      </p:sp>
      <p:sp>
        <p:nvSpPr>
          <p:cNvPr id="25" name="card"/>
          <p:cNvSpPr/>
          <p:nvPr/>
        </p:nvSpPr>
        <p:spPr>
          <a:xfrm>
            <a:off x="8970264" y="1737360"/>
            <a:ext cx="2624328" cy="3566160"/>
          </a:xfrm>
          <a:prstGeom prst="roundRect">
            <a:avLst>
              <a:gd name="adj" fmla="val 2787"/>
            </a:avLst>
          </a:prstGeom>
          <a:solidFill>
            <a:schemeClr val="bg2"/>
          </a:solidFill>
          <a:ln w="12700">
            <a:solidFill>
              <a:schemeClr val="bg2"/>
            </a:solidFill>
            <a:prstDash val="solid"/>
          </a:ln>
        </p:spPr>
      </p:sp>
      <p:sp>
        <p:nvSpPr>
          <p:cNvPr id="26" name="Shape 24"/>
          <p:cNvSpPr/>
          <p:nvPr/>
        </p:nvSpPr>
        <p:spPr>
          <a:xfrm>
            <a:off x="9198864" y="1965960"/>
            <a:ext cx="1417320" cy="329184"/>
          </a:xfrm>
          <a:prstGeom prst="roundRect">
            <a:avLst>
              <a:gd name="adj" fmla="val 27778"/>
            </a:avLst>
          </a:prstGeom>
          <a:solidFill>
            <a:schemeClr val="accent2"/>
          </a:solidFill>
          <a:ln w="12700">
            <a:solidFill>
              <a:schemeClr val="accent2"/>
            </a:solidFill>
            <a:prstDash val="solid"/>
          </a:ln>
        </p:spPr>
      </p:sp>
      <p:sp>
        <p:nvSpPr>
          <p:cNvPr id="27" name="Text 25"/>
          <p:cNvSpPr txBox="1"/>
          <p:nvPr/>
        </p:nvSpPr>
        <p:spPr>
          <a:xfrm>
            <a:off x="9198864" y="1965960"/>
            <a:ext cx="1417320" cy="329184"/>
          </a:xfrm>
          <a:prstGeom prst="rect">
            <a:avLst/>
          </a:prstGeom>
          <a:noFill/>
          <a:ln/>
        </p:spPr>
        <p:txBody>
          <a:bodyPr wrap="square" lIns="0" tIns="0" rIns="0" bIns="0" rtlCol="0" anchor="ctr"/>
          <a:lstStyle/>
          <a:p>
            <a:pPr algn="ctr" indent="0" marL="0">
              <a:buNone/>
            </a:pPr>
            <a:r>
              <a:rPr lang="en-US" sz="1200" b="1" dirty="0">
                <a:solidFill>
                  <a:schemeClr val="bg1"/>
                </a:solidFill>
              </a:rPr>
              <a:t>BENCHMARK</a:t>
            </a:r>
            <a:endParaRPr lang="en-US" sz="1200" dirty="0"/>
          </a:p>
        </p:txBody>
      </p:sp>
      <p:sp>
        <p:nvSpPr>
          <p:cNvPr id="28" name="Text 26"/>
          <p:cNvSpPr txBox="1"/>
          <p:nvPr/>
        </p:nvSpPr>
        <p:spPr>
          <a:xfrm>
            <a:off x="9198864" y="2514600"/>
            <a:ext cx="2167128" cy="685800"/>
          </a:xfrm>
          <a:prstGeom prst="rect">
            <a:avLst/>
          </a:prstGeom>
          <a:noFill/>
          <a:ln/>
        </p:spPr>
        <p:txBody>
          <a:bodyPr wrap="square" lIns="0" tIns="0" rIns="0" bIns="0" rtlCol="0" anchor="t"/>
          <a:lstStyle/>
          <a:p>
            <a:pPr indent="0" marL="0">
              <a:buNone/>
            </a:pPr>
            <a:r>
              <a:rPr lang="en-US" sz="2000" b="1" dirty="0">
                <a:solidFill>
                  <a:schemeClr val="tx1"/>
                </a:solidFill>
              </a:rPr>
              <a:t>AI4I 2020</a:t>
            </a:r>
            <a:endParaRPr lang="en-US" sz="2000" dirty="0"/>
          </a:p>
        </p:txBody>
      </p:sp>
      <p:sp>
        <p:nvSpPr>
          <p:cNvPr id="29" name="Text 27"/>
          <p:cNvSpPr txBox="1"/>
          <p:nvPr/>
        </p:nvSpPr>
        <p:spPr>
          <a:xfrm>
            <a:off x="9198864" y="3246120"/>
            <a:ext cx="2167128" cy="868680"/>
          </a:xfrm>
          <a:prstGeom prst="rect">
            <a:avLst/>
          </a:prstGeom>
          <a:noFill/>
          <a:ln/>
        </p:spPr>
        <p:txBody>
          <a:bodyPr wrap="square" lIns="0" tIns="0" rIns="0" bIns="0" rtlCol="0" anchor="t"/>
          <a:lstStyle/>
          <a:p>
            <a:pPr indent="0" marL="0">
              <a:buNone/>
            </a:pPr>
            <a:r>
              <a:rPr lang="en-US" sz="1400" dirty="0">
                <a:solidFill>
                  <a:schemeClr val="tx2"/>
                </a:solidFill>
              </a:rPr>
              <a:t>10,000 records · 5 failure types</a:t>
            </a:r>
            <a:endParaRPr lang="en-US" sz="1400" dirty="0"/>
          </a:p>
        </p:txBody>
      </p:sp>
      <p:sp>
        <p:nvSpPr>
          <p:cNvPr id="30" name="Text 28"/>
          <p:cNvSpPr txBox="1"/>
          <p:nvPr/>
        </p:nvSpPr>
        <p:spPr>
          <a:xfrm>
            <a:off x="9198864" y="4206240"/>
            <a:ext cx="914400"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JOB</a:t>
            </a:r>
            <a:endParaRPr lang="en-US" sz="1100" dirty="0"/>
          </a:p>
        </p:txBody>
      </p:sp>
      <p:sp>
        <p:nvSpPr>
          <p:cNvPr id="31" name="Text 29"/>
          <p:cNvSpPr txBox="1"/>
          <p:nvPr/>
        </p:nvSpPr>
        <p:spPr>
          <a:xfrm>
            <a:off x="9198864" y="4480560"/>
            <a:ext cx="2167128" cy="640080"/>
          </a:xfrm>
          <a:prstGeom prst="rect">
            <a:avLst/>
          </a:prstGeom>
          <a:noFill/>
          <a:ln/>
        </p:spPr>
        <p:txBody>
          <a:bodyPr wrap="square" lIns="0" tIns="0" rIns="0" bIns="0" rtlCol="0" anchor="t"/>
          <a:lstStyle/>
          <a:p>
            <a:pPr indent="0" marL="0">
              <a:buNone/>
            </a:pPr>
            <a:r>
              <a:rPr lang="en-US" sz="1400" b="1" dirty="0">
                <a:solidFill>
                  <a:schemeClr val="tx1"/>
                </a:solidFill>
              </a:rPr>
              <a:t>Machine physics, failure modes</a:t>
            </a:r>
            <a:endParaRPr lang="en-US" sz="1400" dirty="0"/>
          </a:p>
        </p:txBody>
      </p:sp>
      <p:sp>
        <p:nvSpPr>
          <p:cNvPr id="32" name="Text 30"/>
          <p:cNvSpPr txBox="1"/>
          <p:nvPr/>
        </p:nvSpPr>
        <p:spPr>
          <a:xfrm>
            <a:off x="548640" y="5577840"/>
            <a:ext cx="10972800" cy="457200"/>
          </a:xfrm>
          <a:prstGeom prst="rect">
            <a:avLst/>
          </a:prstGeom>
          <a:noFill/>
          <a:ln/>
        </p:spPr>
        <p:txBody>
          <a:bodyPr wrap="square" lIns="0" tIns="0" rIns="0" bIns="0" rtlCol="0" anchor="t"/>
          <a:lstStyle/>
          <a:p>
            <a:pPr indent="0" marL="0">
              <a:buNone/>
            </a:pPr>
            <a:r>
              <a:rPr lang="en-US" sz="1600" b="1" dirty="0">
                <a:solidFill>
                  <a:schemeClr val="accent1"/>
                </a:solidFill>
              </a:rPr>
              <a:t>Honesty rule: </a:t>
            </a:r>
            <a:pPr indent="0" marL="0">
              <a:buNone/>
            </a:pPr>
            <a:r>
              <a:rPr lang="en-US" sz="1600" dirty="0">
                <a:solidFill>
                  <a:schemeClr val="tx1"/>
                </a:solidFill>
              </a:rPr>
              <a:t>every calculated column is tagged DERIVED and traced back to its source in a provenance file.</a:t>
            </a:r>
            <a:endParaRPr lang="en-US" sz="16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PART A · DATA VOLUME</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31.5 billion readings a year, before vibration</a:t>
            </a:r>
            <a:endParaRPr lang="en-US" sz="3400" dirty="0"/>
          </a:p>
        </p:txBody>
      </p:sp>
      <p:sp>
        <p:nvSpPr>
          <p:cNvPr id="4" name="Shape 2"/>
          <p:cNvSpPr/>
          <p:nvPr/>
        </p:nvSpPr>
        <p:spPr>
          <a:xfrm>
            <a:off x="548640" y="3657600"/>
            <a:ext cx="2057400" cy="822960"/>
          </a:xfrm>
          <a:prstGeom prst="roundRect">
            <a:avLst>
              <a:gd name="adj" fmla="val 8889"/>
            </a:avLst>
          </a:prstGeom>
          <a:solidFill>
            <a:schemeClr val="bg2"/>
          </a:solidFill>
          <a:ln w="12700">
            <a:solidFill>
              <a:schemeClr val="bg2"/>
            </a:solidFill>
            <a:prstDash val="solid"/>
          </a:ln>
        </p:spPr>
      </p:sp>
      <p:sp>
        <p:nvSpPr>
          <p:cNvPr id="5" name="Text 3"/>
          <p:cNvSpPr txBox="1"/>
          <p:nvPr/>
        </p:nvSpPr>
        <p:spPr>
          <a:xfrm>
            <a:off x="731520" y="3767328"/>
            <a:ext cx="1737360" cy="502920"/>
          </a:xfrm>
          <a:prstGeom prst="rect">
            <a:avLst/>
          </a:prstGeom>
          <a:noFill/>
          <a:ln/>
        </p:spPr>
        <p:txBody>
          <a:bodyPr wrap="square" lIns="0" tIns="0" rIns="0" bIns="0" rtlCol="0" anchor="t"/>
          <a:lstStyle/>
          <a:p>
            <a:pPr indent="0" marL="0">
              <a:buNone/>
            </a:pPr>
            <a:r>
              <a:rPr lang="en-US" sz="2600" b="1" dirty="0">
                <a:solidFill>
                  <a:schemeClr val="tx1"/>
                </a:solidFill>
              </a:rPr>
              <a:t>1,000</a:t>
            </a:r>
            <a:endParaRPr lang="en-US" sz="2600" dirty="0"/>
          </a:p>
        </p:txBody>
      </p:sp>
      <p:sp>
        <p:nvSpPr>
          <p:cNvPr id="6" name="Text 4"/>
          <p:cNvSpPr txBox="1"/>
          <p:nvPr/>
        </p:nvSpPr>
        <p:spPr>
          <a:xfrm>
            <a:off x="731520" y="4251960"/>
            <a:ext cx="1737360" cy="274320"/>
          </a:xfrm>
          <a:prstGeom prst="rect">
            <a:avLst/>
          </a:prstGeom>
          <a:noFill/>
          <a:ln/>
        </p:spPr>
        <p:txBody>
          <a:bodyPr wrap="square" lIns="0" tIns="0" rIns="0" bIns="0" rtlCol="0" anchor="t"/>
          <a:lstStyle/>
          <a:p>
            <a:pPr indent="0" marL="0">
              <a:buNone/>
            </a:pPr>
            <a:r>
              <a:rPr lang="en-US" sz="1300" dirty="0">
                <a:solidFill>
                  <a:schemeClr val="tx2"/>
                </a:solidFill>
              </a:rPr>
              <a:t>per second</a:t>
            </a:r>
            <a:endParaRPr lang="en-US" sz="1300" dirty="0"/>
          </a:p>
        </p:txBody>
      </p:sp>
      <p:sp>
        <p:nvSpPr>
          <p:cNvPr id="7" name="Shape 5"/>
          <p:cNvSpPr/>
          <p:nvPr/>
        </p:nvSpPr>
        <p:spPr>
          <a:xfrm>
            <a:off x="2788920" y="3337560"/>
            <a:ext cx="2057400" cy="1143000"/>
          </a:xfrm>
          <a:prstGeom prst="roundRect">
            <a:avLst>
              <a:gd name="adj" fmla="val 6400"/>
            </a:avLst>
          </a:prstGeom>
          <a:solidFill>
            <a:schemeClr val="bg2"/>
          </a:solidFill>
          <a:ln w="12700">
            <a:solidFill>
              <a:schemeClr val="bg2"/>
            </a:solidFill>
            <a:prstDash val="solid"/>
          </a:ln>
        </p:spPr>
      </p:sp>
      <p:sp>
        <p:nvSpPr>
          <p:cNvPr id="8" name="Text 6"/>
          <p:cNvSpPr txBox="1"/>
          <p:nvPr/>
        </p:nvSpPr>
        <p:spPr>
          <a:xfrm>
            <a:off x="2971800" y="3447288"/>
            <a:ext cx="1737360" cy="502920"/>
          </a:xfrm>
          <a:prstGeom prst="rect">
            <a:avLst/>
          </a:prstGeom>
          <a:noFill/>
          <a:ln/>
        </p:spPr>
        <p:txBody>
          <a:bodyPr wrap="square" lIns="0" tIns="0" rIns="0" bIns="0" rtlCol="0" anchor="t"/>
          <a:lstStyle/>
          <a:p>
            <a:pPr indent="0" marL="0">
              <a:buNone/>
            </a:pPr>
            <a:r>
              <a:rPr lang="en-US" sz="2600" b="1" dirty="0">
                <a:solidFill>
                  <a:schemeClr val="tx1"/>
                </a:solidFill>
              </a:rPr>
              <a:t>3.6 M</a:t>
            </a:r>
            <a:endParaRPr lang="en-US" sz="2600" dirty="0"/>
          </a:p>
        </p:txBody>
      </p:sp>
      <p:sp>
        <p:nvSpPr>
          <p:cNvPr id="9" name="Text 7"/>
          <p:cNvSpPr txBox="1"/>
          <p:nvPr/>
        </p:nvSpPr>
        <p:spPr>
          <a:xfrm>
            <a:off x="2971800" y="3931920"/>
            <a:ext cx="1737360" cy="274320"/>
          </a:xfrm>
          <a:prstGeom prst="rect">
            <a:avLst/>
          </a:prstGeom>
          <a:noFill/>
          <a:ln/>
        </p:spPr>
        <p:txBody>
          <a:bodyPr wrap="square" lIns="0" tIns="0" rIns="0" bIns="0" rtlCol="0" anchor="t"/>
          <a:lstStyle/>
          <a:p>
            <a:pPr indent="0" marL="0">
              <a:buNone/>
            </a:pPr>
            <a:r>
              <a:rPr lang="en-US" sz="1300" dirty="0">
                <a:solidFill>
                  <a:schemeClr val="tx2"/>
                </a:solidFill>
              </a:rPr>
              <a:t>per hour</a:t>
            </a:r>
            <a:endParaRPr lang="en-US" sz="1300" dirty="0"/>
          </a:p>
        </p:txBody>
      </p:sp>
      <p:sp>
        <p:nvSpPr>
          <p:cNvPr id="10" name="Shape 8"/>
          <p:cNvSpPr/>
          <p:nvPr/>
        </p:nvSpPr>
        <p:spPr>
          <a:xfrm>
            <a:off x="5029200" y="3017520"/>
            <a:ext cx="2057400" cy="1463040"/>
          </a:xfrm>
          <a:prstGeom prst="roundRect">
            <a:avLst>
              <a:gd name="adj" fmla="val 5000"/>
            </a:avLst>
          </a:prstGeom>
          <a:solidFill>
            <a:schemeClr val="bg2"/>
          </a:solidFill>
          <a:ln w="12700">
            <a:solidFill>
              <a:schemeClr val="bg2"/>
            </a:solidFill>
            <a:prstDash val="solid"/>
          </a:ln>
        </p:spPr>
      </p:sp>
      <p:sp>
        <p:nvSpPr>
          <p:cNvPr id="11" name="Text 9"/>
          <p:cNvSpPr txBox="1"/>
          <p:nvPr/>
        </p:nvSpPr>
        <p:spPr>
          <a:xfrm>
            <a:off x="5212080" y="3127248"/>
            <a:ext cx="1737360" cy="502920"/>
          </a:xfrm>
          <a:prstGeom prst="rect">
            <a:avLst/>
          </a:prstGeom>
          <a:noFill/>
          <a:ln/>
        </p:spPr>
        <p:txBody>
          <a:bodyPr wrap="square" lIns="0" tIns="0" rIns="0" bIns="0" rtlCol="0" anchor="t"/>
          <a:lstStyle/>
          <a:p>
            <a:pPr indent="0" marL="0">
              <a:buNone/>
            </a:pPr>
            <a:r>
              <a:rPr lang="en-US" sz="2600" b="1" dirty="0">
                <a:solidFill>
                  <a:schemeClr val="tx1"/>
                </a:solidFill>
              </a:rPr>
              <a:t>86.4 M</a:t>
            </a:r>
            <a:endParaRPr lang="en-US" sz="2600" dirty="0"/>
          </a:p>
        </p:txBody>
      </p:sp>
      <p:sp>
        <p:nvSpPr>
          <p:cNvPr id="12" name="Text 10"/>
          <p:cNvSpPr txBox="1"/>
          <p:nvPr/>
        </p:nvSpPr>
        <p:spPr>
          <a:xfrm>
            <a:off x="5212080" y="3611880"/>
            <a:ext cx="1737360" cy="274320"/>
          </a:xfrm>
          <a:prstGeom prst="rect">
            <a:avLst/>
          </a:prstGeom>
          <a:noFill/>
          <a:ln/>
        </p:spPr>
        <p:txBody>
          <a:bodyPr wrap="square" lIns="0" tIns="0" rIns="0" bIns="0" rtlCol="0" anchor="t"/>
          <a:lstStyle/>
          <a:p>
            <a:pPr indent="0" marL="0">
              <a:buNone/>
            </a:pPr>
            <a:r>
              <a:rPr lang="en-US" sz="1300" dirty="0">
                <a:solidFill>
                  <a:schemeClr val="tx2"/>
                </a:solidFill>
              </a:rPr>
              <a:t>per day</a:t>
            </a:r>
            <a:endParaRPr lang="en-US" sz="1300" dirty="0"/>
          </a:p>
        </p:txBody>
      </p:sp>
      <p:sp>
        <p:nvSpPr>
          <p:cNvPr id="13" name="Shape 11"/>
          <p:cNvSpPr/>
          <p:nvPr/>
        </p:nvSpPr>
        <p:spPr>
          <a:xfrm>
            <a:off x="7269480" y="2697480"/>
            <a:ext cx="2057400" cy="1783080"/>
          </a:xfrm>
          <a:prstGeom prst="roundRect">
            <a:avLst>
              <a:gd name="adj" fmla="val 4103"/>
            </a:avLst>
          </a:prstGeom>
          <a:solidFill>
            <a:schemeClr val="bg2"/>
          </a:solidFill>
          <a:ln w="12700">
            <a:solidFill>
              <a:schemeClr val="bg2"/>
            </a:solidFill>
            <a:prstDash val="solid"/>
          </a:ln>
        </p:spPr>
      </p:sp>
      <p:sp>
        <p:nvSpPr>
          <p:cNvPr id="14" name="Text 12"/>
          <p:cNvSpPr txBox="1"/>
          <p:nvPr/>
        </p:nvSpPr>
        <p:spPr>
          <a:xfrm>
            <a:off x="7452360" y="2807208"/>
            <a:ext cx="1737360" cy="502920"/>
          </a:xfrm>
          <a:prstGeom prst="rect">
            <a:avLst/>
          </a:prstGeom>
          <a:noFill/>
          <a:ln/>
        </p:spPr>
        <p:txBody>
          <a:bodyPr wrap="square" lIns="0" tIns="0" rIns="0" bIns="0" rtlCol="0" anchor="t"/>
          <a:lstStyle/>
          <a:p>
            <a:pPr indent="0" marL="0">
              <a:buNone/>
            </a:pPr>
            <a:r>
              <a:rPr lang="en-US" sz="2600" b="1" dirty="0">
                <a:solidFill>
                  <a:schemeClr val="tx1"/>
                </a:solidFill>
              </a:rPr>
              <a:t>2.59 B</a:t>
            </a:r>
            <a:endParaRPr lang="en-US" sz="2600" dirty="0"/>
          </a:p>
        </p:txBody>
      </p:sp>
      <p:sp>
        <p:nvSpPr>
          <p:cNvPr id="15" name="Text 13"/>
          <p:cNvSpPr txBox="1"/>
          <p:nvPr/>
        </p:nvSpPr>
        <p:spPr>
          <a:xfrm>
            <a:off x="7452360" y="3291840"/>
            <a:ext cx="1737360" cy="274320"/>
          </a:xfrm>
          <a:prstGeom prst="rect">
            <a:avLst/>
          </a:prstGeom>
          <a:noFill/>
          <a:ln/>
        </p:spPr>
        <p:txBody>
          <a:bodyPr wrap="square" lIns="0" tIns="0" rIns="0" bIns="0" rtlCol="0" anchor="t"/>
          <a:lstStyle/>
          <a:p>
            <a:pPr indent="0" marL="0">
              <a:buNone/>
            </a:pPr>
            <a:r>
              <a:rPr lang="en-US" sz="1300" dirty="0">
                <a:solidFill>
                  <a:schemeClr val="tx2"/>
                </a:solidFill>
              </a:rPr>
              <a:t>per month</a:t>
            </a:r>
            <a:endParaRPr lang="en-US" sz="1300" dirty="0"/>
          </a:p>
        </p:txBody>
      </p:sp>
      <p:sp>
        <p:nvSpPr>
          <p:cNvPr id="16" name="Shape 14"/>
          <p:cNvSpPr/>
          <p:nvPr/>
        </p:nvSpPr>
        <p:spPr>
          <a:xfrm>
            <a:off x="9509760" y="2377440"/>
            <a:ext cx="2057400" cy="2103120"/>
          </a:xfrm>
          <a:prstGeom prst="roundRect">
            <a:avLst>
              <a:gd name="adj" fmla="val 3556"/>
            </a:avLst>
          </a:prstGeom>
          <a:solidFill>
            <a:schemeClr val="accent1"/>
          </a:solidFill>
          <a:ln w="12700">
            <a:solidFill>
              <a:schemeClr val="accent1"/>
            </a:solidFill>
            <a:prstDash val="solid"/>
          </a:ln>
        </p:spPr>
      </p:sp>
      <p:sp>
        <p:nvSpPr>
          <p:cNvPr id="17" name="Text 15"/>
          <p:cNvSpPr txBox="1"/>
          <p:nvPr/>
        </p:nvSpPr>
        <p:spPr>
          <a:xfrm>
            <a:off x="9692640" y="2487168"/>
            <a:ext cx="1737360" cy="502920"/>
          </a:xfrm>
          <a:prstGeom prst="rect">
            <a:avLst/>
          </a:prstGeom>
          <a:noFill/>
          <a:ln/>
        </p:spPr>
        <p:txBody>
          <a:bodyPr wrap="square" lIns="0" tIns="0" rIns="0" bIns="0" rtlCol="0" anchor="t"/>
          <a:lstStyle/>
          <a:p>
            <a:pPr indent="0" marL="0">
              <a:buNone/>
            </a:pPr>
            <a:r>
              <a:rPr lang="en-US" sz="2600" b="1" dirty="0">
                <a:solidFill>
                  <a:schemeClr val="bg1"/>
                </a:solidFill>
              </a:rPr>
              <a:t>31.5 B</a:t>
            </a:r>
            <a:endParaRPr lang="en-US" sz="2600" dirty="0"/>
          </a:p>
        </p:txBody>
      </p:sp>
      <p:sp>
        <p:nvSpPr>
          <p:cNvPr id="18" name="Text 16"/>
          <p:cNvSpPr txBox="1"/>
          <p:nvPr/>
        </p:nvSpPr>
        <p:spPr>
          <a:xfrm>
            <a:off x="9692640" y="2971800"/>
            <a:ext cx="1737360" cy="274320"/>
          </a:xfrm>
          <a:prstGeom prst="rect">
            <a:avLst/>
          </a:prstGeom>
          <a:noFill/>
          <a:ln/>
        </p:spPr>
        <p:txBody>
          <a:bodyPr wrap="square" lIns="0" tIns="0" rIns="0" bIns="0" rtlCol="0" anchor="t"/>
          <a:lstStyle/>
          <a:p>
            <a:pPr indent="0" marL="0">
              <a:buNone/>
            </a:pPr>
            <a:r>
              <a:rPr lang="en-US" sz="1300" dirty="0">
                <a:solidFill>
                  <a:schemeClr val="bg1"/>
                </a:solidFill>
              </a:rPr>
              <a:t>per year</a:t>
            </a:r>
            <a:endParaRPr lang="en-US" sz="1300" dirty="0"/>
          </a:p>
        </p:txBody>
      </p:sp>
      <p:sp>
        <p:nvSpPr>
          <p:cNvPr id="19" name="Text 17"/>
          <p:cNvSpPr txBox="1"/>
          <p:nvPr/>
        </p:nvSpPr>
        <p:spPr>
          <a:xfrm>
            <a:off x="548640" y="1600200"/>
            <a:ext cx="5486400" cy="320040"/>
          </a:xfrm>
          <a:prstGeom prst="rect">
            <a:avLst/>
          </a:prstGeom>
          <a:noFill/>
          <a:ln/>
        </p:spPr>
        <p:txBody>
          <a:bodyPr wrap="square" lIns="0" tIns="0" rIns="0" bIns="0" rtlCol="0" anchor="t"/>
          <a:lstStyle/>
          <a:p>
            <a:pPr indent="0" marL="0">
              <a:buNone/>
            </a:pPr>
            <a:r>
              <a:rPr lang="en-US" sz="1400" b="1" dirty="0">
                <a:solidFill>
                  <a:schemeClr val="accent3"/>
                </a:solidFill>
              </a:rPr>
              <a:t>100 machines × 10 sensors × 1 Hz</a:t>
            </a:r>
            <a:endParaRPr lang="en-US" sz="1400" dirty="0"/>
          </a:p>
        </p:txBody>
      </p:sp>
      <p:sp>
        <p:nvSpPr>
          <p:cNvPr id="20" name="Text 18"/>
          <p:cNvSpPr txBox="1"/>
          <p:nvPr/>
        </p:nvSpPr>
        <p:spPr>
          <a:xfrm>
            <a:off x="548640" y="4617720"/>
            <a:ext cx="3429000" cy="868680"/>
          </a:xfrm>
          <a:prstGeom prst="rect">
            <a:avLst/>
          </a:prstGeom>
          <a:noFill/>
          <a:ln/>
        </p:spPr>
        <p:txBody>
          <a:bodyPr wrap="square" lIns="0" tIns="0" rIns="0" bIns="0" rtlCol="0" anchor="b"/>
          <a:lstStyle/>
          <a:p>
            <a:pPr indent="0" marL="0">
              <a:buNone/>
            </a:pPr>
            <a:r>
              <a:rPr lang="en-US" sz="3800" b="1" dirty="0">
                <a:solidFill>
                  <a:schemeClr val="accent2"/>
                </a:solidFill>
              </a:rPr>
              <a:t>3.15 B</a:t>
            </a:r>
            <a:endParaRPr lang="en-US" sz="3800" dirty="0"/>
          </a:p>
        </p:txBody>
      </p:sp>
      <p:sp>
        <p:nvSpPr>
          <p:cNvPr id="21" name="Text 19"/>
          <p:cNvSpPr txBox="1"/>
          <p:nvPr/>
        </p:nvSpPr>
        <p:spPr>
          <a:xfrm>
            <a:off x="548640" y="5532120"/>
            <a:ext cx="3429000" cy="640080"/>
          </a:xfrm>
          <a:prstGeom prst="rect">
            <a:avLst/>
          </a:prstGeom>
          <a:noFill/>
          <a:ln/>
        </p:spPr>
        <p:txBody>
          <a:bodyPr wrap="square" lIns="0" tIns="0" rIns="0" bIns="0" rtlCol="0" anchor="t"/>
          <a:lstStyle/>
          <a:p>
            <a:pPr indent="0" marL="0">
              <a:buNone/>
            </a:pPr>
            <a:r>
              <a:rPr lang="en-US" sz="1400" dirty="0">
                <a:solidFill>
                  <a:schemeClr val="tx2"/>
                </a:solidFill>
              </a:rPr>
              <a:t>a year from ONE 100 Hz vibration sensor on one machine</a:t>
            </a:r>
            <a:endParaRPr lang="en-US" sz="1400" dirty="0"/>
          </a:p>
        </p:txBody>
      </p:sp>
      <p:sp>
        <p:nvSpPr>
          <p:cNvPr id="22" name="Text 20"/>
          <p:cNvSpPr txBox="1"/>
          <p:nvPr/>
        </p:nvSpPr>
        <p:spPr>
          <a:xfrm>
            <a:off x="4297680" y="4617720"/>
            <a:ext cx="3429000" cy="868680"/>
          </a:xfrm>
          <a:prstGeom prst="rect">
            <a:avLst/>
          </a:prstGeom>
          <a:noFill/>
          <a:ln/>
        </p:spPr>
        <p:txBody>
          <a:bodyPr wrap="square" lIns="0" tIns="0" rIns="0" bIns="0" rtlCol="0" anchor="b"/>
          <a:lstStyle/>
          <a:p>
            <a:pPr indent="0" marL="0">
              <a:buNone/>
            </a:pPr>
            <a:r>
              <a:rPr lang="en-US" sz="3800" b="1" dirty="0">
                <a:solidFill>
                  <a:schemeClr val="accent1"/>
                </a:solidFill>
              </a:rPr>
              <a:t>10×</a:t>
            </a:r>
            <a:endParaRPr lang="en-US" sz="3800" dirty="0"/>
          </a:p>
        </p:txBody>
      </p:sp>
      <p:sp>
        <p:nvSpPr>
          <p:cNvPr id="23" name="Text 21"/>
          <p:cNvSpPr txBox="1"/>
          <p:nvPr/>
        </p:nvSpPr>
        <p:spPr>
          <a:xfrm>
            <a:off x="4297680" y="5532120"/>
            <a:ext cx="3429000" cy="640080"/>
          </a:xfrm>
          <a:prstGeom prst="rect">
            <a:avLst/>
          </a:prstGeom>
          <a:noFill/>
          <a:ln/>
        </p:spPr>
        <p:txBody>
          <a:bodyPr wrap="square" lIns="0" tIns="0" rIns="0" bIns="0" rtlCol="0" anchor="t"/>
          <a:lstStyle/>
          <a:p>
            <a:pPr indent="0" marL="0">
              <a:buNone/>
            </a:pPr>
            <a:r>
              <a:rPr lang="en-US" sz="1400" dirty="0">
                <a:solidFill>
                  <a:schemeClr val="tx2"/>
                </a:solidFill>
              </a:rPr>
              <a:t>the whole 1 Hz fleet, if every machine gets one (315 B a year)</a:t>
            </a:r>
            <a:endParaRPr lang="en-US" sz="1400" dirty="0"/>
          </a:p>
        </p:txBody>
      </p:sp>
      <p:sp>
        <p:nvSpPr>
          <p:cNvPr id="24" name="Text 22"/>
          <p:cNvSpPr txBox="1"/>
          <p:nvPr/>
        </p:nvSpPr>
        <p:spPr>
          <a:xfrm>
            <a:off x="8046720" y="4617720"/>
            <a:ext cx="3429000" cy="868680"/>
          </a:xfrm>
          <a:prstGeom prst="rect">
            <a:avLst/>
          </a:prstGeom>
          <a:noFill/>
          <a:ln/>
        </p:spPr>
        <p:txBody>
          <a:bodyPr wrap="square" lIns="0" tIns="0" rIns="0" bIns="0" rtlCol="0" anchor="b"/>
          <a:lstStyle/>
          <a:p>
            <a:pPr indent="0" marL="0">
              <a:buNone/>
            </a:pPr>
            <a:r>
              <a:rPr lang="en-US" sz="3800" b="1" dirty="0">
                <a:solidFill>
                  <a:schemeClr val="accent1"/>
                </a:solidFill>
              </a:rPr>
              <a:t>378 TB</a:t>
            </a:r>
            <a:endParaRPr lang="en-US" sz="3800" dirty="0"/>
          </a:p>
        </p:txBody>
      </p:sp>
      <p:sp>
        <p:nvSpPr>
          <p:cNvPr id="25" name="Text 23"/>
          <p:cNvSpPr txBox="1"/>
          <p:nvPr/>
        </p:nvSpPr>
        <p:spPr>
          <a:xfrm>
            <a:off x="8046720" y="5532120"/>
            <a:ext cx="3429000" cy="640080"/>
          </a:xfrm>
          <a:prstGeom prst="rect">
            <a:avLst/>
          </a:prstGeom>
          <a:noFill/>
          <a:ln/>
        </p:spPr>
        <p:txBody>
          <a:bodyPr wrap="square" lIns="0" tIns="0" rIns="0" bIns="0" rtlCol="0" anchor="t"/>
          <a:lstStyle/>
          <a:p>
            <a:pPr indent="0" marL="0">
              <a:buNone/>
            </a:pPr>
            <a:r>
              <a:rPr lang="en-US" sz="1400" dirty="0">
                <a:solidFill>
                  <a:schemeClr val="tx2"/>
                </a:solidFill>
              </a:rPr>
              <a:t>a year of raw vibration at the real Bosch rate (96 Mbps)</a:t>
            </a:r>
            <a:endParaRPr lang="en-US" sz="14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PART B · CLOUD COMPARISON</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Many IIoT services in older comparisons are now retired</a:t>
            </a:r>
            <a:endParaRPr lang="en-US" sz="3400" dirty="0"/>
          </a:p>
        </p:txBody>
      </p:sp>
      <p:sp>
        <p:nvSpPr>
          <p:cNvPr id="4" name="card"/>
          <p:cNvSpPr/>
          <p:nvPr/>
        </p:nvSpPr>
        <p:spPr>
          <a:xfrm>
            <a:off x="548640" y="1645920"/>
            <a:ext cx="2624328" cy="868680"/>
          </a:xfrm>
          <a:prstGeom prst="roundRect">
            <a:avLst>
              <a:gd name="adj" fmla="val 8421"/>
            </a:avLst>
          </a:prstGeom>
          <a:solidFill>
            <a:srgbClr val="FBE3E1"/>
          </a:solidFill>
          <a:ln w="12700">
            <a:solidFill>
              <a:srgbClr val="FBE3E1"/>
            </a:solidFill>
            <a:prstDash val="solid"/>
          </a:ln>
        </p:spPr>
      </p:sp>
      <p:sp>
        <p:nvSpPr>
          <p:cNvPr id="5" name="Text 3"/>
          <p:cNvSpPr txBox="1"/>
          <p:nvPr/>
        </p:nvSpPr>
        <p:spPr>
          <a:xfrm>
            <a:off x="731520" y="1719072"/>
            <a:ext cx="2286000" cy="365760"/>
          </a:xfrm>
          <a:prstGeom prst="rect">
            <a:avLst/>
          </a:prstGeom>
          <a:noFill/>
          <a:ln/>
        </p:spPr>
        <p:txBody>
          <a:bodyPr wrap="square" lIns="0" tIns="0" rIns="0" bIns="0" rtlCol="0" anchor="t"/>
          <a:lstStyle/>
          <a:p>
            <a:pPr indent="0" marL="0">
              <a:buNone/>
            </a:pPr>
            <a:r>
              <a:rPr lang="en-US" sz="1400" b="1" dirty="0">
                <a:solidFill>
                  <a:srgbClr val="9E2A22"/>
                </a:solidFill>
              </a:rPr>
              <a:t>GCP IoT Core</a:t>
            </a:r>
            <a:endParaRPr lang="en-US" sz="1400" dirty="0"/>
          </a:p>
        </p:txBody>
      </p:sp>
      <p:sp>
        <p:nvSpPr>
          <p:cNvPr id="6" name="Text 4"/>
          <p:cNvSpPr txBox="1"/>
          <p:nvPr/>
        </p:nvSpPr>
        <p:spPr>
          <a:xfrm>
            <a:off x="731520" y="2084832"/>
            <a:ext cx="2286000" cy="320040"/>
          </a:xfrm>
          <a:prstGeom prst="rect">
            <a:avLst/>
          </a:prstGeom>
          <a:noFill/>
          <a:ln/>
        </p:spPr>
        <p:txBody>
          <a:bodyPr wrap="square" lIns="0" tIns="0" rIns="0" bIns="0" rtlCol="0" anchor="t"/>
          <a:lstStyle/>
          <a:p>
            <a:pPr indent="0" marL="0">
              <a:buNone/>
            </a:pPr>
            <a:r>
              <a:rPr lang="en-US" sz="1300" dirty="0">
                <a:solidFill>
                  <a:schemeClr val="tx2"/>
                </a:solidFill>
              </a:rPr>
              <a:t>retired 2023</a:t>
            </a:r>
            <a:endParaRPr lang="en-US" sz="1300" dirty="0"/>
          </a:p>
        </p:txBody>
      </p:sp>
      <p:sp>
        <p:nvSpPr>
          <p:cNvPr id="7" name="card"/>
          <p:cNvSpPr/>
          <p:nvPr/>
        </p:nvSpPr>
        <p:spPr>
          <a:xfrm>
            <a:off x="3355848" y="1645920"/>
            <a:ext cx="2624328" cy="868680"/>
          </a:xfrm>
          <a:prstGeom prst="roundRect">
            <a:avLst>
              <a:gd name="adj" fmla="val 8421"/>
            </a:avLst>
          </a:prstGeom>
          <a:solidFill>
            <a:srgbClr val="FBE3E1"/>
          </a:solidFill>
          <a:ln w="12700">
            <a:solidFill>
              <a:srgbClr val="FBE3E1"/>
            </a:solidFill>
            <a:prstDash val="solid"/>
          </a:ln>
        </p:spPr>
      </p:sp>
      <p:sp>
        <p:nvSpPr>
          <p:cNvPr id="8" name="Text 6"/>
          <p:cNvSpPr txBox="1"/>
          <p:nvPr/>
        </p:nvSpPr>
        <p:spPr>
          <a:xfrm>
            <a:off x="3538728" y="1719072"/>
            <a:ext cx="2286000" cy="365760"/>
          </a:xfrm>
          <a:prstGeom prst="rect">
            <a:avLst/>
          </a:prstGeom>
          <a:noFill/>
          <a:ln/>
        </p:spPr>
        <p:txBody>
          <a:bodyPr wrap="square" lIns="0" tIns="0" rIns="0" bIns="0" rtlCol="0" anchor="t"/>
          <a:lstStyle/>
          <a:p>
            <a:pPr indent="0" marL="0">
              <a:buNone/>
            </a:pPr>
            <a:r>
              <a:rPr lang="en-US" sz="1400" b="1" dirty="0">
                <a:solidFill>
                  <a:srgbClr val="9E2A22"/>
                </a:solidFill>
              </a:rPr>
              <a:t>Azure Time Series Insights</a:t>
            </a:r>
            <a:endParaRPr lang="en-US" sz="1400" dirty="0"/>
          </a:p>
        </p:txBody>
      </p:sp>
      <p:sp>
        <p:nvSpPr>
          <p:cNvPr id="9" name="Text 7"/>
          <p:cNvSpPr txBox="1"/>
          <p:nvPr/>
        </p:nvSpPr>
        <p:spPr>
          <a:xfrm>
            <a:off x="3538728" y="2084832"/>
            <a:ext cx="2286000" cy="320040"/>
          </a:xfrm>
          <a:prstGeom prst="rect">
            <a:avLst/>
          </a:prstGeom>
          <a:noFill/>
          <a:ln/>
        </p:spPr>
        <p:txBody>
          <a:bodyPr wrap="square" lIns="0" tIns="0" rIns="0" bIns="0" rtlCol="0" anchor="t"/>
          <a:lstStyle/>
          <a:p>
            <a:pPr indent="0" marL="0">
              <a:buNone/>
            </a:pPr>
            <a:r>
              <a:rPr lang="en-US" sz="1300" dirty="0">
                <a:solidFill>
                  <a:schemeClr val="tx2"/>
                </a:solidFill>
              </a:rPr>
              <a:t>retired 2024</a:t>
            </a:r>
            <a:endParaRPr lang="en-US" sz="1300" dirty="0"/>
          </a:p>
        </p:txBody>
      </p:sp>
      <p:sp>
        <p:nvSpPr>
          <p:cNvPr id="10" name="card"/>
          <p:cNvSpPr/>
          <p:nvPr/>
        </p:nvSpPr>
        <p:spPr>
          <a:xfrm>
            <a:off x="6163056" y="1645920"/>
            <a:ext cx="2624328" cy="868680"/>
          </a:xfrm>
          <a:prstGeom prst="roundRect">
            <a:avLst>
              <a:gd name="adj" fmla="val 8421"/>
            </a:avLst>
          </a:prstGeom>
          <a:solidFill>
            <a:srgbClr val="FBE3E1"/>
          </a:solidFill>
          <a:ln w="12700">
            <a:solidFill>
              <a:srgbClr val="FBE3E1"/>
            </a:solidFill>
            <a:prstDash val="solid"/>
          </a:ln>
        </p:spPr>
      </p:sp>
      <p:sp>
        <p:nvSpPr>
          <p:cNvPr id="11" name="Text 9"/>
          <p:cNvSpPr txBox="1"/>
          <p:nvPr/>
        </p:nvSpPr>
        <p:spPr>
          <a:xfrm>
            <a:off x="6345936" y="1719072"/>
            <a:ext cx="2286000" cy="365760"/>
          </a:xfrm>
          <a:prstGeom prst="rect">
            <a:avLst/>
          </a:prstGeom>
          <a:noFill/>
          <a:ln/>
        </p:spPr>
        <p:txBody>
          <a:bodyPr wrap="square" lIns="0" tIns="0" rIns="0" bIns="0" rtlCol="0" anchor="t"/>
          <a:lstStyle/>
          <a:p>
            <a:pPr indent="0" marL="0">
              <a:buNone/>
            </a:pPr>
            <a:r>
              <a:rPr lang="en-US" sz="1400" b="1" dirty="0">
                <a:solidFill>
                  <a:srgbClr val="9E2A22"/>
                </a:solidFill>
              </a:rPr>
              <a:t>AWS IoT Analytics</a:t>
            </a:r>
            <a:endParaRPr lang="en-US" sz="1400" dirty="0"/>
          </a:p>
        </p:txBody>
      </p:sp>
      <p:sp>
        <p:nvSpPr>
          <p:cNvPr id="12" name="Text 10"/>
          <p:cNvSpPr txBox="1"/>
          <p:nvPr/>
        </p:nvSpPr>
        <p:spPr>
          <a:xfrm>
            <a:off x="6345936" y="2084832"/>
            <a:ext cx="2286000" cy="320040"/>
          </a:xfrm>
          <a:prstGeom prst="rect">
            <a:avLst/>
          </a:prstGeom>
          <a:noFill/>
          <a:ln/>
        </p:spPr>
        <p:txBody>
          <a:bodyPr wrap="square" lIns="0" tIns="0" rIns="0" bIns="0" rtlCol="0" anchor="t"/>
          <a:lstStyle/>
          <a:p>
            <a:pPr indent="0" marL="0">
              <a:buNone/>
            </a:pPr>
            <a:r>
              <a:rPr lang="en-US" sz="1300" dirty="0">
                <a:solidFill>
                  <a:schemeClr val="tx2"/>
                </a:solidFill>
              </a:rPr>
              <a:t>end of support 2025</a:t>
            </a:r>
            <a:endParaRPr lang="en-US" sz="1300" dirty="0"/>
          </a:p>
        </p:txBody>
      </p:sp>
      <p:sp>
        <p:nvSpPr>
          <p:cNvPr id="13" name="card"/>
          <p:cNvSpPr/>
          <p:nvPr/>
        </p:nvSpPr>
        <p:spPr>
          <a:xfrm>
            <a:off x="8970264" y="1645920"/>
            <a:ext cx="2624328" cy="868680"/>
          </a:xfrm>
          <a:prstGeom prst="roundRect">
            <a:avLst>
              <a:gd name="adj" fmla="val 8421"/>
            </a:avLst>
          </a:prstGeom>
          <a:solidFill>
            <a:srgbClr val="FBE3E1"/>
          </a:solidFill>
          <a:ln w="12700">
            <a:solidFill>
              <a:srgbClr val="FBE3E1"/>
            </a:solidFill>
            <a:prstDash val="solid"/>
          </a:ln>
        </p:spPr>
      </p:sp>
      <p:sp>
        <p:nvSpPr>
          <p:cNvPr id="14" name="Text 12"/>
          <p:cNvSpPr txBox="1"/>
          <p:nvPr/>
        </p:nvSpPr>
        <p:spPr>
          <a:xfrm>
            <a:off x="9153144" y="1719072"/>
            <a:ext cx="2286000" cy="365760"/>
          </a:xfrm>
          <a:prstGeom prst="rect">
            <a:avLst/>
          </a:prstGeom>
          <a:noFill/>
          <a:ln/>
        </p:spPr>
        <p:txBody>
          <a:bodyPr wrap="square" lIns="0" tIns="0" rIns="0" bIns="0" rtlCol="0" anchor="t"/>
          <a:lstStyle/>
          <a:p>
            <a:pPr indent="0" marL="0">
              <a:buNone/>
            </a:pPr>
            <a:r>
              <a:rPr lang="en-US" sz="1400" b="1" dirty="0">
                <a:solidFill>
                  <a:srgbClr val="9E2A22"/>
                </a:solidFill>
              </a:rPr>
              <a:t>AWS IoT Events</a:t>
            </a:r>
            <a:endParaRPr lang="en-US" sz="1400" dirty="0"/>
          </a:p>
        </p:txBody>
      </p:sp>
      <p:sp>
        <p:nvSpPr>
          <p:cNvPr id="15" name="Text 13"/>
          <p:cNvSpPr txBox="1"/>
          <p:nvPr/>
        </p:nvSpPr>
        <p:spPr>
          <a:xfrm>
            <a:off x="9153144" y="2084832"/>
            <a:ext cx="2286000" cy="320040"/>
          </a:xfrm>
          <a:prstGeom prst="rect">
            <a:avLst/>
          </a:prstGeom>
          <a:noFill/>
          <a:ln/>
        </p:spPr>
        <p:txBody>
          <a:bodyPr wrap="square" lIns="0" tIns="0" rIns="0" bIns="0" rtlCol="0" anchor="t"/>
          <a:lstStyle/>
          <a:p>
            <a:pPr indent="0" marL="0">
              <a:buNone/>
            </a:pPr>
            <a:r>
              <a:rPr lang="en-US" sz="1300" dirty="0">
                <a:solidFill>
                  <a:schemeClr val="tx2"/>
                </a:solidFill>
              </a:rPr>
              <a:t>retired 2026</a:t>
            </a:r>
            <a:endParaRPr lang="en-US" sz="1300" dirty="0"/>
          </a:p>
        </p:txBody>
      </p:sp>
      <p:sp>
        <p:nvSpPr>
          <p:cNvPr id="16" name="card"/>
          <p:cNvSpPr/>
          <p:nvPr/>
        </p:nvSpPr>
        <p:spPr>
          <a:xfrm>
            <a:off x="548640" y="2743200"/>
            <a:ext cx="3566160" cy="3337560"/>
          </a:xfrm>
          <a:prstGeom prst="roundRect">
            <a:avLst>
              <a:gd name="adj" fmla="val 2192"/>
            </a:avLst>
          </a:prstGeom>
          <a:solidFill>
            <a:schemeClr val="bg2"/>
          </a:solidFill>
          <a:ln w="12700">
            <a:solidFill>
              <a:schemeClr val="bg2"/>
            </a:solidFill>
            <a:prstDash val="solid"/>
          </a:ln>
        </p:spPr>
      </p:sp>
      <p:sp>
        <p:nvSpPr>
          <p:cNvPr id="17" name="Text 15"/>
          <p:cNvSpPr txBox="1"/>
          <p:nvPr/>
        </p:nvSpPr>
        <p:spPr>
          <a:xfrm>
            <a:off x="777240" y="2926080"/>
            <a:ext cx="3108960" cy="411480"/>
          </a:xfrm>
          <a:prstGeom prst="rect">
            <a:avLst/>
          </a:prstGeom>
          <a:noFill/>
          <a:ln/>
        </p:spPr>
        <p:txBody>
          <a:bodyPr wrap="square" lIns="0" tIns="0" rIns="0" bIns="0" rtlCol="0" anchor="t"/>
          <a:lstStyle/>
          <a:p>
            <a:pPr indent="0" marL="0">
              <a:buNone/>
            </a:pPr>
            <a:r>
              <a:rPr lang="en-US" sz="2200" b="1" dirty="0">
                <a:solidFill>
                  <a:schemeClr val="accent3"/>
                </a:solidFill>
              </a:rPr>
              <a:t>AWS</a:t>
            </a:r>
            <a:endParaRPr lang="en-US" sz="2200" dirty="0"/>
          </a:p>
        </p:txBody>
      </p:sp>
      <p:sp>
        <p:nvSpPr>
          <p:cNvPr id="18" name="Text 16"/>
          <p:cNvSpPr txBox="1"/>
          <p:nvPr/>
        </p:nvSpPr>
        <p:spPr>
          <a:xfrm>
            <a:off x="777240" y="3474720"/>
            <a:ext cx="1828800"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STRENGTH</a:t>
            </a:r>
            <a:endParaRPr lang="en-US" sz="1100" dirty="0"/>
          </a:p>
        </p:txBody>
      </p:sp>
      <p:sp>
        <p:nvSpPr>
          <p:cNvPr id="19" name="Text 17"/>
          <p:cNvSpPr txBox="1"/>
          <p:nvPr/>
        </p:nvSpPr>
        <p:spPr>
          <a:xfrm>
            <a:off x="777240" y="3749040"/>
            <a:ext cx="3108960" cy="1005840"/>
          </a:xfrm>
          <a:prstGeom prst="rect">
            <a:avLst/>
          </a:prstGeom>
          <a:noFill/>
          <a:ln/>
        </p:spPr>
        <p:txBody>
          <a:bodyPr wrap="square" lIns="0" tIns="0" rIns="0" bIns="0" rtlCol="0" anchor="t"/>
          <a:lstStyle/>
          <a:p>
            <a:pPr indent="0" marL="0">
              <a:buNone/>
            </a:pPr>
            <a:r>
              <a:rPr lang="en-US" sz="1500" dirty="0">
                <a:solidFill>
                  <a:schemeClr val="tx1"/>
                </a:solidFill>
              </a:rPr>
              <a:t>Best-documented edge buffering (Greengrass, SiteWise Edge) and SageMaker</a:t>
            </a:r>
            <a:endParaRPr lang="en-US" sz="1500" dirty="0"/>
          </a:p>
        </p:txBody>
      </p:sp>
      <p:sp>
        <p:nvSpPr>
          <p:cNvPr id="20" name="Text 18"/>
          <p:cNvSpPr txBox="1"/>
          <p:nvPr/>
        </p:nvSpPr>
        <p:spPr>
          <a:xfrm>
            <a:off x="777240" y="4800600"/>
            <a:ext cx="1828800"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GAP</a:t>
            </a:r>
            <a:endParaRPr lang="en-US" sz="1100" dirty="0"/>
          </a:p>
        </p:txBody>
      </p:sp>
      <p:sp>
        <p:nvSpPr>
          <p:cNvPr id="21" name="Text 19"/>
          <p:cNvSpPr txBox="1"/>
          <p:nvPr/>
        </p:nvSpPr>
        <p:spPr>
          <a:xfrm>
            <a:off x="777240" y="5074920"/>
            <a:ext cx="3108960" cy="868680"/>
          </a:xfrm>
          <a:prstGeom prst="rect">
            <a:avLst/>
          </a:prstGeom>
          <a:noFill/>
          <a:ln/>
        </p:spPr>
        <p:txBody>
          <a:bodyPr wrap="square" lIns="0" tIns="0" rIns="0" bIns="0" rtlCol="0" anchor="t"/>
          <a:lstStyle/>
          <a:p>
            <a:pPr indent="0" marL="0">
              <a:buNone/>
            </a:pPr>
            <a:r>
              <a:rPr lang="en-US" sz="1500" dirty="0">
                <a:solidFill>
                  <a:schemeClr val="tx2"/>
                </a:solidFill>
              </a:rPr>
              <a:t>IIoT stack is now separate parts after retirements</a:t>
            </a:r>
            <a:endParaRPr lang="en-US" sz="1500" dirty="0"/>
          </a:p>
        </p:txBody>
      </p:sp>
      <p:sp>
        <p:nvSpPr>
          <p:cNvPr id="22" name="card"/>
          <p:cNvSpPr/>
          <p:nvPr/>
        </p:nvSpPr>
        <p:spPr>
          <a:xfrm>
            <a:off x="4297680" y="2743200"/>
            <a:ext cx="3566160" cy="3337560"/>
          </a:xfrm>
          <a:prstGeom prst="roundRect">
            <a:avLst>
              <a:gd name="adj" fmla="val 2192"/>
            </a:avLst>
          </a:prstGeom>
          <a:solidFill>
            <a:schemeClr val="bg2"/>
          </a:solidFill>
          <a:ln w="12700">
            <a:solidFill>
              <a:schemeClr val="bg2"/>
            </a:solidFill>
            <a:prstDash val="solid"/>
          </a:ln>
        </p:spPr>
      </p:sp>
      <p:sp>
        <p:nvSpPr>
          <p:cNvPr id="23" name="Text 21"/>
          <p:cNvSpPr txBox="1"/>
          <p:nvPr/>
        </p:nvSpPr>
        <p:spPr>
          <a:xfrm>
            <a:off x="4526280" y="2926080"/>
            <a:ext cx="3108960" cy="411480"/>
          </a:xfrm>
          <a:prstGeom prst="rect">
            <a:avLst/>
          </a:prstGeom>
          <a:noFill/>
          <a:ln/>
        </p:spPr>
        <p:txBody>
          <a:bodyPr wrap="square" lIns="0" tIns="0" rIns="0" bIns="0" rtlCol="0" anchor="t"/>
          <a:lstStyle/>
          <a:p>
            <a:pPr indent="0" marL="0">
              <a:buNone/>
            </a:pPr>
            <a:r>
              <a:rPr lang="en-US" sz="2200" b="1" dirty="0">
                <a:solidFill>
                  <a:schemeClr val="accent1"/>
                </a:solidFill>
              </a:rPr>
              <a:t>Microsoft Azure</a:t>
            </a:r>
            <a:endParaRPr lang="en-US" sz="2200" dirty="0"/>
          </a:p>
        </p:txBody>
      </p:sp>
      <p:sp>
        <p:nvSpPr>
          <p:cNvPr id="24" name="Text 22"/>
          <p:cNvSpPr txBox="1"/>
          <p:nvPr/>
        </p:nvSpPr>
        <p:spPr>
          <a:xfrm>
            <a:off x="4526280" y="3474720"/>
            <a:ext cx="1828800"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STRENGTH</a:t>
            </a:r>
            <a:endParaRPr lang="en-US" sz="1100" dirty="0"/>
          </a:p>
        </p:txBody>
      </p:sp>
      <p:sp>
        <p:nvSpPr>
          <p:cNvPr id="25" name="Text 23"/>
          <p:cNvSpPr txBox="1"/>
          <p:nvPr/>
        </p:nvSpPr>
        <p:spPr>
          <a:xfrm>
            <a:off x="4526280" y="3749040"/>
            <a:ext cx="3108960" cy="1005840"/>
          </a:xfrm>
          <a:prstGeom prst="rect">
            <a:avLst/>
          </a:prstGeom>
          <a:noFill/>
          <a:ln/>
        </p:spPr>
        <p:txBody>
          <a:bodyPr wrap="square" lIns="0" tIns="0" rIns="0" bIns="0" rtlCol="0" anchor="t"/>
          <a:lstStyle/>
          <a:p>
            <a:pPr indent="0" marL="0">
              <a:buNone/>
            </a:pPr>
            <a:r>
              <a:rPr lang="en-US" sz="1500" dirty="0">
                <a:solidFill>
                  <a:schemeClr val="tx1"/>
                </a:solidFill>
              </a:rPr>
              <a:t>Most complete OPC UA → dashboard chain: IoT Operations, Fabric, Power BI</a:t>
            </a:r>
            <a:endParaRPr lang="en-US" sz="1500" dirty="0"/>
          </a:p>
        </p:txBody>
      </p:sp>
      <p:sp>
        <p:nvSpPr>
          <p:cNvPr id="26" name="Text 24"/>
          <p:cNvSpPr txBox="1"/>
          <p:nvPr/>
        </p:nvSpPr>
        <p:spPr>
          <a:xfrm>
            <a:off x="4526280" y="4800600"/>
            <a:ext cx="1828800"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GAP</a:t>
            </a:r>
            <a:endParaRPr lang="en-US" sz="1100" dirty="0"/>
          </a:p>
        </p:txBody>
      </p:sp>
      <p:sp>
        <p:nvSpPr>
          <p:cNvPr id="27" name="Text 25"/>
          <p:cNvSpPr txBox="1"/>
          <p:nvPr/>
        </p:nvSpPr>
        <p:spPr>
          <a:xfrm>
            <a:off x="4526280" y="5074920"/>
            <a:ext cx="3108960" cy="868680"/>
          </a:xfrm>
          <a:prstGeom prst="rect">
            <a:avLst/>
          </a:prstGeom>
          <a:noFill/>
          <a:ln/>
        </p:spPr>
        <p:txBody>
          <a:bodyPr wrap="square" lIns="0" tIns="0" rIns="0" bIns="0" rtlCol="0" anchor="t"/>
          <a:lstStyle/>
          <a:p>
            <a:pPr indent="0" marL="0">
              <a:buNone/>
            </a:pPr>
            <a:r>
              <a:rPr lang="en-US" sz="1500" dirty="0">
                <a:solidFill>
                  <a:schemeClr val="tx2"/>
                </a:solidFill>
              </a:rPr>
              <a:t>Highest cost, Kubernetes at the edge</a:t>
            </a:r>
            <a:endParaRPr lang="en-US" sz="1500" dirty="0"/>
          </a:p>
        </p:txBody>
      </p:sp>
      <p:sp>
        <p:nvSpPr>
          <p:cNvPr id="28" name="card"/>
          <p:cNvSpPr/>
          <p:nvPr/>
        </p:nvSpPr>
        <p:spPr>
          <a:xfrm>
            <a:off x="8046720" y="2743200"/>
            <a:ext cx="3566160" cy="3337560"/>
          </a:xfrm>
          <a:prstGeom prst="roundRect">
            <a:avLst>
              <a:gd name="adj" fmla="val 2192"/>
            </a:avLst>
          </a:prstGeom>
          <a:solidFill>
            <a:schemeClr val="bg2"/>
          </a:solidFill>
          <a:ln w="12700">
            <a:solidFill>
              <a:schemeClr val="bg2"/>
            </a:solidFill>
            <a:prstDash val="solid"/>
          </a:ln>
        </p:spPr>
      </p:sp>
      <p:sp>
        <p:nvSpPr>
          <p:cNvPr id="29" name="Text 27"/>
          <p:cNvSpPr txBox="1"/>
          <p:nvPr/>
        </p:nvSpPr>
        <p:spPr>
          <a:xfrm>
            <a:off x="8275320" y="2926080"/>
            <a:ext cx="3108960" cy="411480"/>
          </a:xfrm>
          <a:prstGeom prst="rect">
            <a:avLst/>
          </a:prstGeom>
          <a:noFill/>
          <a:ln/>
        </p:spPr>
        <p:txBody>
          <a:bodyPr wrap="square" lIns="0" tIns="0" rIns="0" bIns="0" rtlCol="0" anchor="t"/>
          <a:lstStyle/>
          <a:p>
            <a:pPr indent="0" marL="0">
              <a:buNone/>
            </a:pPr>
            <a:r>
              <a:rPr lang="en-US" sz="2200" b="1" dirty="0">
                <a:solidFill>
                  <a:schemeClr val="accent2"/>
                </a:solidFill>
              </a:rPr>
              <a:t>Google Cloud</a:t>
            </a:r>
            <a:endParaRPr lang="en-US" sz="2200" dirty="0"/>
          </a:p>
        </p:txBody>
      </p:sp>
      <p:sp>
        <p:nvSpPr>
          <p:cNvPr id="30" name="Text 28"/>
          <p:cNvSpPr txBox="1"/>
          <p:nvPr/>
        </p:nvSpPr>
        <p:spPr>
          <a:xfrm>
            <a:off x="8275320" y="3474720"/>
            <a:ext cx="1828800"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STRENGTH</a:t>
            </a:r>
            <a:endParaRPr lang="en-US" sz="1100" dirty="0"/>
          </a:p>
        </p:txBody>
      </p:sp>
      <p:sp>
        <p:nvSpPr>
          <p:cNvPr id="31" name="Text 29"/>
          <p:cNvSpPr txBox="1"/>
          <p:nvPr/>
        </p:nvSpPr>
        <p:spPr>
          <a:xfrm>
            <a:off x="8275320" y="3749040"/>
            <a:ext cx="3108960" cy="1005840"/>
          </a:xfrm>
          <a:prstGeom prst="rect">
            <a:avLst/>
          </a:prstGeom>
          <a:noFill/>
          <a:ln/>
        </p:spPr>
        <p:txBody>
          <a:bodyPr wrap="square" lIns="0" tIns="0" rIns="0" bIns="0" rtlCol="0" anchor="t"/>
          <a:lstStyle/>
          <a:p>
            <a:pPr indent="0" marL="0">
              <a:buNone/>
            </a:pPr>
            <a:r>
              <a:rPr lang="en-US" sz="1500" dirty="0">
                <a:solidFill>
                  <a:schemeClr val="tx1"/>
                </a:solidFill>
              </a:rPr>
              <a:t>Strongest, cheapest analytics: BigQuery, Vertex AI</a:t>
            </a:r>
            <a:endParaRPr lang="en-US" sz="1500" dirty="0"/>
          </a:p>
        </p:txBody>
      </p:sp>
      <p:sp>
        <p:nvSpPr>
          <p:cNvPr id="32" name="Text 30"/>
          <p:cNvSpPr txBox="1"/>
          <p:nvPr/>
        </p:nvSpPr>
        <p:spPr>
          <a:xfrm>
            <a:off x="8275320" y="4800600"/>
            <a:ext cx="1828800"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GAP</a:t>
            </a:r>
            <a:endParaRPr lang="en-US" sz="1100" dirty="0"/>
          </a:p>
        </p:txBody>
      </p:sp>
      <p:sp>
        <p:nvSpPr>
          <p:cNvPr id="33" name="Text 31"/>
          <p:cNvSpPr txBox="1"/>
          <p:nvPr/>
        </p:nvSpPr>
        <p:spPr>
          <a:xfrm>
            <a:off x="8275320" y="5074920"/>
            <a:ext cx="3108960" cy="868680"/>
          </a:xfrm>
          <a:prstGeom prst="rect">
            <a:avLst/>
          </a:prstGeom>
          <a:noFill/>
          <a:ln/>
        </p:spPr>
        <p:txBody>
          <a:bodyPr wrap="square" lIns="0" tIns="0" rIns="0" bIns="0" rtlCol="0" anchor="t"/>
          <a:lstStyle/>
          <a:p>
            <a:pPr indent="0" marL="0">
              <a:buNone/>
            </a:pPr>
            <a:r>
              <a:rPr lang="en-US" sz="1500" dirty="0">
                <a:solidFill>
                  <a:schemeClr val="tx2"/>
                </a:solidFill>
              </a:rPr>
              <a:t>No first-party factory-floor layer; partner edge needed</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PART C · WEIGHTED DECISION MATRIX</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Azure 4.22 · AWS 3.92 · GCP 3.57</a:t>
            </a:r>
            <a:endParaRPr lang="en-US" sz="3400" dirty="0"/>
          </a:p>
        </p:txBody>
      </p:sp>
      <p:graphicFrame>
        <p:nvGraphicFramePr>
          <p:cNvPr id="4" name="Chart 0" descr=""/>
          <p:cNvGraphicFramePr/>
          <p:nvPr/>
        </p:nvGraphicFramePr>
        <p:xfrm>
          <a:off x="548640" y="1645920"/>
          <a:ext cx="5120640" cy="31089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4846320"/>
            <a:ext cx="5120640" cy="548640"/>
          </a:xfrm>
          <a:prstGeom prst="rect">
            <a:avLst/>
          </a:prstGeom>
          <a:noFill/>
          <a:ln/>
        </p:spPr>
        <p:txBody>
          <a:bodyPr wrap="square" lIns="0" tIns="0" rIns="0" bIns="0" rtlCol="0" anchor="t"/>
          <a:lstStyle/>
          <a:p>
            <a:pPr indent="0" marL="0">
              <a:buNone/>
            </a:pPr>
            <a:r>
              <a:rPr lang="en-US" sz="1400" dirty="0">
                <a:solidFill>
                  <a:schemeClr val="tx2"/>
                </a:solidFill>
              </a:rPr>
              <a:t>Heaviest weights: Industrial IoT 15% · Cost 13% · Edge 12% · Security 12%</a:t>
            </a:r>
            <a:endParaRPr lang="en-US" sz="1400" dirty="0"/>
          </a:p>
        </p:txBody>
      </p:sp>
      <p:sp>
        <p:nvSpPr>
          <p:cNvPr id="6" name="card"/>
          <p:cNvSpPr/>
          <p:nvPr/>
        </p:nvSpPr>
        <p:spPr>
          <a:xfrm>
            <a:off x="6035040" y="1645920"/>
            <a:ext cx="2651760" cy="987552"/>
          </a:xfrm>
          <a:prstGeom prst="roundRect">
            <a:avLst>
              <a:gd name="adj" fmla="val 7407"/>
            </a:avLst>
          </a:prstGeom>
          <a:solidFill>
            <a:schemeClr val="bg2"/>
          </a:solidFill>
          <a:ln w="12700">
            <a:solidFill>
              <a:schemeClr val="bg2"/>
            </a:solidFill>
            <a:prstDash val="solid"/>
          </a:ln>
        </p:spPr>
      </p:sp>
      <p:sp>
        <p:nvSpPr>
          <p:cNvPr id="7" name="Text 4"/>
          <p:cNvSpPr txBox="1"/>
          <p:nvPr/>
        </p:nvSpPr>
        <p:spPr>
          <a:xfrm>
            <a:off x="6217920" y="1691640"/>
            <a:ext cx="2377440" cy="502920"/>
          </a:xfrm>
          <a:prstGeom prst="rect">
            <a:avLst/>
          </a:prstGeom>
          <a:noFill/>
          <a:ln/>
        </p:spPr>
        <p:txBody>
          <a:bodyPr wrap="square" lIns="0" tIns="0" rIns="0" bIns="0" rtlCol="0" anchor="t"/>
          <a:lstStyle/>
          <a:p>
            <a:pPr indent="0" marL="0">
              <a:buNone/>
            </a:pPr>
            <a:r>
              <a:rPr lang="en-US" sz="2800" b="1" dirty="0">
                <a:solidFill>
                  <a:schemeClr val="accent1"/>
                </a:solidFill>
              </a:rPr>
              <a:t>100%</a:t>
            </a:r>
            <a:endParaRPr lang="en-US" sz="2800" dirty="0"/>
          </a:p>
        </p:txBody>
      </p:sp>
      <p:sp>
        <p:nvSpPr>
          <p:cNvPr id="8" name="Text 5"/>
          <p:cNvSpPr txBox="1"/>
          <p:nvPr/>
        </p:nvSpPr>
        <p:spPr>
          <a:xfrm>
            <a:off x="6217920" y="2176272"/>
            <a:ext cx="2377440" cy="457200"/>
          </a:xfrm>
          <a:prstGeom prst="rect">
            <a:avLst/>
          </a:prstGeom>
          <a:noFill/>
          <a:ln/>
        </p:spPr>
        <p:txBody>
          <a:bodyPr wrap="square" lIns="0" tIns="0" rIns="0" bIns="0" rtlCol="0" anchor="t"/>
          <a:lstStyle/>
          <a:p>
            <a:pPr indent="0" marL="0">
              <a:buNone/>
            </a:pPr>
            <a:r>
              <a:rPr lang="en-US" sz="1200" dirty="0">
                <a:solidFill>
                  <a:schemeClr val="tx2"/>
                </a:solidFill>
              </a:rPr>
              <a:t>of ±5-point weight shifts won by Azure</a:t>
            </a:r>
            <a:endParaRPr lang="en-US" sz="1200" dirty="0"/>
          </a:p>
        </p:txBody>
      </p:sp>
      <p:sp>
        <p:nvSpPr>
          <p:cNvPr id="9" name="card"/>
          <p:cNvSpPr/>
          <p:nvPr/>
        </p:nvSpPr>
        <p:spPr>
          <a:xfrm>
            <a:off x="6035040" y="2761488"/>
            <a:ext cx="2651760" cy="987552"/>
          </a:xfrm>
          <a:prstGeom prst="roundRect">
            <a:avLst>
              <a:gd name="adj" fmla="val 7407"/>
            </a:avLst>
          </a:prstGeom>
          <a:solidFill>
            <a:schemeClr val="bg2"/>
          </a:solidFill>
          <a:ln w="12700">
            <a:solidFill>
              <a:schemeClr val="bg2"/>
            </a:solidFill>
            <a:prstDash val="solid"/>
          </a:ln>
        </p:spPr>
      </p:sp>
      <p:sp>
        <p:nvSpPr>
          <p:cNvPr id="10" name="Text 7"/>
          <p:cNvSpPr txBox="1"/>
          <p:nvPr/>
        </p:nvSpPr>
        <p:spPr>
          <a:xfrm>
            <a:off x="6217920" y="2807208"/>
            <a:ext cx="2377440" cy="502920"/>
          </a:xfrm>
          <a:prstGeom prst="rect">
            <a:avLst/>
          </a:prstGeom>
          <a:noFill/>
          <a:ln/>
        </p:spPr>
        <p:txBody>
          <a:bodyPr wrap="square" lIns="0" tIns="0" rIns="0" bIns="0" rtlCol="0" anchor="t"/>
          <a:lstStyle/>
          <a:p>
            <a:pPr indent="0" marL="0">
              <a:buNone/>
            </a:pPr>
            <a:r>
              <a:rPr lang="en-US" sz="2800" b="1" dirty="0">
                <a:solidFill>
                  <a:schemeClr val="accent1"/>
                </a:solidFill>
              </a:rPr>
              <a:t>88.7%</a:t>
            </a:r>
            <a:endParaRPr lang="en-US" sz="2800" dirty="0"/>
          </a:p>
        </p:txBody>
      </p:sp>
      <p:sp>
        <p:nvSpPr>
          <p:cNvPr id="11" name="Text 8"/>
          <p:cNvSpPr txBox="1"/>
          <p:nvPr/>
        </p:nvSpPr>
        <p:spPr>
          <a:xfrm>
            <a:off x="6217920" y="3291840"/>
            <a:ext cx="2377440" cy="457200"/>
          </a:xfrm>
          <a:prstGeom prst="rect">
            <a:avLst/>
          </a:prstGeom>
          <a:noFill/>
          <a:ln/>
        </p:spPr>
        <p:txBody>
          <a:bodyPr wrap="square" lIns="0" tIns="0" rIns="0" bIns="0" rtlCol="0" anchor="t"/>
          <a:lstStyle/>
          <a:p>
            <a:pPr indent="0" marL="0">
              <a:buNone/>
            </a:pPr>
            <a:r>
              <a:rPr lang="en-US" sz="1200" dirty="0">
                <a:solidFill>
                  <a:schemeClr val="tx2"/>
                </a:solidFill>
              </a:rPr>
              <a:t>of 10,000 random re-weightings won by Azure</a:t>
            </a:r>
            <a:endParaRPr lang="en-US" sz="1200" dirty="0"/>
          </a:p>
        </p:txBody>
      </p:sp>
      <p:sp>
        <p:nvSpPr>
          <p:cNvPr id="12" name="card"/>
          <p:cNvSpPr/>
          <p:nvPr/>
        </p:nvSpPr>
        <p:spPr>
          <a:xfrm>
            <a:off x="6035040" y="3877056"/>
            <a:ext cx="2651760" cy="987552"/>
          </a:xfrm>
          <a:prstGeom prst="roundRect">
            <a:avLst>
              <a:gd name="adj" fmla="val 7407"/>
            </a:avLst>
          </a:prstGeom>
          <a:solidFill>
            <a:schemeClr val="bg2"/>
          </a:solidFill>
          <a:ln w="12700">
            <a:solidFill>
              <a:schemeClr val="bg2"/>
            </a:solidFill>
            <a:prstDash val="solid"/>
          </a:ln>
        </p:spPr>
      </p:sp>
      <p:sp>
        <p:nvSpPr>
          <p:cNvPr id="13" name="Text 10"/>
          <p:cNvSpPr txBox="1"/>
          <p:nvPr/>
        </p:nvSpPr>
        <p:spPr>
          <a:xfrm>
            <a:off x="6217920" y="3922776"/>
            <a:ext cx="2377440" cy="502920"/>
          </a:xfrm>
          <a:prstGeom prst="rect">
            <a:avLst/>
          </a:prstGeom>
          <a:noFill/>
          <a:ln/>
        </p:spPr>
        <p:txBody>
          <a:bodyPr wrap="square" lIns="0" tIns="0" rIns="0" bIns="0" rtlCol="0" anchor="t"/>
          <a:lstStyle/>
          <a:p>
            <a:pPr indent="0" marL="0">
              <a:buNone/>
            </a:pPr>
            <a:r>
              <a:rPr lang="en-US" sz="2800" b="1" dirty="0">
                <a:solidFill>
                  <a:schemeClr val="accent1"/>
                </a:solidFill>
              </a:rPr>
              <a:t>≥ 35%</a:t>
            </a:r>
            <a:endParaRPr lang="en-US" sz="2800" dirty="0"/>
          </a:p>
        </p:txBody>
      </p:sp>
      <p:sp>
        <p:nvSpPr>
          <p:cNvPr id="14" name="Text 11"/>
          <p:cNvSpPr txBox="1"/>
          <p:nvPr/>
        </p:nvSpPr>
        <p:spPr>
          <a:xfrm>
            <a:off x="6217920" y="4407408"/>
            <a:ext cx="2377440" cy="457200"/>
          </a:xfrm>
          <a:prstGeom prst="rect">
            <a:avLst/>
          </a:prstGeom>
          <a:noFill/>
          <a:ln/>
        </p:spPr>
        <p:txBody>
          <a:bodyPr wrap="square" lIns="0" tIns="0" rIns="0" bIns="0" rtlCol="0" anchor="t"/>
          <a:lstStyle/>
          <a:p>
            <a:pPr indent="0" marL="0">
              <a:buNone/>
            </a:pPr>
            <a:r>
              <a:rPr lang="en-US" sz="1200" dirty="0">
                <a:solidFill>
                  <a:schemeClr val="tx2"/>
                </a:solidFill>
              </a:rPr>
              <a:t>cost weight needed before AWS wins</a:t>
            </a:r>
            <a:endParaRPr lang="en-US" sz="1200" dirty="0"/>
          </a:p>
        </p:txBody>
      </p:sp>
      <p:sp>
        <p:nvSpPr>
          <p:cNvPr id="15" name="card"/>
          <p:cNvSpPr/>
          <p:nvPr/>
        </p:nvSpPr>
        <p:spPr>
          <a:xfrm>
            <a:off x="8915400" y="1645920"/>
            <a:ext cx="2724912" cy="4462272"/>
          </a:xfrm>
          <a:prstGeom prst="roundRect">
            <a:avLst>
              <a:gd name="adj" fmla="val 2685"/>
            </a:avLst>
          </a:prstGeom>
          <a:solidFill>
            <a:schemeClr val="tx1"/>
          </a:solidFill>
          <a:ln w="12700">
            <a:solidFill>
              <a:schemeClr val="tx1"/>
            </a:solidFill>
            <a:prstDash val="solid"/>
          </a:ln>
        </p:spPr>
      </p:sp>
      <p:sp>
        <p:nvSpPr>
          <p:cNvPr id="16" name="Text 13"/>
          <p:cNvSpPr txBox="1"/>
          <p:nvPr/>
        </p:nvSpPr>
        <p:spPr>
          <a:xfrm>
            <a:off x="9098280" y="1828800"/>
            <a:ext cx="2377440" cy="457200"/>
          </a:xfrm>
          <a:prstGeom prst="rect">
            <a:avLst/>
          </a:prstGeom>
          <a:noFill/>
          <a:ln/>
        </p:spPr>
        <p:txBody>
          <a:bodyPr wrap="square" lIns="0" tIns="0" rIns="0" bIns="0" rtlCol="0" anchor="t"/>
          <a:lstStyle/>
          <a:p>
            <a:pPr indent="0" marL="0">
              <a:buNone/>
            </a:pPr>
            <a:r>
              <a:rPr lang="en-US" sz="1200" b="1" spc="100" kern="0" dirty="0">
                <a:solidFill>
                  <a:schemeClr val="accent1"/>
                </a:solidFill>
              </a:rPr>
              <a:t>WHY AZURE, FOR THIS FACTORY</a:t>
            </a:r>
            <a:endParaRPr lang="en-US" sz="1200" dirty="0"/>
          </a:p>
        </p:txBody>
      </p:sp>
      <p:sp>
        <p:nvSpPr>
          <p:cNvPr id="17" name="Text 14"/>
          <p:cNvSpPr txBox="1"/>
          <p:nvPr/>
        </p:nvSpPr>
        <p:spPr>
          <a:xfrm>
            <a:off x="9098280" y="2331720"/>
            <a:ext cx="2377440" cy="35661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bg1"/>
                </a:solidFill>
              </a:rPr>
              <a:t>Old Fanuc / Siemens controllers speak OPC UA</a:t>
            </a:r>
            <a:endParaRPr lang="en-US" sz="1500" dirty="0"/>
          </a:p>
          <a:p>
            <a:pPr marL="203200" indent="-203200">
              <a:spcAft>
                <a:spcPts val="600"/>
              </a:spcAft>
              <a:buSzPct val="100000"/>
              <a:buChar char="•"/>
            </a:pPr>
            <a:r>
              <a:rPr lang="en-US" sz="1500" dirty="0">
                <a:solidFill>
                  <a:schemeClr val="bg1"/>
                </a:solidFill>
              </a:rPr>
              <a:t>Microsoft tools already in the plants</a:t>
            </a:r>
            <a:endParaRPr lang="en-US" sz="1500" dirty="0"/>
          </a:p>
          <a:p>
            <a:pPr marL="203200" indent="-203200">
              <a:spcAft>
                <a:spcPts val="600"/>
              </a:spcAft>
              <a:buSzPct val="100000"/>
              <a:buChar char="•"/>
            </a:pPr>
            <a:r>
              <a:rPr lang="en-US" sz="1500" dirty="0">
                <a:solidFill>
                  <a:schemeClr val="bg1"/>
                </a:solidFill>
              </a:rPr>
              <a:t>Pune region next to Chakan</a:t>
            </a:r>
            <a:endParaRPr lang="en-US" sz="1500" dirty="0"/>
          </a:p>
          <a:p>
            <a:pPr marL="203200" indent="-203200">
              <a:spcAft>
                <a:spcPts val="600"/>
              </a:spcAft>
              <a:buSzPct val="100000"/>
              <a:buChar char="•"/>
            </a:pPr>
            <a:r>
              <a:rPr lang="en-US" sz="1500" dirty="0">
                <a:solidFill>
                  <a:schemeClr val="bg1"/>
                </a:solidFill>
              </a:rPr>
              <a:t>Edge design removes its cost and offline weaknesses</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PART F · ARCHITECTURE</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Every Azure block has a working stand-in in our prototype</a:t>
            </a:r>
            <a:endParaRPr lang="en-US" sz="3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2926080"/>
                <a:gridCol w="4023360"/>
                <a:gridCol w="4142232"/>
              </a:tblGrid>
              <a:tr h="502920">
                <a:tc>
                  <a:txBody>
                    <a:bodyPr/>
                    <a:lstStyle/>
                    <a:p>
                      <a:pPr indent="0" marL="0">
                        <a:buNone/>
                      </a:pPr>
                      <a:r>
                        <a:rPr lang="en-US" sz="1400" b="1" dirty="0">
                          <a:solidFill>
                            <a:schemeClr val="bg1"/>
                          </a:solidFill>
                        </a:rPr>
                        <a:t>Block</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Azure (recommended)</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Our prototype</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r>
              <a:tr h="502920">
                <a:tc>
                  <a:txBody>
                    <a:bodyPr/>
                    <a:lstStyle/>
                    <a:p>
                      <a:pPr indent="0" marL="0">
                        <a:buNone/>
                      </a:pPr>
                      <a:r>
                        <a:rPr lang="en-US" sz="1400" dirty="0">
                          <a:solidFill>
                            <a:schemeClr val="tx1"/>
                          </a:solidFill>
                        </a:rPr>
                        <a:t>CNC / sensors → protocol</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OPC UA + MQTT</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MQTT, ISA-95 topic tree</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502920">
                <a:tc>
                  <a:txBody>
                    <a:bodyPr/>
                    <a:lstStyle/>
                    <a:p>
                      <a:pPr indent="0" marL="0">
                        <a:buNone/>
                      </a:pPr>
                      <a:r>
                        <a:rPr lang="en-US" sz="1400" dirty="0">
                          <a:solidFill>
                            <a:schemeClr val="tx1"/>
                          </a:solidFill>
                        </a:rPr>
                        <a:t>Edge gateway</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IoT Operations, 7-day buffer</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Python gateway, store-and-forward</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502920">
                <a:tc>
                  <a:txBody>
                    <a:bodyPr/>
                    <a:lstStyle/>
                    <a:p>
                      <a:pPr indent="0" marL="0">
                        <a:buNone/>
                      </a:pPr>
                      <a:r>
                        <a:rPr lang="en-US" sz="1400" dirty="0">
                          <a:solidFill>
                            <a:schemeClr val="tx1"/>
                          </a:solidFill>
                        </a:rPr>
                        <a:t>Ingestion</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IoT Hub / Event Hubs</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MQTT broker → loader</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502920">
                <a:tc>
                  <a:txBody>
                    <a:bodyPr/>
                    <a:lstStyle/>
                    <a:p>
                      <a:pPr indent="0" marL="0">
                        <a:buNone/>
                      </a:pPr>
                      <a:r>
                        <a:rPr lang="en-US" sz="1400" dirty="0">
                          <a:solidFill>
                            <a:schemeClr val="tx1"/>
                          </a:solidFill>
                        </a:rPr>
                        <a:t>Lake / time-series</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ADLS lakehouse + Eventhouse</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Parquet, bronze / silver / gold</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502920">
                <a:tc>
                  <a:txBody>
                    <a:bodyPr/>
                    <a:lstStyle/>
                    <a:p>
                      <a:pPr indent="0" marL="0">
                        <a:buNone/>
                      </a:pPr>
                      <a:r>
                        <a:rPr lang="en-US" sz="1400" dirty="0">
                          <a:solidFill>
                            <a:schemeClr val="tx1"/>
                          </a:solidFill>
                        </a:rPr>
                        <a:t>SQL database</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Azure Database for PostgreSQL</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b="1" dirty="0">
                          <a:solidFill>
                            <a:schemeClr val="accent1"/>
                          </a:solidFill>
                        </a:rPr>
                        <a:t>PostgreSQL 16 + Google BigQuery</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502920">
                <a:tc>
                  <a:txBody>
                    <a:bodyPr/>
                    <a:lstStyle/>
                    <a:p>
                      <a:pPr indent="0" marL="0">
                        <a:buNone/>
                      </a:pPr>
                      <a:r>
                        <a:rPr lang="en-US" sz="1400" dirty="0">
                          <a:solidFill>
                            <a:schemeClr val="tx1"/>
                          </a:solidFill>
                        </a:rPr>
                        <a:t>Analytics / AI</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Azure ML / Fabric</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scikit-learn models</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502920">
                <a:tc>
                  <a:txBody>
                    <a:bodyPr/>
                    <a:lstStyle/>
                    <a:p>
                      <a:pPr indent="0" marL="0">
                        <a:buNone/>
                      </a:pPr>
                      <a:r>
                        <a:rPr lang="en-US" sz="1400" dirty="0">
                          <a:solidFill>
                            <a:schemeClr val="tx1"/>
                          </a:solidFill>
                        </a:rPr>
                        <a:t>Dashboard → decision</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Power BI</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b="1" dirty="0">
                          <a:solidFill>
                            <a:schemeClr val="accent1"/>
                          </a:solidFill>
                        </a:rPr>
                        <a:t>Streamlit, live</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bl>
          </a:graphicData>
        </a:graphic>
      </p:graphicFrame>
      <p:sp>
        <p:nvSpPr>
          <p:cNvPr id="5" name="Text 2"/>
          <p:cNvSpPr txBox="1"/>
          <p:nvPr/>
        </p:nvSpPr>
        <p:spPr>
          <a:xfrm>
            <a:off x="548640" y="5806440"/>
            <a:ext cx="10972800" cy="365760"/>
          </a:xfrm>
          <a:prstGeom prst="rect">
            <a:avLst/>
          </a:prstGeom>
          <a:noFill/>
          <a:ln/>
        </p:spPr>
        <p:txBody>
          <a:bodyPr wrap="square" lIns="0" tIns="0" rIns="0" bIns="0" rtlCol="0" anchor="t"/>
          <a:lstStyle/>
          <a:p>
            <a:pPr indent="0" marL="0">
              <a:buNone/>
            </a:pPr>
            <a:r>
              <a:rPr lang="en-US" sz="1500" b="1" dirty="0">
                <a:solidFill>
                  <a:schemeClr val="accent2"/>
                </a:solidFill>
              </a:rPr>
              <a:t>Open formats everywhere: the same data moved to BigQuery with identical query results.</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PART G · EDGE VS CLOUD</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We cut the internet. 0 of 482 messages lost</a:t>
            </a:r>
            <a:endParaRPr lang="en-US" sz="3400" dirty="0"/>
          </a:p>
        </p:txBody>
      </p:sp>
      <p:sp>
        <p:nvSpPr>
          <p:cNvPr id="4" name="card"/>
          <p:cNvSpPr/>
          <p:nvPr/>
        </p:nvSpPr>
        <p:spPr>
          <a:xfrm>
            <a:off x="548640" y="1645920"/>
            <a:ext cx="3566160" cy="2926080"/>
          </a:xfrm>
          <a:prstGeom prst="roundRect">
            <a:avLst>
              <a:gd name="adj" fmla="val 2500"/>
            </a:avLst>
          </a:prstGeom>
          <a:solidFill>
            <a:schemeClr val="bg2"/>
          </a:solidFill>
          <a:ln w="12700">
            <a:solidFill>
              <a:schemeClr val="bg2"/>
            </a:solidFill>
            <a:prstDash val="solid"/>
          </a:ln>
        </p:spPr>
      </p:sp>
      <p:sp>
        <p:nvSpPr>
          <p:cNvPr id="5" name="Text 3"/>
          <p:cNvSpPr txBox="1"/>
          <p:nvPr/>
        </p:nvSpPr>
        <p:spPr>
          <a:xfrm>
            <a:off x="777240" y="1783080"/>
            <a:ext cx="3108960" cy="320040"/>
          </a:xfrm>
          <a:prstGeom prst="rect">
            <a:avLst/>
          </a:prstGeom>
          <a:noFill/>
          <a:ln/>
        </p:spPr>
        <p:txBody>
          <a:bodyPr wrap="square" lIns="0" tIns="0" rIns="0" bIns="0" rtlCol="0" anchor="t"/>
          <a:lstStyle/>
          <a:p>
            <a:pPr indent="0" marL="0">
              <a:buNone/>
            </a:pPr>
            <a:r>
              <a:rPr lang="en-US" sz="1300" b="1" spc="100" kern="0" dirty="0">
                <a:solidFill>
                  <a:schemeClr val="accent1"/>
                </a:solidFill>
              </a:rPr>
              <a:t>AT THE EDGE</a:t>
            </a:r>
            <a:endParaRPr lang="en-US" sz="1300" dirty="0"/>
          </a:p>
        </p:txBody>
      </p:sp>
      <p:sp>
        <p:nvSpPr>
          <p:cNvPr id="6" name="Text 4"/>
          <p:cNvSpPr txBox="1"/>
          <p:nvPr/>
        </p:nvSpPr>
        <p:spPr>
          <a:xfrm>
            <a:off x="777240" y="2194560"/>
            <a:ext cx="3154680" cy="22860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2 kHz vibration → features</a:t>
            </a:r>
            <a:endParaRPr lang="en-US" sz="1500" dirty="0"/>
          </a:p>
          <a:p>
            <a:pPr marL="203200" indent="-203200">
              <a:spcAft>
                <a:spcPts val="600"/>
              </a:spcAft>
              <a:buSzPct val="100000"/>
              <a:buChar char="•"/>
            </a:pPr>
            <a:r>
              <a:rPr lang="en-US" sz="1500" dirty="0">
                <a:solidFill>
                  <a:schemeClr val="tx1"/>
                </a:solidFill>
              </a:rPr>
              <a:t>Immediate alarms, machine protection</a:t>
            </a:r>
            <a:endParaRPr lang="en-US" sz="1500" dirty="0"/>
          </a:p>
          <a:p>
            <a:pPr marL="203200" indent="-203200">
              <a:spcAft>
                <a:spcPts val="600"/>
              </a:spcAft>
              <a:buSzPct val="100000"/>
              <a:buChar char="•"/>
            </a:pPr>
            <a:r>
              <a:rPr lang="en-US" sz="1500" dirty="0">
                <a:solidFill>
                  <a:schemeClr val="tx1"/>
                </a:solidFill>
              </a:rPr>
              <a:t>Noise filtering, aggregation</a:t>
            </a:r>
            <a:endParaRPr lang="en-US" sz="1500" dirty="0"/>
          </a:p>
          <a:p>
            <a:pPr marL="203200" indent="-203200">
              <a:spcAft>
                <a:spcPts val="600"/>
              </a:spcAft>
              <a:buSzPct val="100000"/>
              <a:buChar char="•"/>
            </a:pPr>
            <a:r>
              <a:rPr lang="en-US" sz="1500" dirty="0">
                <a:solidFill>
                  <a:schemeClr val="tx1"/>
                </a:solidFill>
              </a:rPr>
              <a:t>Store-and-forward buffering</a:t>
            </a:r>
            <a:endParaRPr lang="en-US" sz="1500" dirty="0"/>
          </a:p>
        </p:txBody>
      </p:sp>
      <p:sp>
        <p:nvSpPr>
          <p:cNvPr id="7" name="card"/>
          <p:cNvSpPr/>
          <p:nvPr/>
        </p:nvSpPr>
        <p:spPr>
          <a:xfrm>
            <a:off x="4297680" y="1645920"/>
            <a:ext cx="3566160" cy="2926080"/>
          </a:xfrm>
          <a:prstGeom prst="roundRect">
            <a:avLst>
              <a:gd name="adj" fmla="val 2500"/>
            </a:avLst>
          </a:prstGeom>
          <a:solidFill>
            <a:schemeClr val="bg2"/>
          </a:solidFill>
          <a:ln w="12700">
            <a:solidFill>
              <a:schemeClr val="bg2"/>
            </a:solidFill>
            <a:prstDash val="solid"/>
          </a:ln>
        </p:spPr>
      </p:sp>
      <p:sp>
        <p:nvSpPr>
          <p:cNvPr id="8" name="Text 6"/>
          <p:cNvSpPr txBox="1"/>
          <p:nvPr/>
        </p:nvSpPr>
        <p:spPr>
          <a:xfrm>
            <a:off x="4526280" y="1783080"/>
            <a:ext cx="3108960" cy="320040"/>
          </a:xfrm>
          <a:prstGeom prst="rect">
            <a:avLst/>
          </a:prstGeom>
          <a:noFill/>
          <a:ln/>
        </p:spPr>
        <p:txBody>
          <a:bodyPr wrap="square" lIns="0" tIns="0" rIns="0" bIns="0" rtlCol="0" anchor="t"/>
          <a:lstStyle/>
          <a:p>
            <a:pPr indent="0" marL="0">
              <a:buNone/>
            </a:pPr>
            <a:r>
              <a:rPr lang="en-US" sz="1300" b="1" spc="100" kern="0" dirty="0">
                <a:solidFill>
                  <a:schemeClr val="accent2"/>
                </a:solidFill>
              </a:rPr>
              <a:t>IN THE CLOUD</a:t>
            </a:r>
            <a:endParaRPr lang="en-US" sz="1300" dirty="0"/>
          </a:p>
        </p:txBody>
      </p:sp>
      <p:sp>
        <p:nvSpPr>
          <p:cNvPr id="9" name="Text 7"/>
          <p:cNvSpPr txBox="1"/>
          <p:nvPr/>
        </p:nvSpPr>
        <p:spPr>
          <a:xfrm>
            <a:off x="4526280" y="2194560"/>
            <a:ext cx="3154680" cy="22860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Fleet-level and historical analysis</a:t>
            </a:r>
            <a:endParaRPr lang="en-US" sz="1500" dirty="0"/>
          </a:p>
          <a:p>
            <a:pPr marL="203200" indent="-203200">
              <a:spcAft>
                <a:spcPts val="600"/>
              </a:spcAft>
              <a:buSzPct val="100000"/>
              <a:buChar char="•"/>
            </a:pPr>
            <a:r>
              <a:rPr lang="en-US" sz="1500" dirty="0">
                <a:solidFill>
                  <a:schemeClr val="tx1"/>
                </a:solidFill>
              </a:rPr>
              <a:t>Long-term lakehouse storage</a:t>
            </a:r>
            <a:endParaRPr lang="en-US" sz="1500" dirty="0"/>
          </a:p>
          <a:p>
            <a:pPr marL="203200" indent="-203200">
              <a:spcAft>
                <a:spcPts val="600"/>
              </a:spcAft>
              <a:buSzPct val="100000"/>
              <a:buChar char="•"/>
            </a:pPr>
            <a:r>
              <a:rPr lang="en-US" sz="1500" dirty="0">
                <a:solidFill>
                  <a:schemeClr val="tx1"/>
                </a:solidFill>
              </a:rPr>
              <a:t>ML training and management</a:t>
            </a:r>
            <a:endParaRPr lang="en-US" sz="1500" dirty="0"/>
          </a:p>
          <a:p>
            <a:pPr marL="203200" indent="-203200">
              <a:spcAft>
                <a:spcPts val="600"/>
              </a:spcAft>
              <a:buSzPct val="100000"/>
              <a:buChar char="•"/>
            </a:pPr>
            <a:r>
              <a:rPr lang="en-US" sz="1500" dirty="0">
                <a:solidFill>
                  <a:schemeClr val="tx1"/>
                </a:solidFill>
              </a:rPr>
              <a:t>Dashboards, remote access</a:t>
            </a:r>
            <a:endParaRPr lang="en-US" sz="1500" dirty="0"/>
          </a:p>
        </p:txBody>
      </p:sp>
      <p:sp>
        <p:nvSpPr>
          <p:cNvPr id="10" name="card"/>
          <p:cNvSpPr/>
          <p:nvPr/>
        </p:nvSpPr>
        <p:spPr>
          <a:xfrm>
            <a:off x="8092440" y="1645920"/>
            <a:ext cx="3547872" cy="2926080"/>
          </a:xfrm>
          <a:prstGeom prst="roundRect">
            <a:avLst>
              <a:gd name="adj" fmla="val 2500"/>
            </a:avLst>
          </a:prstGeom>
          <a:solidFill>
            <a:schemeClr val="tx1"/>
          </a:solidFill>
          <a:ln w="12700">
            <a:solidFill>
              <a:schemeClr val="tx1"/>
            </a:solidFill>
            <a:prstDash val="solid"/>
          </a:ln>
        </p:spPr>
      </p:sp>
      <p:sp>
        <p:nvSpPr>
          <p:cNvPr id="11" name="Text 9"/>
          <p:cNvSpPr txBox="1"/>
          <p:nvPr/>
        </p:nvSpPr>
        <p:spPr>
          <a:xfrm>
            <a:off x="8321040" y="1828800"/>
            <a:ext cx="3200400" cy="914400"/>
          </a:xfrm>
          <a:prstGeom prst="rect">
            <a:avLst/>
          </a:prstGeom>
          <a:noFill/>
          <a:ln/>
        </p:spPr>
        <p:txBody>
          <a:bodyPr wrap="square" lIns="0" tIns="0" rIns="0" bIns="0" rtlCol="0" anchor="t"/>
          <a:lstStyle/>
          <a:p>
            <a:pPr indent="0" marL="0">
              <a:buNone/>
            </a:pPr>
            <a:r>
              <a:rPr lang="en-US" sz="5000" b="1" dirty="0">
                <a:solidFill>
                  <a:schemeClr val="accent1"/>
                </a:solidFill>
              </a:rPr>
              <a:t>0 / 482</a:t>
            </a:r>
            <a:endParaRPr lang="en-US" sz="5000" dirty="0"/>
          </a:p>
        </p:txBody>
      </p:sp>
      <p:sp>
        <p:nvSpPr>
          <p:cNvPr id="12" name="Text 10"/>
          <p:cNvSpPr txBox="1"/>
          <p:nvPr/>
        </p:nvSpPr>
        <p:spPr>
          <a:xfrm>
            <a:off x="8321040" y="2834640"/>
            <a:ext cx="3108960" cy="1097280"/>
          </a:xfrm>
          <a:prstGeom prst="rect">
            <a:avLst/>
          </a:prstGeom>
          <a:noFill/>
          <a:ln/>
        </p:spPr>
        <p:txBody>
          <a:bodyPr wrap="square" lIns="0" tIns="0" rIns="0" bIns="0" rtlCol="0" anchor="t"/>
          <a:lstStyle/>
          <a:p>
            <a:pPr indent="0" marL="0">
              <a:buNone/>
            </a:pPr>
            <a:r>
              <a:rPr lang="en-US" sz="1500" dirty="0">
                <a:solidFill>
                  <a:schemeClr val="bg1"/>
                </a:solidFill>
              </a:rPr>
              <a:t>messages lost when we stopped the receiver, then cut the link. 0 duplicates.</a:t>
            </a:r>
            <a:endParaRPr lang="en-US" sz="1500" dirty="0"/>
          </a:p>
        </p:txBody>
      </p:sp>
      <p:sp>
        <p:nvSpPr>
          <p:cNvPr id="13" name="Text 11"/>
          <p:cNvSpPr txBox="1"/>
          <p:nvPr/>
        </p:nvSpPr>
        <p:spPr>
          <a:xfrm>
            <a:off x="548640" y="4892040"/>
            <a:ext cx="1737360" cy="365760"/>
          </a:xfrm>
          <a:prstGeom prst="rect">
            <a:avLst/>
          </a:prstGeom>
          <a:noFill/>
          <a:ln/>
        </p:spPr>
        <p:txBody>
          <a:bodyPr wrap="square" lIns="0" tIns="0" rIns="0" bIns="0" rtlCol="0" anchor="t"/>
          <a:lstStyle/>
          <a:p>
            <a:pPr indent="0" marL="0">
              <a:buNone/>
            </a:pPr>
            <a:r>
              <a:rPr lang="en-US" sz="1600" b="1" dirty="0">
                <a:solidFill>
                  <a:schemeClr val="accent2"/>
                </a:solidFill>
              </a:rPr>
              <a:t>Latency</a:t>
            </a:r>
            <a:endParaRPr lang="en-US" sz="1600" dirty="0"/>
          </a:p>
        </p:txBody>
      </p:sp>
      <p:sp>
        <p:nvSpPr>
          <p:cNvPr id="14" name="Text 12"/>
          <p:cNvSpPr txBox="1"/>
          <p:nvPr/>
        </p:nvSpPr>
        <p:spPr>
          <a:xfrm>
            <a:off x="548640" y="5257800"/>
            <a:ext cx="1737360" cy="548640"/>
          </a:xfrm>
          <a:prstGeom prst="rect">
            <a:avLst/>
          </a:prstGeom>
          <a:noFill/>
          <a:ln/>
        </p:spPr>
        <p:txBody>
          <a:bodyPr wrap="square" lIns="0" tIns="0" rIns="0" bIns="0" rtlCol="0" anchor="t"/>
          <a:lstStyle/>
          <a:p>
            <a:pPr indent="0" marL="0">
              <a:buNone/>
            </a:pPr>
            <a:r>
              <a:rPr lang="en-US" sz="1400" dirty="0">
                <a:solidFill>
                  <a:schemeClr val="tx2"/>
                </a:solidFill>
              </a:rPr>
              <a:t>ms protection</a:t>
            </a:r>
            <a:endParaRPr lang="en-US" sz="1400" dirty="0"/>
          </a:p>
        </p:txBody>
      </p:sp>
      <p:sp>
        <p:nvSpPr>
          <p:cNvPr id="15" name="Text 13"/>
          <p:cNvSpPr txBox="1"/>
          <p:nvPr/>
        </p:nvSpPr>
        <p:spPr>
          <a:xfrm>
            <a:off x="2423160" y="4892040"/>
            <a:ext cx="1737360" cy="365760"/>
          </a:xfrm>
          <a:prstGeom prst="rect">
            <a:avLst/>
          </a:prstGeom>
          <a:noFill/>
          <a:ln/>
        </p:spPr>
        <p:txBody>
          <a:bodyPr wrap="square" lIns="0" tIns="0" rIns="0" bIns="0" rtlCol="0" anchor="t"/>
          <a:lstStyle/>
          <a:p>
            <a:pPr indent="0" marL="0">
              <a:buNone/>
            </a:pPr>
            <a:r>
              <a:rPr lang="en-US" sz="1600" b="1" dirty="0">
                <a:solidFill>
                  <a:schemeClr val="accent2"/>
                </a:solidFill>
              </a:rPr>
              <a:t>Reliability</a:t>
            </a:r>
            <a:endParaRPr lang="en-US" sz="1600" dirty="0"/>
          </a:p>
        </p:txBody>
      </p:sp>
      <p:sp>
        <p:nvSpPr>
          <p:cNvPr id="16" name="Text 14"/>
          <p:cNvSpPr txBox="1"/>
          <p:nvPr/>
        </p:nvSpPr>
        <p:spPr>
          <a:xfrm>
            <a:off x="2423160" y="5257800"/>
            <a:ext cx="1737360" cy="548640"/>
          </a:xfrm>
          <a:prstGeom prst="rect">
            <a:avLst/>
          </a:prstGeom>
          <a:noFill/>
          <a:ln/>
        </p:spPr>
        <p:txBody>
          <a:bodyPr wrap="square" lIns="0" tIns="0" rIns="0" bIns="0" rtlCol="0" anchor="t"/>
          <a:lstStyle/>
          <a:p>
            <a:pPr indent="0" marL="0">
              <a:buNone/>
            </a:pPr>
            <a:r>
              <a:rPr lang="en-US" sz="1400" dirty="0">
                <a:solidFill>
                  <a:schemeClr val="tx2"/>
                </a:solidFill>
              </a:rPr>
              <a:t>survives outages</a:t>
            </a:r>
            <a:endParaRPr lang="en-US" sz="1400" dirty="0"/>
          </a:p>
        </p:txBody>
      </p:sp>
      <p:sp>
        <p:nvSpPr>
          <p:cNvPr id="17" name="Text 15"/>
          <p:cNvSpPr txBox="1"/>
          <p:nvPr/>
        </p:nvSpPr>
        <p:spPr>
          <a:xfrm>
            <a:off x="4297680" y="4892040"/>
            <a:ext cx="1737360" cy="365760"/>
          </a:xfrm>
          <a:prstGeom prst="rect">
            <a:avLst/>
          </a:prstGeom>
          <a:noFill/>
          <a:ln/>
        </p:spPr>
        <p:txBody>
          <a:bodyPr wrap="square" lIns="0" tIns="0" rIns="0" bIns="0" rtlCol="0" anchor="t"/>
          <a:lstStyle/>
          <a:p>
            <a:pPr indent="0" marL="0">
              <a:buNone/>
            </a:pPr>
            <a:r>
              <a:rPr lang="en-US" sz="1600" b="1" dirty="0">
                <a:solidFill>
                  <a:schemeClr val="accent2"/>
                </a:solidFill>
              </a:rPr>
              <a:t>Bandwidth</a:t>
            </a:r>
            <a:endParaRPr lang="en-US" sz="1600" dirty="0"/>
          </a:p>
        </p:txBody>
      </p:sp>
      <p:sp>
        <p:nvSpPr>
          <p:cNvPr id="18" name="Text 16"/>
          <p:cNvSpPr txBox="1"/>
          <p:nvPr/>
        </p:nvSpPr>
        <p:spPr>
          <a:xfrm>
            <a:off x="4297680" y="5257800"/>
            <a:ext cx="1737360" cy="548640"/>
          </a:xfrm>
          <a:prstGeom prst="rect">
            <a:avLst/>
          </a:prstGeom>
          <a:noFill/>
          <a:ln/>
        </p:spPr>
        <p:txBody>
          <a:bodyPr wrap="square" lIns="0" tIns="0" rIns="0" bIns="0" rtlCol="0" anchor="t"/>
          <a:lstStyle/>
          <a:p>
            <a:pPr indent="0" marL="0">
              <a:buNone/>
            </a:pPr>
            <a:r>
              <a:rPr lang="en-US" sz="1400" dirty="0">
                <a:solidFill>
                  <a:schemeClr val="tx2"/>
                </a:solidFill>
              </a:rPr>
              <a:t>143× less</a:t>
            </a:r>
            <a:endParaRPr lang="en-US" sz="1400" dirty="0"/>
          </a:p>
        </p:txBody>
      </p:sp>
      <p:sp>
        <p:nvSpPr>
          <p:cNvPr id="19" name="Text 17"/>
          <p:cNvSpPr txBox="1"/>
          <p:nvPr/>
        </p:nvSpPr>
        <p:spPr>
          <a:xfrm>
            <a:off x="6172200" y="4892040"/>
            <a:ext cx="1737360" cy="365760"/>
          </a:xfrm>
          <a:prstGeom prst="rect">
            <a:avLst/>
          </a:prstGeom>
          <a:noFill/>
          <a:ln/>
        </p:spPr>
        <p:txBody>
          <a:bodyPr wrap="square" lIns="0" tIns="0" rIns="0" bIns="0" rtlCol="0" anchor="t"/>
          <a:lstStyle/>
          <a:p>
            <a:pPr indent="0" marL="0">
              <a:buNone/>
            </a:pPr>
            <a:r>
              <a:rPr lang="en-US" sz="1600" b="1" dirty="0">
                <a:solidFill>
                  <a:schemeClr val="accent2"/>
                </a:solidFill>
              </a:rPr>
              <a:t>Cost</a:t>
            </a:r>
            <a:endParaRPr lang="en-US" sz="1600" dirty="0"/>
          </a:p>
        </p:txBody>
      </p:sp>
      <p:sp>
        <p:nvSpPr>
          <p:cNvPr id="20" name="Text 18"/>
          <p:cNvSpPr txBox="1"/>
          <p:nvPr/>
        </p:nvSpPr>
        <p:spPr>
          <a:xfrm>
            <a:off x="6172200" y="5257800"/>
            <a:ext cx="1737360" cy="548640"/>
          </a:xfrm>
          <a:prstGeom prst="rect">
            <a:avLst/>
          </a:prstGeom>
          <a:noFill/>
          <a:ln/>
        </p:spPr>
        <p:txBody>
          <a:bodyPr wrap="square" lIns="0" tIns="0" rIns="0" bIns="0" rtlCol="0" anchor="t"/>
          <a:lstStyle/>
          <a:p>
            <a:pPr indent="0" marL="0">
              <a:buNone/>
            </a:pPr>
            <a:r>
              <a:rPr lang="en-US" sz="1400" dirty="0">
                <a:solidFill>
                  <a:schemeClr val="tx2"/>
                </a:solidFill>
              </a:rPr>
              <a:t>lakhs → thousands</a:t>
            </a:r>
            <a:endParaRPr lang="en-US" sz="1400" dirty="0"/>
          </a:p>
        </p:txBody>
      </p:sp>
      <p:sp>
        <p:nvSpPr>
          <p:cNvPr id="21" name="Text 19"/>
          <p:cNvSpPr txBox="1"/>
          <p:nvPr/>
        </p:nvSpPr>
        <p:spPr>
          <a:xfrm>
            <a:off x="8046720" y="4892040"/>
            <a:ext cx="1737360" cy="365760"/>
          </a:xfrm>
          <a:prstGeom prst="rect">
            <a:avLst/>
          </a:prstGeom>
          <a:noFill/>
          <a:ln/>
        </p:spPr>
        <p:txBody>
          <a:bodyPr wrap="square" lIns="0" tIns="0" rIns="0" bIns="0" rtlCol="0" anchor="t"/>
          <a:lstStyle/>
          <a:p>
            <a:pPr indent="0" marL="0">
              <a:buNone/>
            </a:pPr>
            <a:r>
              <a:rPr lang="en-US" sz="1600" b="1" dirty="0">
                <a:solidFill>
                  <a:schemeClr val="accent2"/>
                </a:solidFill>
              </a:rPr>
              <a:t>Security</a:t>
            </a:r>
            <a:endParaRPr lang="en-US" sz="1600" dirty="0"/>
          </a:p>
        </p:txBody>
      </p:sp>
      <p:sp>
        <p:nvSpPr>
          <p:cNvPr id="22" name="Text 20"/>
          <p:cNvSpPr txBox="1"/>
          <p:nvPr/>
        </p:nvSpPr>
        <p:spPr>
          <a:xfrm>
            <a:off x="8046720" y="5257800"/>
            <a:ext cx="1737360" cy="548640"/>
          </a:xfrm>
          <a:prstGeom prst="rect">
            <a:avLst/>
          </a:prstGeom>
          <a:noFill/>
          <a:ln/>
        </p:spPr>
        <p:txBody>
          <a:bodyPr wrap="square" lIns="0" tIns="0" rIns="0" bIns="0" rtlCol="0" anchor="t"/>
          <a:lstStyle/>
          <a:p>
            <a:pPr indent="0" marL="0">
              <a:buNone/>
            </a:pPr>
            <a:r>
              <a:rPr lang="en-US" sz="1400" dirty="0">
                <a:solidFill>
                  <a:schemeClr val="tx2"/>
                </a:solidFill>
              </a:rPr>
              <a:t>outbound only, IEC 62443</a:t>
            </a:r>
            <a:endParaRPr lang="en-US" sz="1400" dirty="0"/>
          </a:p>
        </p:txBody>
      </p:sp>
      <p:sp>
        <p:nvSpPr>
          <p:cNvPr id="23" name="Text 21"/>
          <p:cNvSpPr txBox="1"/>
          <p:nvPr/>
        </p:nvSpPr>
        <p:spPr>
          <a:xfrm>
            <a:off x="9921240" y="4892040"/>
            <a:ext cx="1737360" cy="365760"/>
          </a:xfrm>
          <a:prstGeom prst="rect">
            <a:avLst/>
          </a:prstGeom>
          <a:noFill/>
          <a:ln/>
        </p:spPr>
        <p:txBody>
          <a:bodyPr wrap="square" lIns="0" tIns="0" rIns="0" bIns="0" rtlCol="0" anchor="t"/>
          <a:lstStyle/>
          <a:p>
            <a:pPr indent="0" marL="0">
              <a:buNone/>
            </a:pPr>
            <a:r>
              <a:rPr lang="en-US" sz="1600" b="1" dirty="0">
                <a:solidFill>
                  <a:schemeClr val="accent2"/>
                </a:solidFill>
              </a:rPr>
              <a:t>Scale</a:t>
            </a:r>
            <a:endParaRPr lang="en-US" sz="1600" dirty="0"/>
          </a:p>
        </p:txBody>
      </p:sp>
      <p:sp>
        <p:nvSpPr>
          <p:cNvPr id="24" name="Text 22"/>
          <p:cNvSpPr txBox="1"/>
          <p:nvPr/>
        </p:nvSpPr>
        <p:spPr>
          <a:xfrm>
            <a:off x="9921240" y="5257800"/>
            <a:ext cx="1737360" cy="548640"/>
          </a:xfrm>
          <a:prstGeom prst="rect">
            <a:avLst/>
          </a:prstGeom>
          <a:noFill/>
          <a:ln/>
        </p:spPr>
        <p:txBody>
          <a:bodyPr wrap="square" lIns="0" tIns="0" rIns="0" bIns="0" rtlCol="0" anchor="t"/>
          <a:lstStyle/>
          <a:p>
            <a:pPr indent="0" marL="0">
              <a:buNone/>
            </a:pPr>
            <a:r>
              <a:rPr lang="en-US" sz="1400" dirty="0">
                <a:solidFill>
                  <a:schemeClr val="tx2"/>
                </a:solidFill>
              </a:rPr>
              <a:t>one node per plant</a:t>
            </a:r>
            <a:endParaRPr lang="en-US" sz="14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PART D · SQL</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876,100 machine-hours, same answers on two engines</a:t>
            </a:r>
            <a:endParaRPr lang="en-US" sz="3400" dirty="0"/>
          </a:p>
        </p:txBody>
      </p:sp>
      <p:pic>
        <p:nvPicPr>
          <p:cNvPr id="4" name="Image 0" descr="Entity-relationship diagram">    </p:cNvPr>
          <p:cNvPicPr>
            <a:picLocks noChangeAspect="1"/>
          </p:cNvPicPr>
          <p:nvPr/>
        </p:nvPicPr>
        <p:blipFill>
          <a:blip r:embed="rId1"/>
          <a:stretch>
            <a:fillRect/>
          </a:stretch>
        </p:blipFill>
        <p:spPr>
          <a:xfrm>
            <a:off x="548640" y="1600200"/>
            <a:ext cx="4023360" cy="4416552"/>
          </a:xfrm>
          <a:prstGeom prst="rect">
            <a:avLst/>
          </a:prstGeom>
        </p:spPr>
      </p:pic>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937760" y="1645920"/>
          <a:ext cx="6702552" cy="914400"/>
        </p:xfrm>
        <a:graphic>
          <a:graphicData uri="http://schemas.openxmlformats.org/drawingml/2006/table">
            <a:tbl>
              <a:tblPr/>
              <a:tblGrid>
                <a:gridCol w="2743200"/>
                <a:gridCol w="3959352"/>
              </a:tblGrid>
              <a:tr h="475488">
                <a:tc>
                  <a:txBody>
                    <a:bodyPr/>
                    <a:lstStyle/>
                    <a:p>
                      <a:pPr indent="0" marL="0">
                        <a:buNone/>
                      </a:pPr>
                      <a:r>
                        <a:rPr lang="en-US" sz="1400" b="1" dirty="0">
                          <a:solidFill>
                            <a:schemeClr val="bg1"/>
                          </a:solidFill>
                        </a:rPr>
                        <a:t>Question</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Answer</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r>
              <a:tr h="475488">
                <a:tc>
                  <a:txBody>
                    <a:bodyPr/>
                    <a:lstStyle/>
                    <a:p>
                      <a:pPr indent="0" marL="0">
                        <a:buNone/>
                      </a:pPr>
                      <a:r>
                        <a:rPr lang="en-US" sz="1400" dirty="0">
                          <a:solidFill>
                            <a:schemeClr val="tx1"/>
                          </a:solidFill>
                        </a:rPr>
                        <a:t>Most parts produced</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P3-TURN-05 · 199,677</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475488">
                <a:tc>
                  <a:txBody>
                    <a:bodyPr/>
                    <a:lstStyle/>
                    <a:p>
                      <a:pPr indent="0" marL="0">
                        <a:buNone/>
                      </a:pPr>
                      <a:r>
                        <a:rPr lang="en-US" sz="1400" dirty="0">
                          <a:solidFill>
                            <a:schemeClr val="tx1"/>
                          </a:solidFill>
                        </a:rPr>
                        <a:t>Highest rejection rate</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P2-GRIND-06 · 1.97%</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475488">
                <a:tc>
                  <a:txBody>
                    <a:bodyPr/>
                    <a:lstStyle/>
                    <a:p>
                      <a:pPr indent="0" marL="0">
                        <a:buNone/>
                      </a:pPr>
                      <a:r>
                        <a:rPr lang="en-US" sz="1400" dirty="0">
                          <a:solidFill>
                            <a:schemeClr val="tx1"/>
                          </a:solidFill>
                        </a:rPr>
                        <a:t>Longest continuous run</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P1-HMC-18 · 209 h</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475488">
                <a:tc>
                  <a:txBody>
                    <a:bodyPr/>
                    <a:lstStyle/>
                    <a:p>
                      <a:pPr indent="0" marL="0">
                        <a:buNone/>
                      </a:pPr>
                      <a:r>
                        <a:rPr lang="en-US" sz="1400" dirty="0">
                          <a:solidFill>
                            <a:schemeClr val="tx1"/>
                          </a:solidFill>
                        </a:rPr>
                        <a:t>Highest average vibration</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P1-VMC-13 · 1.86 mm/s (ISO zone B)</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475488">
                <a:tc>
                  <a:txBody>
                    <a:bodyPr/>
                    <a:lstStyle/>
                    <a:p>
                      <a:pPr indent="0" marL="0">
                        <a:buNone/>
                      </a:pPr>
                      <a:r>
                        <a:rPr lang="en-US" sz="1400" dirty="0">
                          <a:solidFill>
                            <a:schemeClr val="tx1"/>
                          </a:solidFill>
                        </a:rPr>
                        <a:t>Parts on 16 Jun 2025</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23,974 (381 rejected)</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475488">
                <a:tc>
                  <a:txBody>
                    <a:bodyPr/>
                    <a:lstStyle/>
                    <a:p>
                      <a:pPr indent="0" marL="0">
                        <a:buNone/>
                      </a:pPr>
                      <a:r>
                        <a:rPr lang="en-US" sz="1400" dirty="0">
                          <a:solidFill>
                            <a:schemeClr val="tx1"/>
                          </a:solidFill>
                        </a:rPr>
                        <a:t>Fleet OEE</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400" dirty="0">
                          <a:solidFill>
                            <a:schemeClr val="tx1"/>
                          </a:solidFill>
                        </a:rPr>
                        <a:t>75.3% (world-class 85%)</a:t>
                      </a:r>
                      <a:endParaRPr lang="en-US" sz="14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bl>
          </a:graphicData>
        </a:graphic>
      </p:graphicFrame>
      <p:sp>
        <p:nvSpPr>
          <p:cNvPr id="6" name="Shape 2"/>
          <p:cNvSpPr/>
          <p:nvPr/>
        </p:nvSpPr>
        <p:spPr>
          <a:xfrm>
            <a:off x="4937760" y="5257800"/>
            <a:ext cx="3246120" cy="685800"/>
          </a:xfrm>
          <a:prstGeom prst="roundRect">
            <a:avLst>
              <a:gd name="adj" fmla="val 13333"/>
            </a:avLst>
          </a:prstGeom>
          <a:solidFill>
            <a:schemeClr val="bg2"/>
          </a:solidFill>
          <a:ln w="12700">
            <a:solidFill>
              <a:schemeClr val="bg2"/>
            </a:solidFill>
            <a:prstDash val="solid"/>
          </a:ln>
        </p:spPr>
      </p:sp>
      <p:sp>
        <p:nvSpPr>
          <p:cNvPr id="7" name="Text 3"/>
          <p:cNvSpPr txBox="1"/>
          <p:nvPr/>
        </p:nvSpPr>
        <p:spPr>
          <a:xfrm>
            <a:off x="4937760" y="5257800"/>
            <a:ext cx="3246120" cy="685800"/>
          </a:xfrm>
          <a:prstGeom prst="rect">
            <a:avLst/>
          </a:prstGeom>
          <a:noFill/>
          <a:ln/>
        </p:spPr>
        <p:txBody>
          <a:bodyPr wrap="square" lIns="0" tIns="0" rIns="0" bIns="0" rtlCol="0" anchor="ctr"/>
          <a:lstStyle/>
          <a:p>
            <a:pPr algn="ctr" indent="0" marL="0">
              <a:buNone/>
            </a:pPr>
            <a:r>
              <a:rPr lang="en-US" sz="1500" b="1" dirty="0">
                <a:solidFill>
                  <a:schemeClr val="tx1"/>
                </a:solidFill>
              </a:rPr>
              <a:t>PostgreSQL 16 (local)</a:t>
            </a:r>
            <a:endParaRPr lang="en-US" sz="1500" dirty="0"/>
          </a:p>
        </p:txBody>
      </p:sp>
      <p:sp>
        <p:nvSpPr>
          <p:cNvPr id="8" name="Text 4"/>
          <p:cNvSpPr txBox="1"/>
          <p:nvPr/>
        </p:nvSpPr>
        <p:spPr>
          <a:xfrm>
            <a:off x="8183880" y="5257800"/>
            <a:ext cx="365760" cy="685800"/>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9" name="Shape 5"/>
          <p:cNvSpPr/>
          <p:nvPr/>
        </p:nvSpPr>
        <p:spPr>
          <a:xfrm>
            <a:off x="8549640" y="5257800"/>
            <a:ext cx="3090672" cy="685800"/>
          </a:xfrm>
          <a:prstGeom prst="roundRect">
            <a:avLst>
              <a:gd name="adj" fmla="val 13333"/>
            </a:avLst>
          </a:prstGeom>
          <a:solidFill>
            <a:schemeClr val="accent1"/>
          </a:solidFill>
          <a:ln w="12700">
            <a:solidFill>
              <a:schemeClr val="accent1"/>
            </a:solidFill>
            <a:prstDash val="solid"/>
          </a:ln>
        </p:spPr>
      </p:sp>
      <p:sp>
        <p:nvSpPr>
          <p:cNvPr id="10" name="Text 6"/>
          <p:cNvSpPr txBox="1"/>
          <p:nvPr/>
        </p:nvSpPr>
        <p:spPr>
          <a:xfrm>
            <a:off x="8549640" y="5257800"/>
            <a:ext cx="3090672" cy="685800"/>
          </a:xfrm>
          <a:prstGeom prst="rect">
            <a:avLst/>
          </a:prstGeom>
          <a:noFill/>
          <a:ln/>
        </p:spPr>
        <p:txBody>
          <a:bodyPr wrap="square" lIns="0" tIns="0" rIns="0" bIns="0" rtlCol="0" anchor="ctr"/>
          <a:lstStyle/>
          <a:p>
            <a:pPr algn="ctr" indent="0" marL="0">
              <a:buNone/>
            </a:pPr>
            <a:r>
              <a:rPr lang="en-US" sz="1500" b="1" dirty="0">
                <a:solidFill>
                  <a:schemeClr val="bg1"/>
                </a:solidFill>
              </a:rPr>
              <a:t>BigQuery (Mumbai)</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ANALYTICS AND ML</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Descriptive → diagnostic → predictive → prescriptive</a:t>
            </a:r>
            <a:endParaRPr lang="en-US" sz="3400" dirty="0"/>
          </a:p>
        </p:txBody>
      </p:sp>
      <p:sp>
        <p:nvSpPr>
          <p:cNvPr id="4" name="Shape 2"/>
          <p:cNvSpPr/>
          <p:nvPr/>
        </p:nvSpPr>
        <p:spPr>
          <a:xfrm>
            <a:off x="548640" y="4297680"/>
            <a:ext cx="2057400" cy="1828800"/>
          </a:xfrm>
          <a:prstGeom prst="roundRect">
            <a:avLst>
              <a:gd name="adj" fmla="val 4000"/>
            </a:avLst>
          </a:prstGeom>
          <a:solidFill>
            <a:schemeClr val="bg2"/>
          </a:solidFill>
          <a:ln w="12700">
            <a:solidFill>
              <a:schemeClr val="bg2"/>
            </a:solidFill>
            <a:prstDash val="solid"/>
          </a:ln>
        </p:spPr>
      </p:sp>
      <p:sp>
        <p:nvSpPr>
          <p:cNvPr id="5" name="Text 3"/>
          <p:cNvSpPr txBox="1"/>
          <p:nvPr/>
        </p:nvSpPr>
        <p:spPr>
          <a:xfrm>
            <a:off x="731520" y="4462272"/>
            <a:ext cx="1691640" cy="365760"/>
          </a:xfrm>
          <a:prstGeom prst="rect">
            <a:avLst/>
          </a:prstGeom>
          <a:noFill/>
          <a:ln/>
        </p:spPr>
        <p:txBody>
          <a:bodyPr wrap="square" lIns="0" tIns="0" rIns="0" bIns="0" rtlCol="0" anchor="t"/>
          <a:lstStyle/>
          <a:p>
            <a:pPr indent="0" marL="0">
              <a:buNone/>
            </a:pPr>
            <a:r>
              <a:rPr lang="en-US" sz="1800" b="1" dirty="0">
                <a:solidFill>
                  <a:schemeClr val="tx1"/>
                </a:solidFill>
              </a:rPr>
              <a:t>Descriptive</a:t>
            </a:r>
            <a:endParaRPr lang="en-US" sz="1800" dirty="0"/>
          </a:p>
        </p:txBody>
      </p:sp>
      <p:sp>
        <p:nvSpPr>
          <p:cNvPr id="6" name="Text 4"/>
          <p:cNvSpPr txBox="1"/>
          <p:nvPr/>
        </p:nvSpPr>
        <p:spPr>
          <a:xfrm>
            <a:off x="731520" y="4846320"/>
            <a:ext cx="1691640" cy="320040"/>
          </a:xfrm>
          <a:prstGeom prst="rect">
            <a:avLst/>
          </a:prstGeom>
          <a:noFill/>
          <a:ln/>
        </p:spPr>
        <p:txBody>
          <a:bodyPr wrap="square" lIns="0" tIns="0" rIns="0" bIns="0" rtlCol="0" anchor="t"/>
          <a:lstStyle/>
          <a:p>
            <a:pPr indent="0" marL="0">
              <a:buNone/>
            </a:pPr>
            <a:r>
              <a:rPr lang="en-US" sz="1400" i="1" dirty="0">
                <a:solidFill>
                  <a:schemeClr val="accent3"/>
                </a:solidFill>
              </a:rPr>
              <a:t>What happened?</a:t>
            </a:r>
            <a:endParaRPr lang="en-US" sz="1400" dirty="0"/>
          </a:p>
        </p:txBody>
      </p:sp>
      <p:sp>
        <p:nvSpPr>
          <p:cNvPr id="7" name="Text 5"/>
          <p:cNvSpPr txBox="1"/>
          <p:nvPr/>
        </p:nvSpPr>
        <p:spPr>
          <a:xfrm>
            <a:off x="731520" y="5212080"/>
            <a:ext cx="1691640" cy="822960"/>
          </a:xfrm>
          <a:prstGeom prst="rect">
            <a:avLst/>
          </a:prstGeom>
          <a:noFill/>
          <a:ln/>
        </p:spPr>
        <p:txBody>
          <a:bodyPr wrap="square" lIns="0" tIns="0" rIns="0" bIns="0" rtlCol="0" anchor="t"/>
          <a:lstStyle/>
          <a:p>
            <a:pPr indent="0" marL="0">
              <a:buNone/>
            </a:pPr>
            <a:r>
              <a:rPr lang="en-US" sz="1400" dirty="0">
                <a:solidFill>
                  <a:schemeClr val="tx1"/>
                </a:solidFill>
              </a:rPr>
              <a:t>KPIs, OEE 75.3%, reject rates</a:t>
            </a:r>
            <a:endParaRPr lang="en-US" sz="1400" dirty="0"/>
          </a:p>
        </p:txBody>
      </p:sp>
      <p:sp>
        <p:nvSpPr>
          <p:cNvPr id="8" name="Shape 6"/>
          <p:cNvSpPr/>
          <p:nvPr/>
        </p:nvSpPr>
        <p:spPr>
          <a:xfrm>
            <a:off x="2743200" y="3611880"/>
            <a:ext cx="2057400" cy="2514600"/>
          </a:xfrm>
          <a:prstGeom prst="roundRect">
            <a:avLst>
              <a:gd name="adj" fmla="val 3556"/>
            </a:avLst>
          </a:prstGeom>
          <a:solidFill>
            <a:schemeClr val="bg2"/>
          </a:solidFill>
          <a:ln w="12700">
            <a:solidFill>
              <a:schemeClr val="bg2"/>
            </a:solidFill>
            <a:prstDash val="solid"/>
          </a:ln>
        </p:spPr>
      </p:sp>
      <p:sp>
        <p:nvSpPr>
          <p:cNvPr id="9" name="Text 7"/>
          <p:cNvSpPr txBox="1"/>
          <p:nvPr/>
        </p:nvSpPr>
        <p:spPr>
          <a:xfrm>
            <a:off x="2926080" y="3776472"/>
            <a:ext cx="1691640" cy="365760"/>
          </a:xfrm>
          <a:prstGeom prst="rect">
            <a:avLst/>
          </a:prstGeom>
          <a:noFill/>
          <a:ln/>
        </p:spPr>
        <p:txBody>
          <a:bodyPr wrap="square" lIns="0" tIns="0" rIns="0" bIns="0" rtlCol="0" anchor="t"/>
          <a:lstStyle/>
          <a:p>
            <a:pPr indent="0" marL="0">
              <a:buNone/>
            </a:pPr>
            <a:r>
              <a:rPr lang="en-US" sz="1800" b="1" dirty="0">
                <a:solidFill>
                  <a:schemeClr val="tx1"/>
                </a:solidFill>
              </a:rPr>
              <a:t>Diagnostic</a:t>
            </a:r>
            <a:endParaRPr lang="en-US" sz="1800" dirty="0"/>
          </a:p>
        </p:txBody>
      </p:sp>
      <p:sp>
        <p:nvSpPr>
          <p:cNvPr id="10" name="Text 8"/>
          <p:cNvSpPr txBox="1"/>
          <p:nvPr/>
        </p:nvSpPr>
        <p:spPr>
          <a:xfrm>
            <a:off x="2926080" y="4160520"/>
            <a:ext cx="1691640" cy="320040"/>
          </a:xfrm>
          <a:prstGeom prst="rect">
            <a:avLst/>
          </a:prstGeom>
          <a:noFill/>
          <a:ln/>
        </p:spPr>
        <p:txBody>
          <a:bodyPr wrap="square" lIns="0" tIns="0" rIns="0" bIns="0" rtlCol="0" anchor="t"/>
          <a:lstStyle/>
          <a:p>
            <a:pPr indent="0" marL="0">
              <a:buNone/>
            </a:pPr>
            <a:r>
              <a:rPr lang="en-US" sz="1400" i="1" dirty="0">
                <a:solidFill>
                  <a:schemeClr val="accent3"/>
                </a:solidFill>
              </a:rPr>
              <a:t>Why?</a:t>
            </a:r>
            <a:endParaRPr lang="en-US" sz="1400" dirty="0"/>
          </a:p>
        </p:txBody>
      </p:sp>
      <p:sp>
        <p:nvSpPr>
          <p:cNvPr id="11" name="Text 9"/>
          <p:cNvSpPr txBox="1"/>
          <p:nvPr/>
        </p:nvSpPr>
        <p:spPr>
          <a:xfrm>
            <a:off x="2926080" y="4526280"/>
            <a:ext cx="1691640" cy="1508760"/>
          </a:xfrm>
          <a:prstGeom prst="rect">
            <a:avLst/>
          </a:prstGeom>
          <a:noFill/>
          <a:ln/>
        </p:spPr>
        <p:txBody>
          <a:bodyPr wrap="square" lIns="0" tIns="0" rIns="0" bIns="0" rtlCol="0" anchor="t"/>
          <a:lstStyle/>
          <a:p>
            <a:pPr indent="0" marL="0">
              <a:buNone/>
            </a:pPr>
            <a:r>
              <a:rPr lang="en-US" sz="1400" dirty="0">
                <a:solidFill>
                  <a:schemeClr val="tx1"/>
                </a:solidFill>
              </a:rPr>
              <a:t>Alarm Pareto, ISO 10816 vibration zones</a:t>
            </a:r>
            <a:endParaRPr lang="en-US" sz="1400" dirty="0"/>
          </a:p>
        </p:txBody>
      </p:sp>
      <p:sp>
        <p:nvSpPr>
          <p:cNvPr id="12" name="Shape 10"/>
          <p:cNvSpPr/>
          <p:nvPr/>
        </p:nvSpPr>
        <p:spPr>
          <a:xfrm>
            <a:off x="4937760" y="2926080"/>
            <a:ext cx="2057400" cy="3200400"/>
          </a:xfrm>
          <a:prstGeom prst="roundRect">
            <a:avLst>
              <a:gd name="adj" fmla="val 3556"/>
            </a:avLst>
          </a:prstGeom>
          <a:solidFill>
            <a:schemeClr val="bg2"/>
          </a:solidFill>
          <a:ln w="12700">
            <a:solidFill>
              <a:schemeClr val="bg2"/>
            </a:solidFill>
            <a:prstDash val="solid"/>
          </a:ln>
        </p:spPr>
      </p:sp>
      <p:sp>
        <p:nvSpPr>
          <p:cNvPr id="13" name="Text 11"/>
          <p:cNvSpPr txBox="1"/>
          <p:nvPr/>
        </p:nvSpPr>
        <p:spPr>
          <a:xfrm>
            <a:off x="5120640" y="3090672"/>
            <a:ext cx="1691640" cy="365760"/>
          </a:xfrm>
          <a:prstGeom prst="rect">
            <a:avLst/>
          </a:prstGeom>
          <a:noFill/>
          <a:ln/>
        </p:spPr>
        <p:txBody>
          <a:bodyPr wrap="square" lIns="0" tIns="0" rIns="0" bIns="0" rtlCol="0" anchor="t"/>
          <a:lstStyle/>
          <a:p>
            <a:pPr indent="0" marL="0">
              <a:buNone/>
            </a:pPr>
            <a:r>
              <a:rPr lang="en-US" sz="1800" b="1" dirty="0">
                <a:solidFill>
                  <a:schemeClr val="tx1"/>
                </a:solidFill>
              </a:rPr>
              <a:t>Predictive</a:t>
            </a:r>
            <a:endParaRPr lang="en-US" sz="1800" dirty="0"/>
          </a:p>
        </p:txBody>
      </p:sp>
      <p:sp>
        <p:nvSpPr>
          <p:cNvPr id="14" name="Text 12"/>
          <p:cNvSpPr txBox="1"/>
          <p:nvPr/>
        </p:nvSpPr>
        <p:spPr>
          <a:xfrm>
            <a:off x="5120640" y="3474720"/>
            <a:ext cx="1691640" cy="320040"/>
          </a:xfrm>
          <a:prstGeom prst="rect">
            <a:avLst/>
          </a:prstGeom>
          <a:noFill/>
          <a:ln/>
        </p:spPr>
        <p:txBody>
          <a:bodyPr wrap="square" lIns="0" tIns="0" rIns="0" bIns="0" rtlCol="0" anchor="t"/>
          <a:lstStyle/>
          <a:p>
            <a:pPr indent="0" marL="0">
              <a:buNone/>
            </a:pPr>
            <a:r>
              <a:rPr lang="en-US" sz="1400" i="1" dirty="0">
                <a:solidFill>
                  <a:schemeClr val="accent3"/>
                </a:solidFill>
              </a:rPr>
              <a:t>What next?</a:t>
            </a:r>
            <a:endParaRPr lang="en-US" sz="1400" dirty="0"/>
          </a:p>
        </p:txBody>
      </p:sp>
      <p:sp>
        <p:nvSpPr>
          <p:cNvPr id="15" name="Text 13"/>
          <p:cNvSpPr txBox="1"/>
          <p:nvPr/>
        </p:nvSpPr>
        <p:spPr>
          <a:xfrm>
            <a:off x="5120640" y="3840480"/>
            <a:ext cx="1691640" cy="2194560"/>
          </a:xfrm>
          <a:prstGeom prst="rect">
            <a:avLst/>
          </a:prstGeom>
          <a:noFill/>
          <a:ln/>
        </p:spPr>
        <p:txBody>
          <a:bodyPr wrap="square" lIns="0" tIns="0" rIns="0" bIns="0" rtlCol="0" anchor="t"/>
          <a:lstStyle/>
          <a:p>
            <a:pPr indent="0" marL="0">
              <a:buNone/>
            </a:pPr>
            <a:r>
              <a:rPr lang="en-US" sz="1400" dirty="0">
                <a:solidFill>
                  <a:schemeClr val="tx1"/>
                </a:solidFill>
              </a:rPr>
              <a:t>Bosch anomaly ROC-AUC 0.98 (2019 → 2021), 24 h failure warning</a:t>
            </a:r>
            <a:endParaRPr lang="en-US" sz="1400" dirty="0"/>
          </a:p>
        </p:txBody>
      </p:sp>
      <p:sp>
        <p:nvSpPr>
          <p:cNvPr id="16" name="Shape 14"/>
          <p:cNvSpPr/>
          <p:nvPr/>
        </p:nvSpPr>
        <p:spPr>
          <a:xfrm>
            <a:off x="7132320" y="2240280"/>
            <a:ext cx="2057400" cy="3886200"/>
          </a:xfrm>
          <a:prstGeom prst="roundRect">
            <a:avLst>
              <a:gd name="adj" fmla="val 3556"/>
            </a:avLst>
          </a:prstGeom>
          <a:solidFill>
            <a:schemeClr val="accent1"/>
          </a:solidFill>
          <a:ln w="12700">
            <a:solidFill>
              <a:schemeClr val="accent1"/>
            </a:solidFill>
            <a:prstDash val="solid"/>
          </a:ln>
        </p:spPr>
      </p:sp>
      <p:sp>
        <p:nvSpPr>
          <p:cNvPr id="17" name="Text 15"/>
          <p:cNvSpPr txBox="1"/>
          <p:nvPr/>
        </p:nvSpPr>
        <p:spPr>
          <a:xfrm>
            <a:off x="7315200" y="2404872"/>
            <a:ext cx="1691640" cy="365760"/>
          </a:xfrm>
          <a:prstGeom prst="rect">
            <a:avLst/>
          </a:prstGeom>
          <a:noFill/>
          <a:ln/>
        </p:spPr>
        <p:txBody>
          <a:bodyPr wrap="square" lIns="0" tIns="0" rIns="0" bIns="0" rtlCol="0" anchor="t"/>
          <a:lstStyle/>
          <a:p>
            <a:pPr indent="0" marL="0">
              <a:buNone/>
            </a:pPr>
            <a:r>
              <a:rPr lang="en-US" sz="1800" b="1" dirty="0">
                <a:solidFill>
                  <a:schemeClr val="bg1"/>
                </a:solidFill>
              </a:rPr>
              <a:t>Prescriptive</a:t>
            </a:r>
            <a:endParaRPr lang="en-US" sz="1800" dirty="0"/>
          </a:p>
        </p:txBody>
      </p:sp>
      <p:sp>
        <p:nvSpPr>
          <p:cNvPr id="18" name="Text 16"/>
          <p:cNvSpPr txBox="1"/>
          <p:nvPr/>
        </p:nvSpPr>
        <p:spPr>
          <a:xfrm>
            <a:off x="7315200" y="2788920"/>
            <a:ext cx="1691640" cy="320040"/>
          </a:xfrm>
          <a:prstGeom prst="rect">
            <a:avLst/>
          </a:prstGeom>
          <a:noFill/>
          <a:ln/>
        </p:spPr>
        <p:txBody>
          <a:bodyPr wrap="square" lIns="0" tIns="0" rIns="0" bIns="0" rtlCol="0" anchor="t"/>
          <a:lstStyle/>
          <a:p>
            <a:pPr indent="0" marL="0">
              <a:buNone/>
            </a:pPr>
            <a:r>
              <a:rPr lang="en-US" sz="1400" i="1" dirty="0">
                <a:solidFill>
                  <a:schemeClr val="bg1"/>
                </a:solidFill>
              </a:rPr>
              <a:t>What to do?</a:t>
            </a:r>
            <a:endParaRPr lang="en-US" sz="1400" dirty="0"/>
          </a:p>
        </p:txBody>
      </p:sp>
      <p:sp>
        <p:nvSpPr>
          <p:cNvPr id="19" name="Text 17"/>
          <p:cNvSpPr txBox="1"/>
          <p:nvPr/>
        </p:nvSpPr>
        <p:spPr>
          <a:xfrm>
            <a:off x="7315200" y="3154680"/>
            <a:ext cx="1691640" cy="2880360"/>
          </a:xfrm>
          <a:prstGeom prst="rect">
            <a:avLst/>
          </a:prstGeom>
          <a:noFill/>
          <a:ln/>
        </p:spPr>
        <p:txBody>
          <a:bodyPr wrap="square" lIns="0" tIns="0" rIns="0" bIns="0" rtlCol="0" anchor="t"/>
          <a:lstStyle/>
          <a:p>
            <a:pPr indent="0" marL="0">
              <a:buNone/>
            </a:pPr>
            <a:r>
              <a:rPr lang="en-US" sz="1400" dirty="0">
                <a:solidFill>
                  <a:schemeClr val="bg1"/>
                </a:solidFill>
              </a:rPr>
              <a:t>Tool change on condition: rejects 1.50% → 0.92%</a:t>
            </a:r>
            <a:endParaRPr lang="en-US" sz="1400" dirty="0"/>
          </a:p>
        </p:txBody>
      </p:sp>
      <p:sp>
        <p:nvSpPr>
          <p:cNvPr id="20" name="card"/>
          <p:cNvSpPr/>
          <p:nvPr/>
        </p:nvSpPr>
        <p:spPr>
          <a:xfrm>
            <a:off x="9418320" y="1645920"/>
            <a:ext cx="2221992" cy="4480560"/>
          </a:xfrm>
          <a:prstGeom prst="roundRect">
            <a:avLst>
              <a:gd name="adj" fmla="val 3292"/>
            </a:avLst>
          </a:prstGeom>
          <a:solidFill>
            <a:schemeClr val="tx1"/>
          </a:solidFill>
          <a:ln w="12700">
            <a:solidFill>
              <a:schemeClr val="tx1"/>
            </a:solidFill>
            <a:prstDash val="solid"/>
          </a:ln>
        </p:spPr>
      </p:sp>
      <p:sp>
        <p:nvSpPr>
          <p:cNvPr id="21" name="Text 19"/>
          <p:cNvSpPr txBox="1"/>
          <p:nvPr/>
        </p:nvSpPr>
        <p:spPr>
          <a:xfrm>
            <a:off x="9555480" y="1828800"/>
            <a:ext cx="2011680" cy="822960"/>
          </a:xfrm>
          <a:prstGeom prst="rect">
            <a:avLst/>
          </a:prstGeom>
          <a:noFill/>
          <a:ln/>
        </p:spPr>
        <p:txBody>
          <a:bodyPr wrap="square" lIns="0" tIns="0" rIns="0" bIns="0" rtlCol="0" anchor="t"/>
          <a:lstStyle/>
          <a:p>
            <a:pPr indent="0" marL="0">
              <a:buNone/>
            </a:pPr>
            <a:r>
              <a:rPr lang="en-US" sz="3600" b="1" dirty="0">
                <a:solidFill>
                  <a:schemeClr val="accent1"/>
                </a:solidFill>
              </a:rPr>
              <a:t>₹5.8 cr</a:t>
            </a:r>
            <a:endParaRPr lang="en-US" sz="3600" dirty="0"/>
          </a:p>
        </p:txBody>
      </p:sp>
      <p:sp>
        <p:nvSpPr>
          <p:cNvPr id="22" name="Text 20"/>
          <p:cNvSpPr txBox="1"/>
          <p:nvPr/>
        </p:nvSpPr>
        <p:spPr>
          <a:xfrm>
            <a:off x="9555480" y="2651760"/>
            <a:ext cx="1920240" cy="731520"/>
          </a:xfrm>
          <a:prstGeom prst="rect">
            <a:avLst/>
          </a:prstGeom>
          <a:noFill/>
          <a:ln/>
        </p:spPr>
        <p:txBody>
          <a:bodyPr wrap="square" lIns="0" tIns="0" rIns="0" bIns="0" rtlCol="0" anchor="t"/>
          <a:lstStyle/>
          <a:p>
            <a:pPr indent="0" marL="0">
              <a:buNone/>
            </a:pPr>
            <a:r>
              <a:rPr lang="en-US" sz="1400" dirty="0">
                <a:solidFill>
                  <a:schemeClr val="bg1"/>
                </a:solidFill>
              </a:rPr>
              <a:t>estimated value a year (indicative)</a:t>
            </a:r>
            <a:endParaRPr lang="en-US" sz="1400" dirty="0"/>
          </a:p>
        </p:txBody>
      </p:sp>
      <p:sp>
        <p:nvSpPr>
          <p:cNvPr id="23" name="Text 21"/>
          <p:cNvSpPr txBox="1"/>
          <p:nvPr/>
        </p:nvSpPr>
        <p:spPr>
          <a:xfrm>
            <a:off x="9555480" y="3566160"/>
            <a:ext cx="1920240" cy="2194560"/>
          </a:xfrm>
          <a:prstGeom prst="rect">
            <a:avLst/>
          </a:prstGeom>
          <a:noFill/>
          <a:ln/>
        </p:spPr>
        <p:txBody>
          <a:bodyPr wrap="square" lIns="0" tIns="0" rIns="0" bIns="0" rtlCol="0" anchor="t"/>
          <a:lstStyle/>
          <a:p>
            <a:pPr indent="0" marL="0">
              <a:buNone/>
            </a:pPr>
            <a:r>
              <a:rPr lang="en-US" sz="1400" dirty="0">
                <a:solidFill>
                  <a:schemeClr val="accent6"/>
                </a:solidFill>
              </a:rPr>
              <a:t>We report precision too: one industry study found a 10% false-alarm rate wiped out the savings.</a:t>
            </a:r>
            <a:endParaRPr lang="en-US" sz="14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WHY IT MATTERS</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Downtime is expensive, and most factory data goes unused</a:t>
            </a:r>
            <a:endParaRPr lang="en-US" sz="3400" dirty="0"/>
          </a:p>
        </p:txBody>
      </p:sp>
      <p:sp>
        <p:nvSpPr>
          <p:cNvPr id="4" name="Text 2"/>
          <p:cNvSpPr txBox="1"/>
          <p:nvPr/>
        </p:nvSpPr>
        <p:spPr>
          <a:xfrm>
            <a:off x="548640" y="1783080"/>
            <a:ext cx="2194560" cy="868680"/>
          </a:xfrm>
          <a:prstGeom prst="rect">
            <a:avLst/>
          </a:prstGeom>
          <a:noFill/>
          <a:ln/>
        </p:spPr>
        <p:txBody>
          <a:bodyPr wrap="square" lIns="0" tIns="0" rIns="0" bIns="0" rtlCol="0" anchor="b"/>
          <a:lstStyle/>
          <a:p>
            <a:pPr indent="0" marL="0">
              <a:buNone/>
            </a:pPr>
            <a:r>
              <a:rPr lang="en-US" sz="3800" b="1" dirty="0">
                <a:solidFill>
                  <a:schemeClr val="accent1"/>
                </a:solidFill>
              </a:rPr>
              <a:t>$2.3 M</a:t>
            </a:r>
            <a:endParaRPr lang="en-US" sz="3800" dirty="0"/>
          </a:p>
        </p:txBody>
      </p:sp>
      <p:sp>
        <p:nvSpPr>
          <p:cNvPr id="5" name="Text 3"/>
          <p:cNvSpPr txBox="1"/>
          <p:nvPr/>
        </p:nvSpPr>
        <p:spPr>
          <a:xfrm>
            <a:off x="548640" y="2697480"/>
            <a:ext cx="2194560" cy="1097280"/>
          </a:xfrm>
          <a:prstGeom prst="rect">
            <a:avLst/>
          </a:prstGeom>
          <a:noFill/>
          <a:ln/>
        </p:spPr>
        <p:txBody>
          <a:bodyPr wrap="square" lIns="0" tIns="0" rIns="0" bIns="0" rtlCol="0" anchor="t"/>
          <a:lstStyle/>
          <a:p>
            <a:pPr indent="0" marL="0">
              <a:buNone/>
            </a:pPr>
            <a:r>
              <a:rPr lang="en-US" sz="1400" dirty="0">
                <a:solidFill>
                  <a:schemeClr val="tx2"/>
                </a:solidFill>
              </a:rPr>
              <a:t>per hour of downtime on an automotive line (Siemens, 2024)</a:t>
            </a:r>
            <a:endParaRPr lang="en-US" sz="1400" dirty="0"/>
          </a:p>
        </p:txBody>
      </p:sp>
      <p:sp>
        <p:nvSpPr>
          <p:cNvPr id="6" name="Text 4"/>
          <p:cNvSpPr txBox="1"/>
          <p:nvPr/>
        </p:nvSpPr>
        <p:spPr>
          <a:xfrm>
            <a:off x="2926080" y="1783080"/>
            <a:ext cx="2194560" cy="868680"/>
          </a:xfrm>
          <a:prstGeom prst="rect">
            <a:avLst/>
          </a:prstGeom>
          <a:noFill/>
          <a:ln/>
        </p:spPr>
        <p:txBody>
          <a:bodyPr wrap="square" lIns="0" tIns="0" rIns="0" bIns="0" rtlCol="0" anchor="b"/>
          <a:lstStyle/>
          <a:p>
            <a:pPr indent="0" marL="0">
              <a:buNone/>
            </a:pPr>
            <a:r>
              <a:rPr lang="en-US" sz="3800" b="1" dirty="0">
                <a:solidFill>
                  <a:schemeClr val="accent1"/>
                </a:solidFill>
              </a:rPr>
              <a:t>11%</a:t>
            </a:r>
            <a:endParaRPr lang="en-US" sz="3800" dirty="0"/>
          </a:p>
        </p:txBody>
      </p:sp>
      <p:sp>
        <p:nvSpPr>
          <p:cNvPr id="7" name="Text 5"/>
          <p:cNvSpPr txBox="1"/>
          <p:nvPr/>
        </p:nvSpPr>
        <p:spPr>
          <a:xfrm>
            <a:off x="2926080" y="2697480"/>
            <a:ext cx="2194560" cy="1097280"/>
          </a:xfrm>
          <a:prstGeom prst="rect">
            <a:avLst/>
          </a:prstGeom>
          <a:noFill/>
          <a:ln/>
        </p:spPr>
        <p:txBody>
          <a:bodyPr wrap="square" lIns="0" tIns="0" rIns="0" bIns="0" rtlCol="0" anchor="t"/>
          <a:lstStyle/>
          <a:p>
            <a:pPr indent="0" marL="0">
              <a:buNone/>
            </a:pPr>
            <a:r>
              <a:rPr lang="en-US" sz="1400" dirty="0">
                <a:solidFill>
                  <a:schemeClr val="tx2"/>
                </a:solidFill>
              </a:rPr>
              <a:t>of revenue lost to unplanned downtime by the 500 largest industrial firms</a:t>
            </a:r>
            <a:endParaRPr lang="en-US" sz="1400" dirty="0"/>
          </a:p>
        </p:txBody>
      </p:sp>
      <p:sp>
        <p:nvSpPr>
          <p:cNvPr id="8" name="Text 6"/>
          <p:cNvSpPr txBox="1"/>
          <p:nvPr/>
        </p:nvSpPr>
        <p:spPr>
          <a:xfrm>
            <a:off x="5303520" y="1783080"/>
            <a:ext cx="2194560" cy="868680"/>
          </a:xfrm>
          <a:prstGeom prst="rect">
            <a:avLst/>
          </a:prstGeom>
          <a:noFill/>
          <a:ln/>
        </p:spPr>
        <p:txBody>
          <a:bodyPr wrap="square" lIns="0" tIns="0" rIns="0" bIns="0" rtlCol="0" anchor="b"/>
          <a:lstStyle/>
          <a:p>
            <a:pPr indent="0" marL="0">
              <a:buNone/>
            </a:pPr>
            <a:r>
              <a:rPr lang="en-US" sz="3800" b="1" dirty="0">
                <a:solidFill>
                  <a:schemeClr val="accent1"/>
                </a:solidFill>
              </a:rPr>
              <a:t>80%</a:t>
            </a:r>
            <a:endParaRPr lang="en-US" sz="3800" dirty="0"/>
          </a:p>
        </p:txBody>
      </p:sp>
      <p:sp>
        <p:nvSpPr>
          <p:cNvPr id="9" name="Text 7"/>
          <p:cNvSpPr txBox="1"/>
          <p:nvPr/>
        </p:nvSpPr>
        <p:spPr>
          <a:xfrm>
            <a:off x="5303520" y="2697480"/>
            <a:ext cx="2194560" cy="1097280"/>
          </a:xfrm>
          <a:prstGeom prst="rect">
            <a:avLst/>
          </a:prstGeom>
          <a:noFill/>
          <a:ln/>
        </p:spPr>
        <p:txBody>
          <a:bodyPr wrap="square" lIns="0" tIns="0" rIns="0" bIns="0" rtlCol="0" anchor="t"/>
          <a:lstStyle/>
          <a:p>
            <a:pPr indent="0" marL="0">
              <a:buNone/>
            </a:pPr>
            <a:r>
              <a:rPr lang="en-US" sz="1400" dirty="0">
                <a:solidFill>
                  <a:schemeClr val="tx2"/>
                </a:solidFill>
              </a:rPr>
              <a:t>of industrial data is never used (ABB; WEF 2026)</a:t>
            </a:r>
            <a:endParaRPr lang="en-US" sz="1400" dirty="0"/>
          </a:p>
        </p:txBody>
      </p:sp>
      <p:sp>
        <p:nvSpPr>
          <p:cNvPr id="10" name="Text 8"/>
          <p:cNvSpPr txBox="1"/>
          <p:nvPr/>
        </p:nvSpPr>
        <p:spPr>
          <a:xfrm>
            <a:off x="548640" y="3886200"/>
            <a:ext cx="6858000" cy="365760"/>
          </a:xfrm>
          <a:prstGeom prst="rect">
            <a:avLst/>
          </a:prstGeom>
          <a:noFill/>
          <a:ln/>
        </p:spPr>
        <p:txBody>
          <a:bodyPr wrap="square" lIns="0" tIns="0" rIns="0" bIns="0" rtlCol="0" anchor="t"/>
          <a:lstStyle/>
          <a:p>
            <a:pPr indent="0" marL="0">
              <a:buNone/>
            </a:pPr>
            <a:r>
              <a:rPr lang="en-US" sz="1500" b="1" dirty="0">
                <a:solidFill>
                  <a:schemeClr val="accent2"/>
                </a:solidFill>
              </a:rPr>
              <a:t>Predictive maintenance typically cuts downtime 30–50% in mature programmes.</a:t>
            </a:r>
            <a:endParaRPr lang="en-US" sz="1500" dirty="0"/>
          </a:p>
        </p:txBody>
      </p:sp>
      <p:sp>
        <p:nvSpPr>
          <p:cNvPr id="11" name="card"/>
          <p:cNvSpPr/>
          <p:nvPr/>
        </p:nvSpPr>
        <p:spPr>
          <a:xfrm>
            <a:off x="7818120" y="1645920"/>
            <a:ext cx="3822192" cy="4480560"/>
          </a:xfrm>
          <a:prstGeom prst="roundRect">
            <a:avLst>
              <a:gd name="adj" fmla="val 1914"/>
            </a:avLst>
          </a:prstGeom>
          <a:solidFill>
            <a:schemeClr val="bg2"/>
          </a:solidFill>
          <a:ln w="12700">
            <a:solidFill>
              <a:schemeClr val="bg2"/>
            </a:solidFill>
            <a:prstDash val="solid"/>
          </a:ln>
        </p:spPr>
      </p:sp>
      <p:sp>
        <p:nvSpPr>
          <p:cNvPr id="12" name="Text 10"/>
          <p:cNvSpPr txBox="1"/>
          <p:nvPr/>
        </p:nvSpPr>
        <p:spPr>
          <a:xfrm>
            <a:off x="8046720" y="1828800"/>
            <a:ext cx="3383280" cy="365760"/>
          </a:xfrm>
          <a:prstGeom prst="rect">
            <a:avLst/>
          </a:prstGeom>
          <a:noFill/>
          <a:ln/>
        </p:spPr>
        <p:txBody>
          <a:bodyPr wrap="square" lIns="0" tIns="0" rIns="0" bIns="0" rtlCol="0" anchor="t"/>
          <a:lstStyle/>
          <a:p>
            <a:pPr indent="0" marL="0">
              <a:buNone/>
            </a:pPr>
            <a:r>
              <a:rPr lang="en-US" sz="1200" b="1" spc="100" kern="0" dirty="0">
                <a:solidFill>
                  <a:schemeClr val="accent1"/>
                </a:solidFill>
              </a:rPr>
              <a:t>WHAT WE'RE HONEST ABOUT</a:t>
            </a:r>
            <a:endParaRPr lang="en-US" sz="1200" dirty="0"/>
          </a:p>
        </p:txBody>
      </p:sp>
      <p:sp>
        <p:nvSpPr>
          <p:cNvPr id="13" name="Text 11"/>
          <p:cNvSpPr txBox="1"/>
          <p:nvPr/>
        </p:nvSpPr>
        <p:spPr>
          <a:xfrm>
            <a:off x="8046720" y="2286000"/>
            <a:ext cx="3383280" cy="35661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Fleet backbone is simulated, and labelled as such</a:t>
            </a:r>
            <a:endParaRPr lang="en-US" sz="1500" dirty="0"/>
          </a:p>
          <a:p>
            <a:pPr marL="203200" indent="-203200">
              <a:spcAft>
                <a:spcPts val="600"/>
              </a:spcAft>
              <a:buSzPct val="100000"/>
              <a:buChar char="•"/>
            </a:pPr>
            <a:r>
              <a:rPr lang="en-US" sz="1500" dirty="0">
                <a:solidFill>
                  <a:schemeClr val="tx1"/>
                </a:solidFill>
              </a:rPr>
              <a:t>Worn-tool model doesn't generalise across only 18 experiments</a:t>
            </a:r>
            <a:endParaRPr lang="en-US" sz="1500" dirty="0"/>
          </a:p>
          <a:p>
            <a:pPr marL="203200" indent="-203200">
              <a:spcAft>
                <a:spcPts val="600"/>
              </a:spcAft>
              <a:buSzPct val="100000"/>
              <a:buChar char="•"/>
            </a:pPr>
            <a:r>
              <a:rPr lang="en-US" sz="1500" dirty="0">
                <a:solidFill>
                  <a:schemeClr val="tx1"/>
                </a:solidFill>
              </a:rPr>
              <a:t>Cloud runs on a BigQuery sandbox, not production Azure</a:t>
            </a:r>
            <a:endParaRPr lang="en-US" sz="1500" dirty="0"/>
          </a:p>
        </p:txBody>
      </p:sp>
      <p:pic>
        <p:nvPicPr>
          <p:cNvPr id="14" name="Image 0" descr="Business impact in INR">    </p:cNvPr>
          <p:cNvPicPr>
            <a:picLocks noChangeAspect="1"/>
          </p:cNvPicPr>
          <p:nvPr/>
        </p:nvPicPr>
        <p:blipFill>
          <a:blip r:embed="rId1"/>
          <a:srcRect l="0" r="0" t="0" b="0"/>
          <a:stretch/>
        </p:blipFill>
        <p:spPr>
          <a:xfrm>
            <a:off x="548640" y="4343400"/>
            <a:ext cx="6858000" cy="1874520"/>
          </a:xfrm>
          <a:prstGeom prst="rect">
            <a:avLst/>
          </a:prstGeom>
        </p:spPr>
      </p:pic>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LIVE DEMO</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bg1"/>
                </a:solidFill>
              </a:rPr>
              <a:t>From BigQuery to the live dashboard</a:t>
            </a:r>
            <a:endParaRPr lang="en-US" sz="3400" dirty="0"/>
          </a:p>
        </p:txBody>
      </p:sp>
      <p:sp>
        <p:nvSpPr>
          <p:cNvPr id="4" name="Shape 2"/>
          <p:cNvSpPr/>
          <p:nvPr/>
        </p:nvSpPr>
        <p:spPr>
          <a:xfrm>
            <a:off x="548640" y="1691640"/>
            <a:ext cx="3291840" cy="960120"/>
          </a:xfrm>
          <a:prstGeom prst="roundRect">
            <a:avLst>
              <a:gd name="adj" fmla="val 9524"/>
            </a:avLst>
          </a:prstGeom>
          <a:solidFill>
            <a:schemeClr val="tx2"/>
          </a:solidFill>
          <a:ln w="12700">
            <a:solidFill>
              <a:schemeClr val="tx2"/>
            </a:solidFill>
            <a:prstDash val="solid"/>
          </a:ln>
        </p:spPr>
      </p:sp>
      <p:sp>
        <p:nvSpPr>
          <p:cNvPr id="5" name="Text 3"/>
          <p:cNvSpPr txBox="1"/>
          <p:nvPr/>
        </p:nvSpPr>
        <p:spPr>
          <a:xfrm>
            <a:off x="548640" y="1691640"/>
            <a:ext cx="3291840" cy="960120"/>
          </a:xfrm>
          <a:prstGeom prst="rect">
            <a:avLst/>
          </a:prstGeom>
          <a:noFill/>
          <a:ln/>
        </p:spPr>
        <p:txBody>
          <a:bodyPr wrap="square" lIns="0" tIns="0" rIns="0" bIns="0" rtlCol="0" anchor="ctr"/>
          <a:lstStyle/>
          <a:p>
            <a:pPr algn="ctr" indent="0" marL="0">
              <a:buNone/>
            </a:pPr>
            <a:r>
              <a:rPr lang="en-US" sz="1700" b="1" dirty="0">
                <a:solidFill>
                  <a:schemeClr val="bg1"/>
                </a:solidFill>
              </a:rPr>
              <a:t>Google BigQuery</a:t>
            </a:r>
            <a:endParaRPr lang="en-US" sz="1700" dirty="0"/>
          </a:p>
          <a:p>
            <a:pPr algn="ctr" indent="0" marL="0">
              <a:buNone/>
            </a:pPr>
            <a:r>
              <a:rPr lang="en-US" sz="1700" b="1" dirty="0">
                <a:solidFill>
                  <a:schemeClr val="bg1"/>
                </a:solidFill>
              </a:rPr>
              <a:t>asia-south1</a:t>
            </a:r>
            <a:endParaRPr lang="en-US" sz="1700" dirty="0"/>
          </a:p>
        </p:txBody>
      </p:sp>
      <p:sp>
        <p:nvSpPr>
          <p:cNvPr id="6" name="Text 4"/>
          <p:cNvSpPr txBox="1"/>
          <p:nvPr/>
        </p:nvSpPr>
        <p:spPr>
          <a:xfrm>
            <a:off x="3840480" y="1691640"/>
            <a:ext cx="502920" cy="960120"/>
          </a:xfrm>
          <a:prstGeom prst="rect">
            <a:avLst/>
          </a:prstGeom>
          <a:noFill/>
          <a:ln/>
        </p:spPr>
        <p:txBody>
          <a:bodyPr wrap="square" lIns="0" tIns="0" rIns="0" bIns="0" rtlCol="0" anchor="ctr"/>
          <a:lstStyle/>
          <a:p>
            <a:pPr algn="ctr" indent="0" marL="0">
              <a:buNone/>
            </a:pPr>
            <a:r>
              <a:rPr lang="en-US" sz="2800" b="1" dirty="0">
                <a:solidFill>
                  <a:schemeClr val="accent1"/>
                </a:solidFill>
              </a:rPr>
              <a:t>→</a:t>
            </a:r>
            <a:endParaRPr lang="en-US" sz="2800" dirty="0"/>
          </a:p>
        </p:txBody>
      </p:sp>
      <p:sp>
        <p:nvSpPr>
          <p:cNvPr id="7" name="Shape 5"/>
          <p:cNvSpPr/>
          <p:nvPr/>
        </p:nvSpPr>
        <p:spPr>
          <a:xfrm>
            <a:off x="4343400" y="1691640"/>
            <a:ext cx="3291840" cy="960120"/>
          </a:xfrm>
          <a:prstGeom prst="roundRect">
            <a:avLst>
              <a:gd name="adj" fmla="val 9524"/>
            </a:avLst>
          </a:prstGeom>
          <a:solidFill>
            <a:schemeClr val="tx2"/>
          </a:solidFill>
          <a:ln w="12700">
            <a:solidFill>
              <a:schemeClr val="tx2"/>
            </a:solidFill>
            <a:prstDash val="solid"/>
          </a:ln>
        </p:spPr>
      </p:sp>
      <p:sp>
        <p:nvSpPr>
          <p:cNvPr id="8" name="Text 6"/>
          <p:cNvSpPr txBox="1"/>
          <p:nvPr/>
        </p:nvSpPr>
        <p:spPr>
          <a:xfrm>
            <a:off x="4343400" y="1691640"/>
            <a:ext cx="3291840" cy="960120"/>
          </a:xfrm>
          <a:prstGeom prst="rect">
            <a:avLst/>
          </a:prstGeom>
          <a:noFill/>
          <a:ln/>
        </p:spPr>
        <p:txBody>
          <a:bodyPr wrap="square" lIns="0" tIns="0" rIns="0" bIns="0" rtlCol="0" anchor="ctr"/>
          <a:lstStyle/>
          <a:p>
            <a:pPr algn="ctr" indent="0" marL="0">
              <a:buNone/>
            </a:pPr>
            <a:r>
              <a:rPr lang="en-US" sz="1700" b="1" dirty="0">
                <a:solidFill>
                  <a:schemeClr val="bg1"/>
                </a:solidFill>
              </a:rPr>
              <a:t>Service account</a:t>
            </a:r>
            <a:endParaRPr lang="en-US" sz="1700" dirty="0"/>
          </a:p>
          <a:p>
            <a:pPr algn="ctr" indent="0" marL="0">
              <a:buNone/>
            </a:pPr>
            <a:r>
              <a:rPr lang="en-US" sz="1700" b="1" dirty="0">
                <a:solidFill>
                  <a:schemeClr val="bg1"/>
                </a:solidFill>
              </a:rPr>
              <a:t>read-only</a:t>
            </a:r>
            <a:endParaRPr lang="en-US" sz="1700" dirty="0"/>
          </a:p>
        </p:txBody>
      </p:sp>
      <p:sp>
        <p:nvSpPr>
          <p:cNvPr id="9" name="Text 7"/>
          <p:cNvSpPr txBox="1"/>
          <p:nvPr/>
        </p:nvSpPr>
        <p:spPr>
          <a:xfrm>
            <a:off x="7635240" y="1691640"/>
            <a:ext cx="502920" cy="960120"/>
          </a:xfrm>
          <a:prstGeom prst="rect">
            <a:avLst/>
          </a:prstGeom>
          <a:noFill/>
          <a:ln/>
        </p:spPr>
        <p:txBody>
          <a:bodyPr wrap="square" lIns="0" tIns="0" rIns="0" bIns="0" rtlCol="0" anchor="ctr"/>
          <a:lstStyle/>
          <a:p>
            <a:pPr algn="ctr" indent="0" marL="0">
              <a:buNone/>
            </a:pPr>
            <a:r>
              <a:rPr lang="en-US" sz="2800" b="1" dirty="0">
                <a:solidFill>
                  <a:schemeClr val="accent1"/>
                </a:solidFill>
              </a:rPr>
              <a:t>→</a:t>
            </a:r>
            <a:endParaRPr lang="en-US" sz="2800" dirty="0"/>
          </a:p>
        </p:txBody>
      </p:sp>
      <p:sp>
        <p:nvSpPr>
          <p:cNvPr id="10" name="Shape 8"/>
          <p:cNvSpPr/>
          <p:nvPr/>
        </p:nvSpPr>
        <p:spPr>
          <a:xfrm>
            <a:off x="8138160" y="1691640"/>
            <a:ext cx="3291840" cy="960120"/>
          </a:xfrm>
          <a:prstGeom prst="roundRect">
            <a:avLst>
              <a:gd name="adj" fmla="val 9524"/>
            </a:avLst>
          </a:prstGeom>
          <a:solidFill>
            <a:schemeClr val="accent1"/>
          </a:solidFill>
          <a:ln w="12700">
            <a:solidFill>
              <a:schemeClr val="accent1"/>
            </a:solidFill>
            <a:prstDash val="solid"/>
          </a:ln>
        </p:spPr>
      </p:sp>
      <p:sp>
        <p:nvSpPr>
          <p:cNvPr id="11" name="Text 9"/>
          <p:cNvSpPr txBox="1"/>
          <p:nvPr/>
        </p:nvSpPr>
        <p:spPr>
          <a:xfrm>
            <a:off x="8138160" y="1691640"/>
            <a:ext cx="3291840" cy="960120"/>
          </a:xfrm>
          <a:prstGeom prst="rect">
            <a:avLst/>
          </a:prstGeom>
          <a:noFill/>
          <a:ln/>
        </p:spPr>
        <p:txBody>
          <a:bodyPr wrap="square" lIns="0" tIns="0" rIns="0" bIns="0" rtlCol="0" anchor="ctr"/>
          <a:lstStyle/>
          <a:p>
            <a:pPr algn="ctr" indent="0" marL="0">
              <a:buNone/>
            </a:pPr>
            <a:r>
              <a:rPr lang="en-US" sz="1700" b="1" dirty="0">
                <a:solidFill>
                  <a:schemeClr val="bg1"/>
                </a:solidFill>
              </a:rPr>
              <a:t>Streamlit dashboard</a:t>
            </a:r>
            <a:endParaRPr lang="en-US" sz="1700" dirty="0"/>
          </a:p>
          <a:p>
            <a:pPr algn="ctr" indent="0" marL="0">
              <a:buNone/>
            </a:pPr>
            <a:r>
              <a:rPr lang="en-US" sz="1700" b="1" dirty="0">
                <a:solidFill>
                  <a:schemeClr val="bg1"/>
                </a:solidFill>
              </a:rPr>
              <a:t>8 pages</a:t>
            </a:r>
            <a:endParaRPr lang="en-US" sz="1700" dirty="0"/>
          </a:p>
        </p:txBody>
      </p:sp>
      <p:sp>
        <p:nvSpPr>
          <p:cNvPr id="12" name="Shape 10"/>
          <p:cNvSpPr/>
          <p:nvPr/>
        </p:nvSpPr>
        <p:spPr>
          <a:xfrm>
            <a:off x="548640" y="2971800"/>
            <a:ext cx="457200" cy="457200"/>
          </a:xfrm>
          <a:prstGeom prst="roundRect">
            <a:avLst>
              <a:gd name="adj" fmla="val 20000"/>
            </a:avLst>
          </a:prstGeom>
          <a:solidFill>
            <a:schemeClr val="accent1"/>
          </a:solidFill>
          <a:ln w="12700">
            <a:solidFill>
              <a:schemeClr val="accent1"/>
            </a:solidFill>
            <a:prstDash val="solid"/>
          </a:ln>
        </p:spPr>
      </p:sp>
      <p:sp>
        <p:nvSpPr>
          <p:cNvPr id="13" name="Text 11"/>
          <p:cNvSpPr txBox="1"/>
          <p:nvPr/>
        </p:nvSpPr>
        <p:spPr>
          <a:xfrm>
            <a:off x="548640" y="29718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4" name="Text 12"/>
          <p:cNvSpPr txBox="1"/>
          <p:nvPr/>
        </p:nvSpPr>
        <p:spPr>
          <a:xfrm>
            <a:off x="1188720" y="2971800"/>
            <a:ext cx="4846320" cy="457200"/>
          </a:xfrm>
          <a:prstGeom prst="rect">
            <a:avLst/>
          </a:prstGeom>
          <a:noFill/>
          <a:ln/>
        </p:spPr>
        <p:txBody>
          <a:bodyPr wrap="square" lIns="0" tIns="0" rIns="0" bIns="0" rtlCol="0" anchor="ctr"/>
          <a:lstStyle/>
          <a:p>
            <a:pPr indent="0" marL="0">
              <a:buNone/>
            </a:pPr>
            <a:r>
              <a:rPr lang="en-US" sz="1600" dirty="0">
                <a:solidFill>
                  <a:schemeClr val="bg1"/>
                </a:solidFill>
              </a:rPr>
              <a:t>Fleet overview: sidebar says “Google BigQuery”</a:t>
            </a:r>
            <a:endParaRPr lang="en-US" sz="1600" dirty="0"/>
          </a:p>
        </p:txBody>
      </p:sp>
      <p:sp>
        <p:nvSpPr>
          <p:cNvPr id="15" name="Shape 13"/>
          <p:cNvSpPr/>
          <p:nvPr/>
        </p:nvSpPr>
        <p:spPr>
          <a:xfrm>
            <a:off x="548640" y="3630168"/>
            <a:ext cx="457200" cy="457200"/>
          </a:xfrm>
          <a:prstGeom prst="roundRect">
            <a:avLst>
              <a:gd name="adj" fmla="val 20000"/>
            </a:avLst>
          </a:prstGeom>
          <a:solidFill>
            <a:schemeClr val="accent1"/>
          </a:solidFill>
          <a:ln w="12700">
            <a:solidFill>
              <a:schemeClr val="accent1"/>
            </a:solidFill>
            <a:prstDash val="solid"/>
          </a:ln>
        </p:spPr>
      </p:sp>
      <p:sp>
        <p:nvSpPr>
          <p:cNvPr id="16" name="Text 14"/>
          <p:cNvSpPr txBox="1"/>
          <p:nvPr/>
        </p:nvSpPr>
        <p:spPr>
          <a:xfrm>
            <a:off x="548640" y="363016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7" name="Text 15"/>
          <p:cNvSpPr txBox="1"/>
          <p:nvPr/>
        </p:nvSpPr>
        <p:spPr>
          <a:xfrm>
            <a:off x="1188720" y="3630168"/>
            <a:ext cx="4846320" cy="457200"/>
          </a:xfrm>
          <a:prstGeom prst="rect">
            <a:avLst/>
          </a:prstGeom>
          <a:noFill/>
          <a:ln/>
        </p:spPr>
        <p:txBody>
          <a:bodyPr wrap="square" lIns="0" tIns="0" rIns="0" bIns="0" rtlCol="0" anchor="ctr"/>
          <a:lstStyle/>
          <a:p>
            <a:pPr indent="0" marL="0">
              <a:buNone/>
            </a:pPr>
            <a:r>
              <a:rPr lang="en-US" sz="1600" dirty="0">
                <a:solidFill>
                  <a:schemeClr val="bg1"/>
                </a:solidFill>
              </a:rPr>
              <a:t>Plant drill-down: one plant's heat map</a:t>
            </a:r>
            <a:endParaRPr lang="en-US" sz="1600" dirty="0"/>
          </a:p>
        </p:txBody>
      </p:sp>
      <p:sp>
        <p:nvSpPr>
          <p:cNvPr id="18" name="Shape 16"/>
          <p:cNvSpPr/>
          <p:nvPr/>
        </p:nvSpPr>
        <p:spPr>
          <a:xfrm>
            <a:off x="548640" y="4288536"/>
            <a:ext cx="457200" cy="457200"/>
          </a:xfrm>
          <a:prstGeom prst="roundRect">
            <a:avLst>
              <a:gd name="adj" fmla="val 20000"/>
            </a:avLst>
          </a:prstGeom>
          <a:solidFill>
            <a:schemeClr val="accent1"/>
          </a:solidFill>
          <a:ln w="12700">
            <a:solidFill>
              <a:schemeClr val="accent1"/>
            </a:solidFill>
            <a:prstDash val="solid"/>
          </a:ln>
        </p:spPr>
      </p:sp>
      <p:sp>
        <p:nvSpPr>
          <p:cNvPr id="19" name="Text 17"/>
          <p:cNvSpPr txBox="1"/>
          <p:nvPr/>
        </p:nvSpPr>
        <p:spPr>
          <a:xfrm>
            <a:off x="548640" y="4288536"/>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0" name="Text 18"/>
          <p:cNvSpPr txBox="1"/>
          <p:nvPr/>
        </p:nvSpPr>
        <p:spPr>
          <a:xfrm>
            <a:off x="1188720" y="4288536"/>
            <a:ext cx="4846320" cy="457200"/>
          </a:xfrm>
          <a:prstGeom prst="rect">
            <a:avLst/>
          </a:prstGeom>
          <a:noFill/>
          <a:ln/>
        </p:spPr>
        <p:txBody>
          <a:bodyPr wrap="square" lIns="0" tIns="0" rIns="0" bIns="0" rtlCol="0" anchor="ctr"/>
          <a:lstStyle/>
          <a:p>
            <a:pPr indent="0" marL="0">
              <a:buNone/>
            </a:pPr>
            <a:r>
              <a:rPr lang="en-US" sz="1600" dirty="0">
                <a:solidFill>
                  <a:schemeClr val="bg1"/>
                </a:solidFill>
              </a:rPr>
              <a:t>Machine health: ISO 10816 zones</a:t>
            </a:r>
            <a:endParaRPr lang="en-US" sz="1600" dirty="0"/>
          </a:p>
        </p:txBody>
      </p:sp>
      <p:sp>
        <p:nvSpPr>
          <p:cNvPr id="21" name="Shape 19"/>
          <p:cNvSpPr/>
          <p:nvPr/>
        </p:nvSpPr>
        <p:spPr>
          <a:xfrm>
            <a:off x="548640" y="4946904"/>
            <a:ext cx="457200" cy="457200"/>
          </a:xfrm>
          <a:prstGeom prst="roundRect">
            <a:avLst>
              <a:gd name="adj" fmla="val 20000"/>
            </a:avLst>
          </a:prstGeom>
          <a:solidFill>
            <a:schemeClr val="accent1"/>
          </a:solidFill>
          <a:ln w="12700">
            <a:solidFill>
              <a:schemeClr val="accent1"/>
            </a:solidFill>
            <a:prstDash val="solid"/>
          </a:ln>
        </p:spPr>
      </p:sp>
      <p:sp>
        <p:nvSpPr>
          <p:cNvPr id="22" name="Text 20"/>
          <p:cNvSpPr txBox="1"/>
          <p:nvPr/>
        </p:nvSpPr>
        <p:spPr>
          <a:xfrm>
            <a:off x="548640" y="4946904"/>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3" name="Text 21"/>
          <p:cNvSpPr txBox="1"/>
          <p:nvPr/>
        </p:nvSpPr>
        <p:spPr>
          <a:xfrm>
            <a:off x="1188720" y="4946904"/>
            <a:ext cx="4846320" cy="457200"/>
          </a:xfrm>
          <a:prstGeom prst="rect">
            <a:avLst/>
          </a:prstGeom>
          <a:noFill/>
          <a:ln/>
        </p:spPr>
        <p:txBody>
          <a:bodyPr wrap="square" lIns="0" tIns="0" rIns="0" bIns="0" rtlCol="0" anchor="ctr"/>
          <a:lstStyle/>
          <a:p>
            <a:pPr indent="0" marL="0">
              <a:buNone/>
            </a:pPr>
            <a:r>
              <a:rPr lang="en-US" sz="1600" dirty="0">
                <a:solidFill>
                  <a:schemeClr val="bg1"/>
                </a:solidFill>
              </a:rPr>
              <a:t>Alarms: top 4 types ≈ 80%</a:t>
            </a:r>
            <a:endParaRPr lang="en-US" sz="1600" dirty="0"/>
          </a:p>
        </p:txBody>
      </p:sp>
      <p:sp>
        <p:nvSpPr>
          <p:cNvPr id="24" name="Shape 22"/>
          <p:cNvSpPr/>
          <p:nvPr/>
        </p:nvSpPr>
        <p:spPr>
          <a:xfrm>
            <a:off x="6172200" y="2971800"/>
            <a:ext cx="457200" cy="457200"/>
          </a:xfrm>
          <a:prstGeom prst="roundRect">
            <a:avLst>
              <a:gd name="adj" fmla="val 20000"/>
            </a:avLst>
          </a:prstGeom>
          <a:solidFill>
            <a:schemeClr val="accent1"/>
          </a:solidFill>
          <a:ln w="12700">
            <a:solidFill>
              <a:schemeClr val="accent1"/>
            </a:solidFill>
            <a:prstDash val="solid"/>
          </a:ln>
        </p:spPr>
      </p:sp>
      <p:sp>
        <p:nvSpPr>
          <p:cNvPr id="25" name="Text 23"/>
          <p:cNvSpPr txBox="1"/>
          <p:nvPr/>
        </p:nvSpPr>
        <p:spPr>
          <a:xfrm>
            <a:off x="6172200" y="29718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6" name="Text 24"/>
          <p:cNvSpPr txBox="1"/>
          <p:nvPr/>
        </p:nvSpPr>
        <p:spPr>
          <a:xfrm>
            <a:off x="6812280" y="2971800"/>
            <a:ext cx="4846320" cy="457200"/>
          </a:xfrm>
          <a:prstGeom prst="rect">
            <a:avLst/>
          </a:prstGeom>
          <a:noFill/>
          <a:ln/>
        </p:spPr>
        <p:txBody>
          <a:bodyPr wrap="square" lIns="0" tIns="0" rIns="0" bIns="0" rtlCol="0" anchor="ctr"/>
          <a:lstStyle/>
          <a:p>
            <a:pPr indent="0" marL="0">
              <a:buNone/>
            </a:pPr>
            <a:r>
              <a:rPr lang="en-US" sz="1600" dirty="0">
                <a:solidFill>
                  <a:schemeClr val="bg1"/>
                </a:solidFill>
              </a:rPr>
              <a:t>Edge demo: real Bosch waveform → 42 features</a:t>
            </a:r>
            <a:endParaRPr lang="en-US" sz="1600" dirty="0"/>
          </a:p>
        </p:txBody>
      </p:sp>
      <p:sp>
        <p:nvSpPr>
          <p:cNvPr id="27" name="Shape 25"/>
          <p:cNvSpPr/>
          <p:nvPr/>
        </p:nvSpPr>
        <p:spPr>
          <a:xfrm>
            <a:off x="6172200" y="3630168"/>
            <a:ext cx="457200" cy="457200"/>
          </a:xfrm>
          <a:prstGeom prst="roundRect">
            <a:avLst>
              <a:gd name="adj" fmla="val 20000"/>
            </a:avLst>
          </a:prstGeom>
          <a:solidFill>
            <a:schemeClr val="accent1"/>
          </a:solidFill>
          <a:ln w="12700">
            <a:solidFill>
              <a:schemeClr val="accent1"/>
            </a:solidFill>
            <a:prstDash val="solid"/>
          </a:ln>
        </p:spPr>
      </p:sp>
      <p:sp>
        <p:nvSpPr>
          <p:cNvPr id="28" name="Text 26"/>
          <p:cNvSpPr txBox="1"/>
          <p:nvPr/>
        </p:nvSpPr>
        <p:spPr>
          <a:xfrm>
            <a:off x="6172200" y="363016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29" name="Text 27"/>
          <p:cNvSpPr txBox="1"/>
          <p:nvPr/>
        </p:nvSpPr>
        <p:spPr>
          <a:xfrm>
            <a:off x="6812280" y="3630168"/>
            <a:ext cx="4846320" cy="457200"/>
          </a:xfrm>
          <a:prstGeom prst="rect">
            <a:avLst/>
          </a:prstGeom>
          <a:noFill/>
          <a:ln/>
        </p:spPr>
        <p:txBody>
          <a:bodyPr wrap="square" lIns="0" tIns="0" rIns="0" bIns="0" rtlCol="0" anchor="ctr"/>
          <a:lstStyle/>
          <a:p>
            <a:pPr indent="0" marL="0">
              <a:buNone/>
            </a:pPr>
            <a:r>
              <a:rPr lang="en-US" sz="1600" dirty="0">
                <a:solidFill>
                  <a:schemeClr val="bg1"/>
                </a:solidFill>
              </a:rPr>
              <a:t>Data volume &amp; cost: switch off batching, watch ₹ jump</a:t>
            </a:r>
            <a:endParaRPr lang="en-US" sz="1600" dirty="0"/>
          </a:p>
        </p:txBody>
      </p:sp>
      <p:sp>
        <p:nvSpPr>
          <p:cNvPr id="30" name="Shape 28"/>
          <p:cNvSpPr/>
          <p:nvPr/>
        </p:nvSpPr>
        <p:spPr>
          <a:xfrm>
            <a:off x="6172200" y="4288536"/>
            <a:ext cx="457200" cy="457200"/>
          </a:xfrm>
          <a:prstGeom prst="roundRect">
            <a:avLst>
              <a:gd name="adj" fmla="val 20000"/>
            </a:avLst>
          </a:prstGeom>
          <a:solidFill>
            <a:schemeClr val="accent1"/>
          </a:solidFill>
          <a:ln w="12700">
            <a:solidFill>
              <a:schemeClr val="accent1"/>
            </a:solidFill>
            <a:prstDash val="solid"/>
          </a:ln>
        </p:spPr>
      </p:sp>
      <p:sp>
        <p:nvSpPr>
          <p:cNvPr id="31" name="Text 29"/>
          <p:cNvSpPr txBox="1"/>
          <p:nvPr/>
        </p:nvSpPr>
        <p:spPr>
          <a:xfrm>
            <a:off x="6172200" y="4288536"/>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7</a:t>
            </a:r>
            <a:endParaRPr lang="en-US" sz="1500" dirty="0"/>
          </a:p>
        </p:txBody>
      </p:sp>
      <p:sp>
        <p:nvSpPr>
          <p:cNvPr id="32" name="Text 30"/>
          <p:cNvSpPr txBox="1"/>
          <p:nvPr/>
        </p:nvSpPr>
        <p:spPr>
          <a:xfrm>
            <a:off x="6812280" y="4288536"/>
            <a:ext cx="4846320" cy="457200"/>
          </a:xfrm>
          <a:prstGeom prst="rect">
            <a:avLst/>
          </a:prstGeom>
          <a:noFill/>
          <a:ln/>
        </p:spPr>
        <p:txBody>
          <a:bodyPr wrap="square" lIns="0" tIns="0" rIns="0" bIns="0" rtlCol="0" anchor="ctr"/>
          <a:lstStyle/>
          <a:p>
            <a:pPr indent="0" marL="0">
              <a:buNone/>
            </a:pPr>
            <a:r>
              <a:rPr lang="en-US" sz="1600" dirty="0">
                <a:solidFill>
                  <a:schemeClr val="bg1"/>
                </a:solidFill>
              </a:rPr>
              <a:t>Predictive maintenance: which machine first</a:t>
            </a:r>
            <a:endParaRPr lang="en-US" sz="1600" dirty="0"/>
          </a:p>
        </p:txBody>
      </p:sp>
      <p:sp>
        <p:nvSpPr>
          <p:cNvPr id="33" name="Text 31"/>
          <p:cNvSpPr txBox="1"/>
          <p:nvPr/>
        </p:nvSpPr>
        <p:spPr>
          <a:xfrm>
            <a:off x="6172200" y="5623560"/>
            <a:ext cx="5486400" cy="457200"/>
          </a:xfrm>
          <a:prstGeom prst="rect">
            <a:avLst/>
          </a:prstGeom>
          <a:noFill/>
          <a:ln/>
        </p:spPr>
        <p:txBody>
          <a:bodyPr wrap="square" lIns="0" tIns="0" rIns="0" bIns="0" rtlCol="0" anchor="t"/>
          <a:lstStyle/>
          <a:p>
            <a:pPr indent="0" marL="0">
              <a:buNone/>
            </a:pPr>
            <a:r>
              <a:rPr lang="en-US" sz="2000" b="1" dirty="0">
                <a:solidFill>
                  <a:schemeClr val="accent4"/>
                </a:solidFill>
              </a:rPr>
              <a:t>industrial-data-platform.streamlit.app</a:t>
            </a:r>
            <a:endParaRPr lang="en-US" sz="20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1234440"/>
            <a:ext cx="10058400" cy="411480"/>
          </a:xfrm>
          <a:prstGeom prst="rect">
            <a:avLst/>
          </a:prstGeom>
          <a:noFill/>
          <a:ln/>
        </p:spPr>
        <p:txBody>
          <a:bodyPr wrap="square" lIns="0" tIns="0" rIns="0" bIns="0" rtlCol="0"/>
          <a:lstStyle/>
          <a:p>
            <a:pPr indent="0" marL="0">
              <a:buNone/>
            </a:pPr>
            <a:r>
              <a:rPr lang="en-US" sz="1600" b="1" spc="200" kern="0" dirty="0">
                <a:solidFill>
                  <a:schemeClr val="accent1"/>
                </a:solidFill>
              </a:rPr>
              <a:t>THANK YOU</a:t>
            </a:r>
            <a:endParaRPr lang="en-US" sz="1600" dirty="0"/>
          </a:p>
        </p:txBody>
      </p:sp>
      <p:sp>
        <p:nvSpPr>
          <p:cNvPr id="3" name="Text 0"/>
          <p:cNvSpPr/>
          <p:nvPr>
            <p:ph idx="101" type="title" hasCustomPrompt="1"/>
          </p:nvPr>
        </p:nvSpPr>
        <p:spPr>
          <a:xfrm>
            <a:off x="548640" y="1691640"/>
            <a:ext cx="10515600" cy="1737360"/>
          </a:xfrm>
          <a:prstGeom prst="rect">
            <a:avLst/>
          </a:prstGeom>
          <a:noFill/>
          <a:ln/>
        </p:spPr>
        <p:txBody>
          <a:bodyPr wrap="square" lIns="0" tIns="0" rIns="0" bIns="0" rtlCol="0" anchor="t"/>
          <a:lstStyle/>
          <a:p>
            <a:pPr algn="l" indent="0" marL="0">
              <a:buNone/>
            </a:pPr>
            <a:r>
              <a:rPr lang="en-US" sz="4800" b="1" dirty="0">
                <a:solidFill>
                  <a:schemeClr val="bg1"/>
                </a:solidFill>
              </a:rPr>
              <a:t>Pipeline compared. Platforms compared. Decision made. Running live.</a:t>
            </a:r>
            <a:endParaRPr lang="en-US" sz="4800" dirty="0"/>
          </a:p>
        </p:txBody>
      </p:sp>
      <p:sp>
        <p:nvSpPr>
          <p:cNvPr id="4" name="Text 0"/>
          <p:cNvSpPr/>
          <p:nvPr>
            <p:ph idx="102" type="body" hasCustomPrompt="1"/>
          </p:nvPr>
        </p:nvSpPr>
        <p:spPr>
          <a:xfrm>
            <a:off x="548640" y="3520440"/>
            <a:ext cx="10058400" cy="822960"/>
          </a:xfrm>
          <a:prstGeom prst="rect">
            <a:avLst/>
          </a:prstGeom>
          <a:noFill/>
          <a:ln/>
        </p:spPr>
        <p:txBody>
          <a:bodyPr wrap="square" lIns="0" tIns="0" rIns="0" bIns="0" rtlCol="0" anchor="t"/>
          <a:lstStyle/>
          <a:p>
            <a:pPr indent="0" marL="0">
              <a:buNone/>
            </a:pPr>
            <a:r>
              <a:rPr lang="en-US" sz="2200" dirty="0">
                <a:solidFill>
                  <a:schemeClr val="accent6"/>
                </a:solidFill>
              </a:rPr>
              <a:t>Questions?</a:t>
            </a:r>
            <a:endParaRPr lang="en-US" sz="2200" dirty="0"/>
          </a:p>
        </p:txBody>
      </p:sp>
      <p:sp>
        <p:nvSpPr>
          <p:cNvPr id="5" name="Text 3"/>
          <p:cNvSpPr txBox="1"/>
          <p:nvPr/>
        </p:nvSpPr>
        <p:spPr>
          <a:xfrm>
            <a:off x="548640" y="6263640"/>
            <a:ext cx="10972800" cy="320040"/>
          </a:xfrm>
          <a:prstGeom prst="rect">
            <a:avLst/>
          </a:prstGeom>
          <a:noFill/>
          <a:ln/>
        </p:spPr>
        <p:txBody>
          <a:bodyPr wrap="square" lIns="0" tIns="0" rIns="0" bIns="0" rtlCol="0" anchor="t"/>
          <a:lstStyle/>
          <a:p>
            <a:pPr indent="0" marL="0">
              <a:buNone/>
            </a:pPr>
            <a:r>
              <a:rPr lang="en-US" sz="1200" dirty="0">
                <a:solidFill>
                  <a:schemeClr val="accent6"/>
                </a:solidFill>
              </a:rPr>
              <a:t>github.com/TirthankerSingh/industrial-data-platform  ·  industrial-data-platform.streamlit.app</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BACKUP B1 · PART B</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Cloud comparison across all 13 criteria</a:t>
            </a:r>
            <a:endParaRPr lang="en-US" sz="3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011680"/>
                <a:gridCol w="3017520"/>
                <a:gridCol w="3044952"/>
                <a:gridCol w="3017520"/>
              </a:tblGrid>
              <a:tr h="329184">
                <a:tc>
                  <a:txBody>
                    <a:bodyPr/>
                    <a:lstStyle/>
                    <a:p>
                      <a:pPr indent="0" marL="0">
                        <a:buNone/>
                      </a:pPr>
                      <a:r>
                        <a:rPr lang="en-US" sz="1200" b="1" dirty="0">
                          <a:solidFill>
                            <a:schemeClr val="bg1"/>
                          </a:solidFill>
                        </a:rPr>
                        <a:t>Criterion</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AWS</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Microsoft Azure</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Google Cloud</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r>
              <a:tr h="329184">
                <a:tc>
                  <a:txBody>
                    <a:bodyPr/>
                    <a:lstStyle/>
                    <a:p>
                      <a:pPr indent="0" marL="0">
                        <a:buNone/>
                      </a:pPr>
                      <a:r>
                        <a:rPr lang="en-US" sz="1200" dirty="0">
                          <a:solidFill>
                            <a:schemeClr val="tx1"/>
                          </a:solidFill>
                        </a:rPr>
                        <a:t>Industrial IoT</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SiteWise Edge (OPC UA); several retired</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IoT Operations: OPC UA, asset discovery</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No first-party; partner (Litmus)</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329184">
                <a:tc>
                  <a:txBody>
                    <a:bodyPr/>
                    <a:lstStyle/>
                    <a:p>
                      <a:pPr indent="0" marL="0">
                        <a:buNone/>
                      </a:pPr>
                      <a:r>
                        <a:rPr lang="en-US" sz="1200" dirty="0">
                          <a:solidFill>
                            <a:schemeClr val="tx1"/>
                          </a:solidFill>
                        </a:rPr>
                        <a:t>Ingestion</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IoT Core, Kinesis</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IoT Hub, Event Hubs, Eventstreams</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Pub/Sub</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329184">
                <a:tc>
                  <a:txBody>
                    <a:bodyPr/>
                    <a:lstStyle/>
                    <a:p>
                      <a:pPr indent="0" marL="0">
                        <a:buNone/>
                      </a:pPr>
                      <a:r>
                        <a:rPr lang="en-US" sz="1200" dirty="0">
                          <a:solidFill>
                            <a:schemeClr val="tx1"/>
                          </a:solidFill>
                        </a:rPr>
                        <a:t>Storage</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S3, Timestream</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ADLS Gen2, Eventhouse</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Cloud Storage, BigQuery, Bigtable</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329184">
                <a:tc>
                  <a:txBody>
                    <a:bodyPr/>
                    <a:lstStyle/>
                    <a:p>
                      <a:pPr indent="0" marL="0">
                        <a:buNone/>
                      </a:pPr>
                      <a:r>
                        <a:rPr lang="en-US" sz="1200" dirty="0">
                          <a:solidFill>
                            <a:schemeClr val="tx1"/>
                          </a:solidFill>
                        </a:rPr>
                        <a:t>Stream processing</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Kinesis, Flink</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Eventstreams (no-code)</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Dataflow (code-first)</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329184">
                <a:tc>
                  <a:txBody>
                    <a:bodyPr/>
                    <a:lstStyle/>
                    <a:p>
                      <a:pPr indent="0" marL="0">
                        <a:buNone/>
                      </a:pPr>
                      <a:r>
                        <a:rPr lang="en-US" sz="1200" dirty="0">
                          <a:solidFill>
                            <a:schemeClr val="tx1"/>
                          </a:solidFill>
                        </a:rPr>
                        <a:t>SQL</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RDS / Aurora PostgreSQL</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Azure DB for PostgreSQL</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Cloud SQL, BigQuery</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329184">
                <a:tc>
                  <a:txBody>
                    <a:bodyPr/>
                    <a:lstStyle/>
                    <a:p>
                      <a:pPr indent="0" marL="0">
                        <a:buNone/>
                      </a:pPr>
                      <a:r>
                        <a:rPr lang="en-US" sz="1200" dirty="0">
                          <a:solidFill>
                            <a:schemeClr val="tx1"/>
                          </a:solidFill>
                        </a:rPr>
                        <a:t>Analytics</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Athena, QuickSight</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KQL, Fabric, Power BI</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BigQuery</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329184">
                <a:tc>
                  <a:txBody>
                    <a:bodyPr/>
                    <a:lstStyle/>
                    <a:p>
                      <a:pPr indent="0" marL="0">
                        <a:buNone/>
                      </a:pPr>
                      <a:r>
                        <a:rPr lang="en-US" sz="1200" dirty="0">
                          <a:solidFill>
                            <a:schemeClr val="tx1"/>
                          </a:solidFill>
                        </a:rPr>
                        <a:t>AI/ML</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SageMaker</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Azure ML, Fabric</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Vertex AI, BigQuery ML</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329184">
                <a:tc>
                  <a:txBody>
                    <a:bodyPr/>
                    <a:lstStyle/>
                    <a:p>
                      <a:pPr indent="0" marL="0">
                        <a:buNone/>
                      </a:pPr>
                      <a:r>
                        <a:rPr lang="en-US" sz="1200" dirty="0">
                          <a:solidFill>
                            <a:schemeClr val="tx1"/>
                          </a:solidFill>
                        </a:rPr>
                        <a:t>Edge</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Greengrass (best buffering docs)</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IoT Operations on Arc</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Partner edge only</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329184">
                <a:tc>
                  <a:txBody>
                    <a:bodyPr/>
                    <a:lstStyle/>
                    <a:p>
                      <a:pPr indent="0" marL="0">
                        <a:buNone/>
                      </a:pPr>
                      <a:r>
                        <a:rPr lang="en-US" sz="1200" dirty="0">
                          <a:solidFill>
                            <a:schemeClr val="tx1"/>
                          </a:solidFill>
                        </a:rPr>
                        <a:t>Security</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X.509, Mumbai region</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OT PKI, Defender for IoT</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India-pinned storage</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329184">
                <a:tc>
                  <a:txBody>
                    <a:bodyPr/>
                    <a:lstStyle/>
                    <a:p>
                      <a:pPr indent="0" marL="0">
                        <a:buNone/>
                      </a:pPr>
                      <a:r>
                        <a:rPr lang="en-US" sz="1200" dirty="0">
                          <a:solidFill>
                            <a:schemeClr val="tx1"/>
                          </a:solidFill>
                        </a:rPr>
                        <a:t>Scalability</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Very high</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Very high</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Very high</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329184">
                <a:tc>
                  <a:txBody>
                    <a:bodyPr/>
                    <a:lstStyle/>
                    <a:p>
                      <a:pPr indent="0" marL="0">
                        <a:buNone/>
                      </a:pPr>
                      <a:r>
                        <a:rPr lang="en-US" sz="1200" dirty="0">
                          <a:solidFill>
                            <a:schemeClr val="tx1"/>
                          </a:solidFill>
                        </a:rPr>
                        <a:t>Integration</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SAP via AppFlow</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M365, Entra, Power BI, SAP</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Best SAP connector</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329184">
                <a:tc>
                  <a:txBody>
                    <a:bodyPr/>
                    <a:lstStyle/>
                    <a:p>
                      <a:pPr indent="0" marL="0">
                        <a:buNone/>
                      </a:pPr>
                      <a:r>
                        <a:rPr lang="en-US" sz="1200" dirty="0">
                          <a:solidFill>
                            <a:schemeClr val="tx1"/>
                          </a:solidFill>
                        </a:rPr>
                        <a:t>Ease of use</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Separate parts</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Fabric SaaS, common skills</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BigQuery simple; edge DIY</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329184">
                <a:tc>
                  <a:txBody>
                    <a:bodyPr/>
                    <a:lstStyle/>
                    <a:p>
                      <a:pPr indent="0" marL="0">
                        <a:buNone/>
                      </a:pPr>
                      <a:r>
                        <a:rPr lang="en-US" sz="1200" dirty="0">
                          <a:solidFill>
                            <a:schemeClr val="tx1"/>
                          </a:solidFill>
                        </a:rPr>
                        <a:t>Cost (edge design)</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₹43k / month</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₹80k / month</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200" dirty="0">
                          <a:solidFill>
                            <a:schemeClr val="tx1"/>
                          </a:solidFill>
                        </a:rPr>
                        <a:t>₹33k / month</a:t>
                      </a:r>
                      <a:endParaRPr lang="en-US" sz="12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BACKUP B2 · COST MODEL</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Monthly cloud cost in INR by pipeline design</a:t>
            </a:r>
            <a:endParaRPr lang="en-US" sz="3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7772400" cy="914400"/>
        </p:xfrm>
        <a:graphic>
          <a:graphicData uri="http://schemas.openxmlformats.org/drawingml/2006/table">
            <a:tbl>
              <a:tblPr/>
              <a:tblGrid>
                <a:gridCol w="3108960"/>
                <a:gridCol w="1554480"/>
                <a:gridCol w="1554480"/>
                <a:gridCol w="1554480"/>
              </a:tblGrid>
              <a:tr h="502920">
                <a:tc>
                  <a:txBody>
                    <a:bodyPr/>
                    <a:lstStyle/>
                    <a:p>
                      <a:pPr indent="0" marL="0">
                        <a:buNone/>
                      </a:pPr>
                      <a:r>
                        <a:rPr lang="en-US" sz="1500" b="1" dirty="0">
                          <a:solidFill>
                            <a:schemeClr val="bg1"/>
                          </a:solidFill>
                        </a:rPr>
                        <a:t>Pipeline design</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AWS</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Azure</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GCP</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solidFill>
                      <a:schemeClr val="tx2"/>
                    </a:solidFill>
                  </a:tcPr>
                </a:tc>
              </a:tr>
              <a:tr h="502920">
                <a:tc>
                  <a:txBody>
                    <a:bodyPr/>
                    <a:lstStyle/>
                    <a:p>
                      <a:pPr indent="0" marL="0">
                        <a:buNone/>
                      </a:pPr>
                      <a:r>
                        <a:rPr lang="en-US" sz="1500" dirty="0">
                          <a:solidFill>
                            <a:schemeClr val="tx1"/>
                          </a:solidFill>
                        </a:rPr>
                        <a:t>S0 one message per reading</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₹29,91,825</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₹14,25,721</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₹55,447</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502920">
                <a:tc>
                  <a:txBody>
                    <a:bodyPr/>
                    <a:lstStyle/>
                    <a:p>
                      <a:pPr indent="0" marL="0">
                        <a:buNone/>
                      </a:pPr>
                      <a:r>
                        <a:rPr lang="en-US" sz="1500" dirty="0">
                          <a:solidFill>
                            <a:schemeClr val="tx1"/>
                          </a:solidFill>
                        </a:rPr>
                        <a:t>S1 batched raw 1 Hz + 100 Hz</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₹43,297</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₹80,226</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₹33,216</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502920">
                <a:tc>
                  <a:txBody>
                    <a:bodyPr/>
                    <a:lstStyle/>
                    <a:p>
                      <a:pPr indent="0" marL="0">
                        <a:buNone/>
                      </a:pPr>
                      <a:r>
                        <a:rPr lang="en-US" sz="1500" dirty="0">
                          <a:solidFill>
                            <a:schemeClr val="tx1"/>
                          </a:solidFill>
                        </a:rPr>
                        <a:t>S2 batched + edge features</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₹43,121</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₹80,085</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₹32,928</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r h="502920">
                <a:tc>
                  <a:txBody>
                    <a:bodyPr/>
                    <a:lstStyle/>
                    <a:p>
                      <a:pPr indent="0" marL="0">
                        <a:buNone/>
                      </a:pPr>
                      <a:r>
                        <a:rPr lang="en-US" sz="1500" dirty="0">
                          <a:solidFill>
                            <a:schemeClr val="tx1"/>
                          </a:solidFill>
                        </a:rPr>
                        <a:t>S3 raw 2 kHz tri-axial</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₹2,84,788</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₹3,94,487</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c>
                  <a:txBody>
                    <a:bodyPr/>
                    <a:lstStyle/>
                    <a:p>
                      <a:pPr indent="0" marL="0">
                        <a:buNone/>
                      </a:pPr>
                      <a:r>
                        <a:rPr lang="en-US" sz="1500" dirty="0">
                          <a:solidFill>
                            <a:schemeClr val="tx1"/>
                          </a:solidFill>
                        </a:rPr>
                        <a:t>₹1,19,208</a:t>
                      </a:r>
                      <a:endParaRPr lang="en-US" sz="1500" dirty="0"/>
                    </a:p>
                  </a:txBody>
                  <a:tcPr marL="76200" marR="76200" marT="38100" marB="38100" anchor="ctr">
                    <a:lnL w="9525" cap="flat" cmpd="sng" algn="ctr">
                      <a:solidFill>
                        <a:srgbClr val="C9D0D4"/>
                      </a:solidFill>
                      <a:prstDash val="solid"/>
                      <a:round/>
                      <a:headEnd type="none" w="med" len="med"/>
                      <a:tailEnd type="none" w="med" len="med"/>
                    </a:lnL>
                    <a:lnR w="9525" cap="flat" cmpd="sng" algn="ctr">
                      <a:solidFill>
                        <a:srgbClr val="C9D0D4"/>
                      </a:solidFill>
                      <a:prstDash val="solid"/>
                      <a:round/>
                      <a:headEnd type="none" w="med" len="med"/>
                      <a:tailEnd type="none" w="med" len="med"/>
                    </a:lnR>
                    <a:lnT w="9525" cap="flat" cmpd="sng" algn="ctr">
                      <a:solidFill>
                        <a:srgbClr val="C9D0D4"/>
                      </a:solidFill>
                      <a:prstDash val="solid"/>
                      <a:round/>
                      <a:headEnd type="none" w="med" len="med"/>
                      <a:tailEnd type="none" w="med" len="med"/>
                    </a:lnT>
                    <a:lnB w="9525" cap="flat" cmpd="sng" algn="ctr">
                      <a:solidFill>
                        <a:srgbClr val="C9D0D4"/>
                      </a:solidFill>
                      <a:prstDash val="solid"/>
                      <a:round/>
                      <a:headEnd type="none" w="med" len="med"/>
                      <a:tailEnd type="none" w="med" len="med"/>
                    </a:lnB>
                  </a:tcPr>
                </a:tc>
              </a:tr>
            </a:tbl>
          </a:graphicData>
        </a:graphic>
      </p:graphicFrame>
      <p:sp>
        <p:nvSpPr>
          <p:cNvPr id="5" name="Text 2"/>
          <p:cNvSpPr txBox="1"/>
          <p:nvPr/>
        </p:nvSpPr>
        <p:spPr>
          <a:xfrm>
            <a:off x="8686800" y="1737360"/>
            <a:ext cx="2926080" cy="27432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FX ₹94.7145 per USD (RBI, 21 Oct 2026)</a:t>
            </a:r>
            <a:endParaRPr lang="en-US" sz="1500" dirty="0"/>
          </a:p>
          <a:p>
            <a:pPr marL="203200" indent="-203200">
              <a:spcAft>
                <a:spcPts val="600"/>
              </a:spcAft>
              <a:buSzPct val="100000"/>
              <a:buChar char="•"/>
            </a:pPr>
            <a:r>
              <a:rPr lang="en-US" sz="1500" dirty="0">
                <a:solidFill>
                  <a:schemeClr val="tx1"/>
                </a:solidFill>
              </a:rPr>
              <a:t>List prices from official pricing pages; India regions</a:t>
            </a:r>
            <a:endParaRPr lang="en-US" sz="1500" dirty="0"/>
          </a:p>
          <a:p>
            <a:pPr marL="203200" indent="-203200">
              <a:spcAft>
                <a:spcPts val="600"/>
              </a:spcAft>
              <a:buSzPct val="100000"/>
              <a:buChar char="•"/>
            </a:pPr>
            <a:r>
              <a:rPr lang="en-US" sz="1500" dirty="0">
                <a:solidFill>
                  <a:schemeClr val="tx1"/>
                </a:solidFill>
              </a:rPr>
              <a:t>Excludes edge hardware and people</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320040"/>
          </a:xfrm>
          <a:prstGeom prst="rect">
            <a:avLst/>
          </a:prstGeom>
          <a:noFill/>
          <a:ln/>
        </p:spPr>
        <p:txBody>
          <a:bodyPr wrap="square" lIns="0" tIns="0" rIns="0" bIns="0" rtlCol="0"/>
          <a:lstStyle/>
          <a:p>
            <a:pPr indent="0" marL="0">
              <a:buNone/>
            </a:pPr>
            <a:r>
              <a:rPr lang="en-US" sz="1300" b="1" spc="200" kern="0" dirty="0">
                <a:solidFill>
                  <a:schemeClr val="accent1"/>
                </a:solidFill>
              </a:rPr>
              <a:t>BACKUP B3 · SECURITY</a:t>
            </a:r>
            <a:endParaRPr lang="en-US" sz="1300" dirty="0"/>
          </a:p>
        </p:txBody>
      </p:sp>
      <p:sp>
        <p:nvSpPr>
          <p:cNvPr id="3" name="Text 0"/>
          <p:cNvSpPr/>
          <p:nvPr>
            <p:ph idx="101" type="title" hasCustomPrompt="1"/>
          </p:nvPr>
        </p:nvSpPr>
        <p:spPr>
          <a:xfrm>
            <a:off x="548640" y="658368"/>
            <a:ext cx="11094415" cy="777240"/>
          </a:xfrm>
          <a:prstGeom prst="rect">
            <a:avLst/>
          </a:prstGeom>
          <a:noFill/>
          <a:ln/>
        </p:spPr>
        <p:txBody>
          <a:bodyPr wrap="square" lIns="0" tIns="0" rIns="0" bIns="0" rtlCol="0" anchor="t"/>
          <a:lstStyle/>
          <a:p>
            <a:pPr algn="l" indent="0" marL="0">
              <a:buNone/>
            </a:pPr>
            <a:r>
              <a:rPr lang="en-US" sz="3400" b="1" dirty="0">
                <a:solidFill>
                  <a:schemeClr val="tx1"/>
                </a:solidFill>
              </a:rPr>
              <a:t>OT network zones and conduits (IEC 62443)</a:t>
            </a:r>
            <a:endParaRPr lang="en-US" sz="3400" dirty="0"/>
          </a:p>
        </p:txBody>
      </p:sp>
      <p:pic>
        <p:nvPicPr>
          <p:cNvPr id="4" name="Image 0" descr="Security zones diagram">    </p:cNvPr>
          <p:cNvPicPr>
            <a:picLocks noChangeAspect="1"/>
          </p:cNvPicPr>
          <p:nvPr/>
        </p:nvPicPr>
        <p:blipFill>
          <a:blip r:embed="rId1"/>
          <a:srcRect l="0" r="0" t="0" b="0"/>
          <a:stretch/>
        </p:blipFill>
        <p:spPr>
          <a:xfrm>
            <a:off x="1371600" y="1600200"/>
            <a:ext cx="9418320" cy="4572000"/>
          </a:xfrm>
          <a:prstGeom prst="rect">
            <a:avLst/>
          </a:prstGeom>
        </p:spPr>
      </p:pic>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Industrial Signal">
  <a:themeElements>
    <a:clrScheme name="Industrial Signal">
      <a:dk1>
        <a:srgbClr val="1E262B"/>
      </a:dk1>
      <a:lt1>
        <a:srgbClr val="FFFFFF"/>
      </a:lt1>
      <a:dk2>
        <a:srgbClr val="34434B"/>
      </a:dk2>
      <a:lt2>
        <a:srgbClr val="EEF1F2"/>
      </a:lt2>
      <a:accent1>
        <a:srgbClr val="E8702A"/>
      </a:accent1>
      <a:accent2>
        <a:srgbClr val="1B8A8F"/>
      </a:accent2>
      <a:accent3>
        <a:srgbClr val="6C7A82"/>
      </a:accent3>
      <a:accent4>
        <a:srgbClr val="F2B134"/>
      </a:accent4>
      <a:accent5>
        <a:srgbClr val="3C6E91"/>
      </a:accent5>
      <a:accent6>
        <a:srgbClr val="9AA5AB"/>
      </a:accent6>
      <a:hlink>
        <a:srgbClr val="1B8A8F"/>
      </a:hlink>
      <a:folHlink>
        <a:srgbClr val="6C7A82"/>
      </a:folHlink>
    </a:clrScheme>
    <a:fontScheme name="Industrial Sign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Smart-factory data platform</dc:title>
  <dc:subject>PptxGenJS Presentation</dc:subject>
  <dc:creator>Tirthanker Singh</dc:creator>
  <cp:lastModifiedBy>Tirthanker Singh</cp:lastModifiedBy>
  <cp:revision>1</cp:revision>
  <dcterms:created xsi:type="dcterms:W3CDTF">2026-10-27T20:27:05Z</dcterms:created>
  <dcterms:modified xsi:type="dcterms:W3CDTF">2026-10-27T20:27:05Z</dcterms:modified>
</cp:coreProperties>
</file>