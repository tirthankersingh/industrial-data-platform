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answer two questions: how much data the factory makes, and what it costs to move and keep it in the cloud. Every number on these slides is calculated in front of you, and the method is always the same: count, size, price,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readings, give each one a size in bytes, multiply by the cloud's price per message, per GB or per hour, and finally put cost into a weighted decision with nine other criteria. Conventions are the assignment's: a 30-day month and a 365-day year. Prices are public list prices converted at the RBI reference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Machines times sensors times rate gives a thousand readings a second. Every other period is that thousand multiplied by the seconds in it: 3.6 million an hour, 86.4 million a day, 2.59 billion a month, 31.5 billion a year. And these are only the slow sensors.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100 Hz sensor on one machine produces 3.15 billion readings a year, ten times all its slow sensors. Real accelerometers sample at 2 kHz on 3 axes, 600,000 readings a second for the fleet, 18.9 trillion a year. They have to be that fast because of Nyquist: to see a 500 Hz bearing fault you need at least 1,000 samples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reading is not just a number: it needs a timestamp and the machine and sensor it came from. 20 bytes. Three formulas: bytes per second, times 8 for bits, times seconds for storage. Slow fleet: 1,000 × 20 = 20,000 bytes a second, 0.16 Mbps, 0.63 TB a year. Raw vibration: 600,000 × 20 = 12 MB a second, 96 Mbps, 378 TB a year. That is a plant's whole internet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real message sizes. One reading in JSON is 125 bytes, 219 on the wire, eleven times the binary record, because names repeat in every message. Batching shares that overhead: 38 bytes a reading for ten sensors, 8 for a vibration block. And batching matters even more for money, as we'll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assume compression; we wrote three real datasets in six formats and measured. Parquet with Zstd gives 6.9 times on machine signals but only 5 on vibration, because vibration is noise and lossless compression can't remove noise. So compression can't solve the vibration problem. Feature extraction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 gateway turns each second of 6,000 raw values into 42 features: RMS, kurtosis, frequency bands. 24,000 bytes become 168, 143 times smaller, and we measured 120 times on the full real dataset in 40 seconds on a laptop. The fault signal survives: AUC 0.98. Our design sends 860 bytes per machine per second: 0.69 Mbps for the fleet and about 0.4 TB a year in the lake instead of 378 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cloud has the same four blocks: ingestion, streaming, lake, database. The key difference is the meter. AWS charges per message, Azure sells fixed units with a daily quota, and Google charges by bytes. That one fact explains every result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factory, four ways of sending. S0 sends every reading as its own message: 28.5 billion a month. S1 to S3 batch one message per machine per second: 259.2 million. S2, our design, uses edge features: 860 bytes. We keep 12 months in the lake,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design priced. AWS: 259 million messages at $1.05 a million plus rules, about ₹33.5k. Azure: 8.64 million a day needs two S2 units, $700, which is 83 percent of its bill. GCP charges bytes: only $8 of data, the rest is broker VMs. Storage, what people worry about, is under ₹1,000 a month everywhere. Totals: GCP ₹33k, AWS ₹43k, Azure ₹80k.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Batching alone makes AWS 69 times cheaper: ₹30 lakh down to ₹43k, a few lines of edge code. At the real 2 kHz rate, edge features save ₹2.4 to 3.1 lakh a month. And the difference between clouds is about 1 to 2 percent of the expected benefit, which is why cost is only 13 percent of our decision weight. GCP looks cheap in S0 because it bills bytes; its real figure would be higher because of per-request minimums.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per GB is similar in a lake and a warehouse. The warehouse cost is scanning: one query over a year of raw vibration would cost ₹2 lakh. With edge features the whole year is about ₹1,000 a month, and our live prototype runs free on the BigQuery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criteria, weights adding to 100, scores 1 to 5 with evidence. Machine connectivity carries the most weight because a factory platform lives or dies there. The cost score isn't opinion: it comes from the cost model, cheapest gets 5. Azure totals 422 points, 4.22; AWS 3.92; GCP 3.57.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judgement, so we tried to break the result. AWS only wins if cost gets 35 percent of the weight. We ran the matrix 10,000 times with random weights and scores shifted up to half a point: Azure won 89 percent. Our live demo runs on GCP BigQuery because that account was available, and the same SQL gave the same answers as PostgreSQL, so the design is 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vibration can't go to the cloud: it's 378 terabytes a year and fills the plant's line. Edge features cut it a thousand-fold, batching cuts the bill up to 69 times, and once that's done the cloud choice is about capability, not price. That's why we recommend Azure.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E26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rtlCol="0"/>
          <a:lstStyle>
            <a:lvl1pPr indent="0" marL="0">
              <a:buNone/>
              <a:defRPr lang="en-US" sz="1600" b="1" spc="2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E26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lIns="0" tIns="0" rIns="0" bIns="0" rtlCol="0"/>
          <a:lstStyle/>
          <a:p>
            <a:pPr indent="0" marL="0">
              <a:buNone/>
            </a:pPr>
            <a:r>
              <a:rPr lang="en-US" sz="1600" b="1" spc="200" kern="0" dirty="0">
                <a:solidFill>
                  <a:schemeClr val="accent1"/>
                </a:solidFill>
              </a:rPr>
              <a:t>PART A + PART C · DATA VOLUME AND CLOUD COST</a:t>
            </a: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lIns="0" tIns="0" rIns="0" bIns="0" rtlCol="0" anchor="t"/>
          <a:lstStyle/>
          <a:p>
            <a:pPr algn="l" indent="0" marL="0">
              <a:buNone/>
            </a:pPr>
            <a:r>
              <a:rPr lang="en-US" sz="4800" b="1" dirty="0">
                <a:solidFill>
                  <a:schemeClr val="bg1"/>
                </a:solidFill>
              </a:rPr>
              <a:t>How much data, and what it costs</a:t>
            </a: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lIns="0" tIns="0" rIns="0" bIns="0" rtlCol="0" anchor="t"/>
          <a:lstStyle/>
          <a:p>
            <a:pPr indent="0" marL="0">
              <a:buNone/>
            </a:pPr>
            <a:r>
              <a:rPr lang="en-US" sz="2200" dirty="0">
                <a:solidFill>
                  <a:schemeClr val="accent6"/>
                </a:solidFill>
              </a:rPr>
              <a:t>Every number counted, sized and priced step by step: 100 CNC machines, 3 plants, 24×7</a:t>
            </a:r>
            <a:endParaRPr lang="en-US" sz="2200" dirty="0"/>
          </a:p>
        </p:txBody>
      </p:sp>
      <p:sp>
        <p:nvSpPr>
          <p:cNvPr id="5" name="Text 3"/>
          <p:cNvSpPr txBox="1"/>
          <p:nvPr/>
        </p:nvSpPr>
        <p:spPr>
          <a:xfrm>
            <a:off x="54864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31.5 B</a:t>
            </a:r>
            <a:endParaRPr lang="en-US" sz="3600" dirty="0"/>
          </a:p>
        </p:txBody>
      </p:sp>
      <p:sp>
        <p:nvSpPr>
          <p:cNvPr id="6" name="Text 4"/>
          <p:cNvSpPr txBox="1"/>
          <p:nvPr/>
        </p:nvSpPr>
        <p:spPr>
          <a:xfrm>
            <a:off x="54864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readings a year (slow sensors)</a:t>
            </a:r>
            <a:endParaRPr lang="en-US" sz="1400" dirty="0"/>
          </a:p>
        </p:txBody>
      </p:sp>
      <p:sp>
        <p:nvSpPr>
          <p:cNvPr id="7" name="Text 5"/>
          <p:cNvSpPr txBox="1"/>
          <p:nvPr/>
        </p:nvSpPr>
        <p:spPr>
          <a:xfrm>
            <a:off x="333756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378 TB</a:t>
            </a:r>
            <a:endParaRPr lang="en-US" sz="3600" dirty="0"/>
          </a:p>
        </p:txBody>
      </p:sp>
      <p:sp>
        <p:nvSpPr>
          <p:cNvPr id="8" name="Text 6"/>
          <p:cNvSpPr txBox="1"/>
          <p:nvPr/>
        </p:nvSpPr>
        <p:spPr>
          <a:xfrm>
            <a:off x="333756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a year if raw vibration went to cloud</a:t>
            </a:r>
            <a:endParaRPr lang="en-US" sz="1400" dirty="0"/>
          </a:p>
        </p:txBody>
      </p:sp>
      <p:sp>
        <p:nvSpPr>
          <p:cNvPr id="9" name="Text 7"/>
          <p:cNvSpPr txBox="1"/>
          <p:nvPr/>
        </p:nvSpPr>
        <p:spPr>
          <a:xfrm>
            <a:off x="612648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143×</a:t>
            </a:r>
            <a:endParaRPr lang="en-US" sz="3600" dirty="0"/>
          </a:p>
        </p:txBody>
      </p:sp>
      <p:sp>
        <p:nvSpPr>
          <p:cNvPr id="10" name="Text 8"/>
          <p:cNvSpPr txBox="1"/>
          <p:nvPr/>
        </p:nvSpPr>
        <p:spPr>
          <a:xfrm>
            <a:off x="612648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smaller after edge features</a:t>
            </a:r>
            <a:endParaRPr lang="en-US" sz="1400" dirty="0"/>
          </a:p>
        </p:txBody>
      </p:sp>
      <p:sp>
        <p:nvSpPr>
          <p:cNvPr id="11" name="Text 9"/>
          <p:cNvSpPr txBox="1"/>
          <p:nvPr/>
        </p:nvSpPr>
        <p:spPr>
          <a:xfrm>
            <a:off x="891540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₹33–80k</a:t>
            </a:r>
            <a:endParaRPr lang="en-US" sz="3600" dirty="0"/>
          </a:p>
        </p:txBody>
      </p:sp>
      <p:sp>
        <p:nvSpPr>
          <p:cNvPr id="12" name="Text 10"/>
          <p:cNvSpPr txBox="1"/>
          <p:nvPr/>
        </p:nvSpPr>
        <p:spPr>
          <a:xfrm>
            <a:off x="891540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a month for our design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THE METHOD</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Four steps, the same every time</a:t>
            </a:r>
            <a:endParaRPr lang="en-US" sz="3400" dirty="0"/>
          </a:p>
        </p:txBody>
      </p:sp>
      <p:sp>
        <p:nvSpPr>
          <p:cNvPr id="4" name="card"/>
          <p:cNvSpPr/>
          <p:nvPr/>
        </p:nvSpPr>
        <p:spPr>
          <a:xfrm>
            <a:off x="548640" y="1737360"/>
            <a:ext cx="2624328" cy="3291840"/>
          </a:xfrm>
          <a:prstGeom prst="roundRect">
            <a:avLst>
              <a:gd name="adj" fmla="val 2787"/>
            </a:avLst>
          </a:prstGeom>
          <a:solidFill>
            <a:schemeClr val="bg2"/>
          </a:solidFill>
          <a:ln w="12700">
            <a:solidFill>
              <a:schemeClr val="bg2"/>
            </a:solidFill>
            <a:prstDash val="solid"/>
          </a:ln>
        </p:spPr>
      </p:sp>
      <p:sp>
        <p:nvSpPr>
          <p:cNvPr id="5" name="Text 3"/>
          <p:cNvSpPr txBox="1"/>
          <p:nvPr/>
        </p:nvSpPr>
        <p:spPr>
          <a:xfrm>
            <a:off x="777240" y="192024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1 · Count</a:t>
            </a:r>
            <a:endParaRPr lang="en-US" sz="2200" dirty="0"/>
          </a:p>
        </p:txBody>
      </p:sp>
      <p:sp>
        <p:nvSpPr>
          <p:cNvPr id="6" name="Text 4"/>
          <p:cNvSpPr txBox="1"/>
          <p:nvPr/>
        </p:nvSpPr>
        <p:spPr>
          <a:xfrm>
            <a:off x="777240" y="2514600"/>
            <a:ext cx="2194560" cy="1371600"/>
          </a:xfrm>
          <a:prstGeom prst="rect">
            <a:avLst/>
          </a:prstGeom>
          <a:noFill/>
          <a:ln/>
        </p:spPr>
        <p:txBody>
          <a:bodyPr wrap="square" lIns="0" tIns="0" rIns="0" bIns="0" rtlCol="0" anchor="t"/>
          <a:lstStyle/>
          <a:p>
            <a:pPr indent="0" marL="0">
              <a:buNone/>
            </a:pPr>
            <a:r>
              <a:rPr lang="en-US" sz="1500" dirty="0">
                <a:solidFill>
                  <a:schemeClr val="tx1"/>
                </a:solidFill>
              </a:rPr>
              <a:t>readings per second × seconds in the period</a:t>
            </a:r>
            <a:endParaRPr lang="en-US" sz="1500" dirty="0"/>
          </a:p>
        </p:txBody>
      </p:sp>
      <p:sp>
        <p:nvSpPr>
          <p:cNvPr id="7" name="Text 5"/>
          <p:cNvSpPr txBox="1"/>
          <p:nvPr/>
        </p:nvSpPr>
        <p:spPr>
          <a:xfrm>
            <a:off x="777240" y="4069080"/>
            <a:ext cx="2194560" cy="731520"/>
          </a:xfrm>
          <a:prstGeom prst="rect">
            <a:avLst/>
          </a:prstGeom>
          <a:noFill/>
          <a:ln/>
        </p:spPr>
        <p:txBody>
          <a:bodyPr wrap="square" lIns="0" tIns="0" rIns="0" bIns="0" rtlCol="0" anchor="t"/>
          <a:lstStyle/>
          <a:p>
            <a:pPr indent="0" marL="0">
              <a:buNone/>
            </a:pPr>
            <a:r>
              <a:rPr lang="en-US" sz="1500" b="1" dirty="0">
                <a:solidFill>
                  <a:schemeClr val="accent2"/>
                </a:solidFill>
              </a:rPr>
              <a:t>31.5 billion a year</a:t>
            </a:r>
            <a:endParaRPr lang="en-US" sz="1500" dirty="0"/>
          </a:p>
        </p:txBody>
      </p:sp>
      <p:sp>
        <p:nvSpPr>
          <p:cNvPr id="8" name="card"/>
          <p:cNvSpPr/>
          <p:nvPr/>
        </p:nvSpPr>
        <p:spPr>
          <a:xfrm>
            <a:off x="3355848" y="1737360"/>
            <a:ext cx="2624328" cy="3291840"/>
          </a:xfrm>
          <a:prstGeom prst="roundRect">
            <a:avLst>
              <a:gd name="adj" fmla="val 2787"/>
            </a:avLst>
          </a:prstGeom>
          <a:solidFill>
            <a:schemeClr val="bg2"/>
          </a:solidFill>
          <a:ln w="12700">
            <a:solidFill>
              <a:schemeClr val="bg2"/>
            </a:solidFill>
            <a:prstDash val="solid"/>
          </a:ln>
        </p:spPr>
      </p:sp>
      <p:sp>
        <p:nvSpPr>
          <p:cNvPr id="9" name="Text 7"/>
          <p:cNvSpPr txBox="1"/>
          <p:nvPr/>
        </p:nvSpPr>
        <p:spPr>
          <a:xfrm>
            <a:off x="3584448" y="192024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2 · Size</a:t>
            </a:r>
            <a:endParaRPr lang="en-US" sz="2200" dirty="0"/>
          </a:p>
        </p:txBody>
      </p:sp>
      <p:sp>
        <p:nvSpPr>
          <p:cNvPr id="10" name="Text 8"/>
          <p:cNvSpPr txBox="1"/>
          <p:nvPr/>
        </p:nvSpPr>
        <p:spPr>
          <a:xfrm>
            <a:off x="3584448" y="2514600"/>
            <a:ext cx="2194560" cy="1371600"/>
          </a:xfrm>
          <a:prstGeom prst="rect">
            <a:avLst/>
          </a:prstGeom>
          <a:noFill/>
          <a:ln/>
        </p:spPr>
        <p:txBody>
          <a:bodyPr wrap="square" lIns="0" tIns="0" rIns="0" bIns="0" rtlCol="0" anchor="t"/>
          <a:lstStyle/>
          <a:p>
            <a:pPr indent="0" marL="0">
              <a:buNone/>
            </a:pPr>
            <a:r>
              <a:rPr lang="en-US" sz="1500" dirty="0">
                <a:solidFill>
                  <a:schemeClr val="tx1"/>
                </a:solidFill>
              </a:rPr>
              <a:t>readings × bytes per reading → bandwidth and storage</a:t>
            </a:r>
            <a:endParaRPr lang="en-US" sz="1500" dirty="0"/>
          </a:p>
        </p:txBody>
      </p:sp>
      <p:sp>
        <p:nvSpPr>
          <p:cNvPr id="11" name="Text 9"/>
          <p:cNvSpPr txBox="1"/>
          <p:nvPr/>
        </p:nvSpPr>
        <p:spPr>
          <a:xfrm>
            <a:off x="3584448" y="4069080"/>
            <a:ext cx="2194560" cy="731520"/>
          </a:xfrm>
          <a:prstGeom prst="rect">
            <a:avLst/>
          </a:prstGeom>
          <a:noFill/>
          <a:ln/>
        </p:spPr>
        <p:txBody>
          <a:bodyPr wrap="square" lIns="0" tIns="0" rIns="0" bIns="0" rtlCol="0" anchor="t"/>
          <a:lstStyle/>
          <a:p>
            <a:pPr indent="0" marL="0">
              <a:buNone/>
            </a:pPr>
            <a:r>
              <a:rPr lang="en-US" sz="1500" b="1" dirty="0">
                <a:solidFill>
                  <a:schemeClr val="accent2"/>
                </a:solidFill>
              </a:rPr>
              <a:t>0.16 Mbps · 0.63 TB/yr</a:t>
            </a:r>
            <a:endParaRPr lang="en-US" sz="1500" dirty="0"/>
          </a:p>
        </p:txBody>
      </p:sp>
      <p:sp>
        <p:nvSpPr>
          <p:cNvPr id="12" name="card"/>
          <p:cNvSpPr/>
          <p:nvPr/>
        </p:nvSpPr>
        <p:spPr>
          <a:xfrm>
            <a:off x="6163056" y="1737360"/>
            <a:ext cx="2624328" cy="3291840"/>
          </a:xfrm>
          <a:prstGeom prst="roundRect">
            <a:avLst>
              <a:gd name="adj" fmla="val 2787"/>
            </a:avLst>
          </a:prstGeom>
          <a:solidFill>
            <a:schemeClr val="bg2"/>
          </a:solidFill>
          <a:ln w="12700">
            <a:solidFill>
              <a:schemeClr val="bg2"/>
            </a:solidFill>
            <a:prstDash val="solid"/>
          </a:ln>
        </p:spPr>
      </p:sp>
      <p:sp>
        <p:nvSpPr>
          <p:cNvPr id="13" name="Text 11"/>
          <p:cNvSpPr txBox="1"/>
          <p:nvPr/>
        </p:nvSpPr>
        <p:spPr>
          <a:xfrm>
            <a:off x="6391656" y="192024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3 · Price</a:t>
            </a:r>
            <a:endParaRPr lang="en-US" sz="2200" dirty="0"/>
          </a:p>
        </p:txBody>
      </p:sp>
      <p:sp>
        <p:nvSpPr>
          <p:cNvPr id="14" name="Text 12"/>
          <p:cNvSpPr txBox="1"/>
          <p:nvPr/>
        </p:nvSpPr>
        <p:spPr>
          <a:xfrm>
            <a:off x="6391656" y="2514600"/>
            <a:ext cx="2194560" cy="1371600"/>
          </a:xfrm>
          <a:prstGeom prst="rect">
            <a:avLst/>
          </a:prstGeom>
          <a:noFill/>
          <a:ln/>
        </p:spPr>
        <p:txBody>
          <a:bodyPr wrap="square" lIns="0" tIns="0" rIns="0" bIns="0" rtlCol="0" anchor="t"/>
          <a:lstStyle/>
          <a:p>
            <a:pPr indent="0" marL="0">
              <a:buNone/>
            </a:pPr>
            <a:r>
              <a:rPr lang="en-US" sz="1500" dirty="0">
                <a:solidFill>
                  <a:schemeClr val="tx1"/>
                </a:solidFill>
              </a:rPr>
              <a:t>messages, bytes, GB stored, server hours × cloud list price</a:t>
            </a:r>
            <a:endParaRPr lang="en-US" sz="1500" dirty="0"/>
          </a:p>
        </p:txBody>
      </p:sp>
      <p:sp>
        <p:nvSpPr>
          <p:cNvPr id="15" name="Text 13"/>
          <p:cNvSpPr txBox="1"/>
          <p:nvPr/>
        </p:nvSpPr>
        <p:spPr>
          <a:xfrm>
            <a:off x="6391656" y="4069080"/>
            <a:ext cx="2194560" cy="731520"/>
          </a:xfrm>
          <a:prstGeom prst="rect">
            <a:avLst/>
          </a:prstGeom>
          <a:noFill/>
          <a:ln/>
        </p:spPr>
        <p:txBody>
          <a:bodyPr wrap="square" lIns="0" tIns="0" rIns="0" bIns="0" rtlCol="0" anchor="t"/>
          <a:lstStyle/>
          <a:p>
            <a:pPr indent="0" marL="0">
              <a:buNone/>
            </a:pPr>
            <a:r>
              <a:rPr lang="en-US" sz="1500" b="1" dirty="0">
                <a:solidFill>
                  <a:schemeClr val="accent2"/>
                </a:solidFill>
              </a:rPr>
              <a:t>₹33k–80k a month</a:t>
            </a:r>
            <a:endParaRPr lang="en-US" sz="1500" dirty="0"/>
          </a:p>
        </p:txBody>
      </p:sp>
      <p:sp>
        <p:nvSpPr>
          <p:cNvPr id="16" name="card"/>
          <p:cNvSpPr/>
          <p:nvPr/>
        </p:nvSpPr>
        <p:spPr>
          <a:xfrm>
            <a:off x="8970264" y="1737360"/>
            <a:ext cx="2624328" cy="3291840"/>
          </a:xfrm>
          <a:prstGeom prst="roundRect">
            <a:avLst>
              <a:gd name="adj" fmla="val 2787"/>
            </a:avLst>
          </a:prstGeom>
          <a:solidFill>
            <a:schemeClr val="bg2"/>
          </a:solidFill>
          <a:ln w="12700">
            <a:solidFill>
              <a:schemeClr val="bg2"/>
            </a:solidFill>
            <a:prstDash val="solid"/>
          </a:ln>
        </p:spPr>
      </p:sp>
      <p:sp>
        <p:nvSpPr>
          <p:cNvPr id="17" name="Text 15"/>
          <p:cNvSpPr txBox="1"/>
          <p:nvPr/>
        </p:nvSpPr>
        <p:spPr>
          <a:xfrm>
            <a:off x="9198864" y="1920240"/>
            <a:ext cx="2194560" cy="457200"/>
          </a:xfrm>
          <a:prstGeom prst="rect">
            <a:avLst/>
          </a:prstGeom>
          <a:noFill/>
          <a:ln/>
        </p:spPr>
        <p:txBody>
          <a:bodyPr wrap="square" lIns="0" tIns="0" rIns="0" bIns="0" rtlCol="0" anchor="t"/>
          <a:lstStyle/>
          <a:p>
            <a:pPr indent="0" marL="0">
              <a:buNone/>
            </a:pPr>
            <a:r>
              <a:rPr lang="en-US" sz="2200" b="1" dirty="0">
                <a:solidFill>
                  <a:schemeClr val="accent1"/>
                </a:solidFill>
              </a:rPr>
              <a:t>4 · Decide</a:t>
            </a:r>
            <a:endParaRPr lang="en-US" sz="2200" dirty="0"/>
          </a:p>
        </p:txBody>
      </p:sp>
      <p:sp>
        <p:nvSpPr>
          <p:cNvPr id="18" name="Text 16"/>
          <p:cNvSpPr txBox="1"/>
          <p:nvPr/>
        </p:nvSpPr>
        <p:spPr>
          <a:xfrm>
            <a:off x="9198864" y="2514600"/>
            <a:ext cx="2194560" cy="1371600"/>
          </a:xfrm>
          <a:prstGeom prst="rect">
            <a:avLst/>
          </a:prstGeom>
          <a:noFill/>
          <a:ln/>
        </p:spPr>
        <p:txBody>
          <a:bodyPr wrap="square" lIns="0" tIns="0" rIns="0" bIns="0" rtlCol="0" anchor="t"/>
          <a:lstStyle/>
          <a:p>
            <a:pPr indent="0" marL="0">
              <a:buNone/>
            </a:pPr>
            <a:r>
              <a:rPr lang="en-US" sz="1500" dirty="0">
                <a:solidFill>
                  <a:schemeClr val="tx1"/>
                </a:solidFill>
              </a:rPr>
              <a:t>cost is 1 of 10 weighted criteria</a:t>
            </a:r>
            <a:endParaRPr lang="en-US" sz="1500" dirty="0"/>
          </a:p>
        </p:txBody>
      </p:sp>
      <p:sp>
        <p:nvSpPr>
          <p:cNvPr id="19" name="Text 17"/>
          <p:cNvSpPr txBox="1"/>
          <p:nvPr/>
        </p:nvSpPr>
        <p:spPr>
          <a:xfrm>
            <a:off x="9198864" y="4069080"/>
            <a:ext cx="2194560" cy="731520"/>
          </a:xfrm>
          <a:prstGeom prst="rect">
            <a:avLst/>
          </a:prstGeom>
          <a:noFill/>
          <a:ln/>
        </p:spPr>
        <p:txBody>
          <a:bodyPr wrap="square" lIns="0" tIns="0" rIns="0" bIns="0" rtlCol="0" anchor="t"/>
          <a:lstStyle/>
          <a:p>
            <a:pPr indent="0" marL="0">
              <a:buNone/>
            </a:pPr>
            <a:r>
              <a:rPr lang="en-US" sz="1500" b="1" dirty="0">
                <a:solidFill>
                  <a:schemeClr val="accent2"/>
                </a:solidFill>
              </a:rPr>
              <a:t>Azure 4.22 / AWS 3.92 / GCP 3.57</a:t>
            </a:r>
            <a:endParaRPr lang="en-US" sz="1500" dirty="0"/>
          </a:p>
        </p:txBody>
      </p:sp>
      <p:sp>
        <p:nvSpPr>
          <p:cNvPr id="20" name="Text 18"/>
          <p:cNvSpPr txBox="1"/>
          <p:nvPr/>
        </p:nvSpPr>
        <p:spPr>
          <a:xfrm>
            <a:off x="548640" y="5394960"/>
            <a:ext cx="11094415" cy="548640"/>
          </a:xfrm>
          <a:prstGeom prst="rect">
            <a:avLst/>
          </a:prstGeom>
          <a:noFill/>
          <a:ln/>
        </p:spPr>
        <p:txBody>
          <a:bodyPr wrap="square" lIns="0" tIns="0" rIns="0" bIns="0" rtlCol="0" anchor="t"/>
          <a:lstStyle/>
          <a:p>
            <a:pPr indent="0" marL="0">
              <a:buNone/>
            </a:pPr>
            <a:r>
              <a:rPr lang="en-US" sz="1300" dirty="0">
                <a:solidFill>
                  <a:schemeClr val="tx2"/>
                </a:solidFill>
              </a:rPr>
              <a:t>Conventions: month = 30 days = 2,592,000 s = 720 h · year = 365 days = 31,536,000 s · 1 USD = ₹94.7145 (RBI/FBIL, 21 Oct 2026) · public list prices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1 · COUNT</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1,000 readings a second become 31.5 billion a year</a:t>
            </a:r>
            <a:endParaRPr lang="en-US" sz="3400" dirty="0"/>
          </a:p>
        </p:txBody>
      </p:sp>
      <p:sp>
        <p:nvSpPr>
          <p:cNvPr id="4" name="card"/>
          <p:cNvSpPr/>
          <p:nvPr/>
        </p:nvSpPr>
        <p:spPr>
          <a:xfrm>
            <a:off x="548640" y="1645920"/>
            <a:ext cx="11094415" cy="548640"/>
          </a:xfrm>
          <a:prstGeom prst="roundRect">
            <a:avLst>
              <a:gd name="adj" fmla="val 13333"/>
            </a:avLst>
          </a:prstGeom>
          <a:solidFill>
            <a:srgbClr val="FCE9DC"/>
          </a:solidFill>
          <a:ln w="12700">
            <a:solidFill>
              <a:srgbClr val="FCE9DC"/>
            </a:solidFill>
            <a:prstDash val="solid"/>
          </a:ln>
        </p:spPr>
      </p:sp>
      <p:sp>
        <p:nvSpPr>
          <p:cNvPr id="5" name="Text 3"/>
          <p:cNvSpPr txBox="1"/>
          <p:nvPr/>
        </p:nvSpPr>
        <p:spPr>
          <a:xfrm>
            <a:off x="777240" y="1645920"/>
            <a:ext cx="10637215" cy="548640"/>
          </a:xfrm>
          <a:prstGeom prst="rect">
            <a:avLst/>
          </a:prstGeom>
          <a:noFill/>
          <a:ln/>
        </p:spPr>
        <p:txBody>
          <a:bodyPr wrap="square" lIns="0" tIns="0" rIns="0" bIns="0" rtlCol="0" anchor="ctr"/>
          <a:lstStyle/>
          <a:p>
            <a:pPr indent="0" marL="0">
              <a:buNone/>
            </a:pPr>
            <a:r>
              <a:rPr lang="en-US" sz="1700" b="1" dirty="0">
                <a:solidFill>
                  <a:schemeClr val="tx1"/>
                </a:solidFill>
              </a:rPr>
              <a:t>100 machines × 10 sensors × 1 reading/s = 1,000 readings every second</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94415" cy="914400"/>
        </p:xfrm>
        <a:graphic>
          <a:graphicData uri="http://schemas.openxmlformats.org/drawingml/2006/table">
            <a:tbl>
              <a:tblPr/>
              <a:tblGrid>
                <a:gridCol w="2743200"/>
                <a:gridCol w="2560320"/>
                <a:gridCol w="3291840"/>
                <a:gridCol w="2499055"/>
              </a:tblGrid>
              <a:tr h="457200">
                <a:tc>
                  <a:txBody>
                    <a:bodyPr/>
                    <a:lstStyle/>
                    <a:p>
                      <a:pPr indent="0" marL="0">
                        <a:buNone/>
                      </a:pPr>
                      <a:r>
                        <a:rPr lang="en-US" sz="1600" b="1" dirty="0">
                          <a:solidFill>
                            <a:schemeClr val="bg1"/>
                          </a:solidFill>
                        </a:rPr>
                        <a:t>Period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Seconds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Calculation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Readings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57200">
                <a:tc>
                  <a:txBody>
                    <a:bodyPr/>
                    <a:lstStyle/>
                    <a:p>
                      <a:pPr indent="0" marL="0">
                        <a:buNone/>
                      </a:pPr>
                      <a:r>
                        <a:rPr lang="en-US" sz="1600" dirty="0">
                          <a:solidFill>
                            <a:schemeClr val="tx1"/>
                          </a:solidFill>
                        </a:rPr>
                        <a:t>per second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1,000 × 1</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dirty="0">
                          <a:solidFill>
                            <a:schemeClr val="tx1"/>
                          </a:solidFill>
                        </a:rPr>
                        <a:t>per hour</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3,600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1,000 × 3,600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3.6 million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dirty="0">
                          <a:solidFill>
                            <a:schemeClr val="tx1"/>
                          </a:solidFill>
                        </a:rPr>
                        <a:t>per day</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86,400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1,000 × 86,400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86.4 million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dirty="0">
                          <a:solidFill>
                            <a:schemeClr val="tx1"/>
                          </a:solidFill>
                        </a:rPr>
                        <a:t>per month (30 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2,592,000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1,000 × 2,592,000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600" dirty="0">
                          <a:solidFill>
                            <a:schemeClr val="tx1"/>
                          </a:solidFill>
                        </a:rPr>
                        <a:t>2.59 billion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b="1" dirty="0">
                          <a:solidFill>
                            <a:schemeClr val="tx1"/>
                          </a:solidFill>
                        </a:rPr>
                        <a:t>per year (365 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31,536,000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1,000 × 31,536,000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31.5 billion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1 · THE SHOCK NUMBER</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One vibration sensor outweighs ten whole machines</a:t>
            </a:r>
            <a:endParaRPr lang="en-US" sz="3400" dirty="0"/>
          </a:p>
        </p:txBody>
      </p:sp>
      <p:sp>
        <p:nvSpPr>
          <p:cNvPr id="4" name="Text 2"/>
          <p:cNvSpPr txBox="1"/>
          <p:nvPr/>
        </p:nvSpPr>
        <p:spPr>
          <a:xfrm>
            <a:off x="548640" y="1828800"/>
            <a:ext cx="3429000" cy="868680"/>
          </a:xfrm>
          <a:prstGeom prst="rect">
            <a:avLst/>
          </a:prstGeom>
          <a:noFill/>
          <a:ln/>
        </p:spPr>
        <p:txBody>
          <a:bodyPr wrap="square" lIns="0" tIns="0" rIns="0" bIns="0" rtlCol="0" anchor="b"/>
          <a:lstStyle/>
          <a:p>
            <a:pPr indent="0" marL="0">
              <a:buNone/>
            </a:pPr>
            <a:r>
              <a:rPr lang="en-US" sz="4800" b="1" dirty="0">
                <a:solidFill>
                  <a:schemeClr val="accent2"/>
                </a:solidFill>
              </a:rPr>
              <a:t>3.15 B</a:t>
            </a:r>
            <a:endParaRPr lang="en-US" sz="4800" dirty="0"/>
          </a:p>
        </p:txBody>
      </p:sp>
      <p:sp>
        <p:nvSpPr>
          <p:cNvPr id="5" name="Text 3"/>
          <p:cNvSpPr txBox="1"/>
          <p:nvPr/>
        </p:nvSpPr>
        <p:spPr>
          <a:xfrm>
            <a:off x="548640" y="2743200"/>
            <a:ext cx="3429000" cy="1097280"/>
          </a:xfrm>
          <a:prstGeom prst="rect">
            <a:avLst/>
          </a:prstGeom>
          <a:noFill/>
          <a:ln/>
        </p:spPr>
        <p:txBody>
          <a:bodyPr wrap="square" lIns="0" tIns="0" rIns="0" bIns="0" rtlCol="0" anchor="t"/>
          <a:lstStyle/>
          <a:p>
            <a:pPr indent="0" marL="0">
              <a:buNone/>
            </a:pPr>
            <a:r>
              <a:rPr lang="en-US" sz="1400" dirty="0">
                <a:solidFill>
                  <a:schemeClr val="tx2"/>
                </a:solidFill>
              </a:rPr>
              <a:t>readings a year from ONE 100 Hz sensor on ONE machine (100 × 31,536,000)</a:t>
            </a:r>
            <a:endParaRPr lang="en-US" sz="1400" dirty="0"/>
          </a:p>
        </p:txBody>
      </p:sp>
      <p:sp>
        <p:nvSpPr>
          <p:cNvPr id="6" name="Text 4"/>
          <p:cNvSpPr txBox="1"/>
          <p:nvPr/>
        </p:nvSpPr>
        <p:spPr>
          <a:xfrm>
            <a:off x="4297680" y="1828800"/>
            <a:ext cx="3429000" cy="868680"/>
          </a:xfrm>
          <a:prstGeom prst="rect">
            <a:avLst/>
          </a:prstGeom>
          <a:noFill/>
          <a:ln/>
        </p:spPr>
        <p:txBody>
          <a:bodyPr wrap="square" lIns="0" tIns="0" rIns="0" bIns="0" rtlCol="0" anchor="b"/>
          <a:lstStyle/>
          <a:p>
            <a:pPr indent="0" marL="0">
              <a:buNone/>
            </a:pPr>
            <a:r>
              <a:rPr lang="en-US" sz="4800" b="1" dirty="0">
                <a:solidFill>
                  <a:schemeClr val="accent2"/>
                </a:solidFill>
              </a:rPr>
              <a:t>10×</a:t>
            </a:r>
            <a:endParaRPr lang="en-US" sz="4800" dirty="0"/>
          </a:p>
        </p:txBody>
      </p:sp>
      <p:sp>
        <p:nvSpPr>
          <p:cNvPr id="7" name="Text 5"/>
          <p:cNvSpPr txBox="1"/>
          <p:nvPr/>
        </p:nvSpPr>
        <p:spPr>
          <a:xfrm>
            <a:off x="4297680" y="2743200"/>
            <a:ext cx="3429000" cy="1097280"/>
          </a:xfrm>
          <a:prstGeom prst="rect">
            <a:avLst/>
          </a:prstGeom>
          <a:noFill/>
          <a:ln/>
        </p:spPr>
        <p:txBody>
          <a:bodyPr wrap="square" lIns="0" tIns="0" rIns="0" bIns="0" rtlCol="0" anchor="t"/>
          <a:lstStyle/>
          <a:p>
            <a:pPr indent="0" marL="0">
              <a:buNone/>
            </a:pPr>
            <a:r>
              <a:rPr lang="en-US" sz="1400" dirty="0">
                <a:solidFill>
                  <a:schemeClr val="tx2"/>
                </a:solidFill>
              </a:rPr>
              <a:t>all 10 slow sensors of that machine; on all 100 machines: 315 B a year</a:t>
            </a:r>
            <a:endParaRPr lang="en-US" sz="1400" dirty="0"/>
          </a:p>
        </p:txBody>
      </p:sp>
      <p:sp>
        <p:nvSpPr>
          <p:cNvPr id="8" name="Text 6"/>
          <p:cNvSpPr txBox="1"/>
          <p:nvPr/>
        </p:nvSpPr>
        <p:spPr>
          <a:xfrm>
            <a:off x="8046720" y="1828800"/>
            <a:ext cx="3429000" cy="868680"/>
          </a:xfrm>
          <a:prstGeom prst="rect">
            <a:avLst/>
          </a:prstGeom>
          <a:noFill/>
          <a:ln/>
        </p:spPr>
        <p:txBody>
          <a:bodyPr wrap="square" lIns="0" tIns="0" rIns="0" bIns="0" rtlCol="0" anchor="b"/>
          <a:lstStyle/>
          <a:p>
            <a:pPr indent="0" marL="0">
              <a:buNone/>
            </a:pPr>
            <a:r>
              <a:rPr lang="en-US" sz="4800" b="1" dirty="0">
                <a:solidFill>
                  <a:schemeClr val="accent1"/>
                </a:solidFill>
              </a:rPr>
              <a:t>18.9 T</a:t>
            </a:r>
            <a:endParaRPr lang="en-US" sz="4800" dirty="0"/>
          </a:p>
        </p:txBody>
      </p:sp>
      <p:sp>
        <p:nvSpPr>
          <p:cNvPr id="9" name="Text 7"/>
          <p:cNvSpPr txBox="1"/>
          <p:nvPr/>
        </p:nvSpPr>
        <p:spPr>
          <a:xfrm>
            <a:off x="8046720" y="2743200"/>
            <a:ext cx="3429000" cy="1097280"/>
          </a:xfrm>
          <a:prstGeom prst="rect">
            <a:avLst/>
          </a:prstGeom>
          <a:noFill/>
          <a:ln/>
        </p:spPr>
        <p:txBody>
          <a:bodyPr wrap="square" lIns="0" tIns="0" rIns="0" bIns="0" rtlCol="0" anchor="t"/>
          <a:lstStyle/>
          <a:p>
            <a:pPr indent="0" marL="0">
              <a:buNone/>
            </a:pPr>
            <a:r>
              <a:rPr lang="en-US" sz="1400" dirty="0">
                <a:solidFill>
                  <a:schemeClr val="tx2"/>
                </a:solidFill>
              </a:rPr>
              <a:t>a year at the real Bosch rate: 100 machines × 3 axes × 2,000 Hz = 600,000/s</a:t>
            </a:r>
            <a:endParaRPr lang="en-US" sz="1400" dirty="0"/>
          </a:p>
        </p:txBody>
      </p:sp>
      <p:sp>
        <p:nvSpPr>
          <p:cNvPr id="10" name="card"/>
          <p:cNvSpPr/>
          <p:nvPr/>
        </p:nvSpPr>
        <p:spPr>
          <a:xfrm>
            <a:off x="548640" y="4343400"/>
            <a:ext cx="11094415" cy="1554480"/>
          </a:xfrm>
          <a:prstGeom prst="roundRect">
            <a:avLst>
              <a:gd name="adj" fmla="val 4706"/>
            </a:avLst>
          </a:prstGeom>
          <a:solidFill>
            <a:schemeClr val="bg2"/>
          </a:solidFill>
          <a:ln w="12700">
            <a:solidFill>
              <a:schemeClr val="bg2"/>
            </a:solidFill>
            <a:prstDash val="solid"/>
          </a:ln>
        </p:spPr>
      </p:sp>
      <p:sp>
        <p:nvSpPr>
          <p:cNvPr id="11" name="Text 9"/>
          <p:cNvSpPr txBox="1"/>
          <p:nvPr/>
        </p:nvSpPr>
        <p:spPr>
          <a:xfrm>
            <a:off x="822960" y="4480560"/>
            <a:ext cx="10058400" cy="365760"/>
          </a:xfrm>
          <a:prstGeom prst="rect">
            <a:avLst/>
          </a:prstGeom>
          <a:noFill/>
          <a:ln/>
        </p:spPr>
        <p:txBody>
          <a:bodyPr wrap="square" lIns="0" tIns="0" rIns="0" bIns="0" rtlCol="0" anchor="t"/>
          <a:lstStyle/>
          <a:p>
            <a:pPr indent="0" marL="0">
              <a:buNone/>
            </a:pPr>
            <a:r>
              <a:rPr lang="en-US" sz="1700" b="1" dirty="0">
                <a:solidFill>
                  <a:schemeClr val="accent1"/>
                </a:solidFill>
              </a:rPr>
              <a:t>Why so fast? The Nyquist rule</a:t>
            </a:r>
            <a:endParaRPr lang="en-US" sz="1700" dirty="0"/>
          </a:p>
        </p:txBody>
      </p:sp>
      <p:sp>
        <p:nvSpPr>
          <p:cNvPr id="12" name="Text 10"/>
          <p:cNvSpPr txBox="1"/>
          <p:nvPr/>
        </p:nvSpPr>
        <p:spPr>
          <a:xfrm>
            <a:off x="822960" y="4892040"/>
            <a:ext cx="10545775" cy="914400"/>
          </a:xfrm>
          <a:prstGeom prst="rect">
            <a:avLst/>
          </a:prstGeom>
          <a:noFill/>
          <a:ln/>
        </p:spPr>
        <p:txBody>
          <a:bodyPr wrap="square" lIns="0" tIns="0" rIns="0" bIns="0" rtlCol="0" anchor="t"/>
          <a:lstStyle/>
          <a:p>
            <a:pPr indent="0" marL="0">
              <a:buNone/>
            </a:pPr>
            <a:r>
              <a:rPr lang="en-US" sz="1600" dirty="0">
                <a:solidFill>
                  <a:schemeClr val="tx1"/>
                </a:solidFill>
              </a:rPr>
              <a:t>To see a vibration at frequency f you must sample at least 2 × f. Bearing and tool faults appear between 100 Hz and several kHz, so vibration sensors need kHz sampling. Slow sampling simply misses the fault.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2 · SIZE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From readings to bandwidth and storage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3657600" cy="914400"/>
        </p:xfrm>
        <a:graphic>
          <a:graphicData uri="http://schemas.openxmlformats.org/drawingml/2006/table">
            <a:tbl>
              <a:tblPr/>
              <a:tblGrid>
                <a:gridCol w="2651760"/>
                <a:gridCol w="1005840"/>
              </a:tblGrid>
              <a:tr h="411480">
                <a:tc>
                  <a:txBody>
                    <a:bodyPr/>
                    <a:lstStyle/>
                    <a:p>
                      <a:pPr indent="0" marL="0">
                        <a:buNone/>
                      </a:pPr>
                      <a:r>
                        <a:rPr lang="en-US" sz="1500" b="1" dirty="0">
                          <a:solidFill>
                            <a:schemeClr val="bg1"/>
                          </a:solidFill>
                        </a:rPr>
                        <a:t>Field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Bytes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11480">
                <a:tc>
                  <a:txBody>
                    <a:bodyPr/>
                    <a:lstStyle/>
                    <a:p>
                      <a:pPr indent="0" marL="0">
                        <a:buNone/>
                      </a:pPr>
                      <a:r>
                        <a:rPr lang="en-US" sz="1500" dirty="0">
                          <a:solidFill>
                            <a:schemeClr val="tx1"/>
                          </a:solidFill>
                        </a:rPr>
                        <a:t>Timestamp (int64)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Value (float64)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Machine ID (int16)</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Sensor ID (int16)</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600" b="1" dirty="0">
                          <a:solidFill>
                            <a:schemeClr val="tx1"/>
                          </a:solidFill>
                        </a:rPr>
                        <a:t>One reading</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20 B</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Text 2"/>
          <p:cNvSpPr txBox="1"/>
          <p:nvPr/>
        </p:nvSpPr>
        <p:spPr>
          <a:xfrm>
            <a:off x="4572000" y="1737360"/>
            <a:ext cx="7040880" cy="1371600"/>
          </a:xfrm>
          <a:prstGeom prst="rect">
            <a:avLst/>
          </a:prstGeom>
          <a:noFill/>
          <a:ln/>
        </p:spPr>
        <p:txBody>
          <a:bodyPr wrap="square" lIns="0" tIns="0" rIns="0" bIns="0" rtlCol="0" anchor="t"/>
          <a:lstStyle/>
          <a:p>
            <a:pPr marL="203200" indent="-203200">
              <a:spcAft>
                <a:spcPts val="600"/>
              </a:spcAft>
              <a:buSzPct val="100000"/>
              <a:buChar char="•"/>
            </a:pPr>
            <a:r>
              <a:rPr lang="en-US" sz="1600" b="1" dirty="0">
                <a:solidFill>
                  <a:schemeClr val="tx1"/>
                </a:solidFill>
              </a:rPr>
              <a:t>bytes/s = readings/s × 20 B</a:t>
            </a:r>
            <a:endParaRPr lang="en-US" sz="1600" dirty="0"/>
          </a:p>
          <a:p>
            <a:pPr marL="203200" indent="-203200">
              <a:spcAft>
                <a:spcPts val="600"/>
              </a:spcAft>
              <a:buSzPct val="100000"/>
              <a:buChar char="•"/>
            </a:pPr>
            <a:r>
              <a:rPr lang="en-US" sz="1600" b="1" dirty="0">
                <a:solidFill>
                  <a:schemeClr val="tx1"/>
                </a:solidFill>
              </a:rPr>
              <a:t>Mbps = bytes/s × 8 ÷ 1,000,000</a:t>
            </a:r>
            <a:endParaRPr lang="en-US" sz="1600" dirty="0"/>
          </a:p>
          <a:p>
            <a:pPr marL="203200" indent="-203200">
              <a:spcAft>
                <a:spcPts val="600"/>
              </a:spcAft>
              <a:buSzPct val="100000"/>
              <a:buChar char="•"/>
            </a:pPr>
            <a:r>
              <a:rPr lang="en-US" sz="1600" b="1" dirty="0">
                <a:solidFill>
                  <a:schemeClr val="tx1"/>
                </a:solidFill>
              </a:rPr>
              <a:t>storage = bytes/s × seconds (86,400 a day, 31,536,000 a year)</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572000" y="3337560"/>
          <a:ext cx="7071055" cy="914400"/>
        </p:xfrm>
        <a:graphic>
          <a:graphicData uri="http://schemas.openxmlformats.org/drawingml/2006/table">
            <a:tbl>
              <a:tblPr/>
              <a:tblGrid>
                <a:gridCol w="2377440"/>
                <a:gridCol w="1188720"/>
                <a:gridCol w="1188720"/>
                <a:gridCol w="1097280"/>
                <a:gridCol w="1218895"/>
              </a:tblGrid>
              <a:tr h="411480">
                <a:tc>
                  <a:txBody>
                    <a:bodyPr/>
                    <a:lstStyle/>
                    <a:p>
                      <a:pPr indent="0" marL="0">
                        <a:buNone/>
                      </a:pPr>
                      <a:r>
                        <a:rPr lang="en-US" sz="1400" b="1" dirty="0">
                          <a:solidFill>
                            <a:schemeClr val="bg1"/>
                          </a:solidFill>
                        </a:rPr>
                        <a:t>Scenario</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Readings/s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Bandwidth</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Per day</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Per year</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tx1"/>
                          </a:solidFill>
                        </a:rPr>
                        <a:t>Slow fleet, 1 Hz</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1,000</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0.16 Mbps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1.73 GB</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0.63 TB</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400" dirty="0">
                          <a:solidFill>
                            <a:schemeClr val="tx1"/>
                          </a:solidFill>
                        </a:rPr>
                        <a:t>Design point (1 Hz + 100 Hz)</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11,000</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1.76 Mbps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19 GB</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6.94 TB</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600" b="1" dirty="0">
                          <a:solidFill>
                            <a:schemeClr val="tx1"/>
                          </a:solidFill>
                        </a:rPr>
                        <a:t>Raw 2 kHz × 3 axes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600,000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96 Mbps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1,037 GB</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378 TB</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7" name="Text 3"/>
          <p:cNvSpPr txBox="1"/>
          <p:nvPr/>
        </p:nvSpPr>
        <p:spPr>
          <a:xfrm>
            <a:off x="548640" y="5394960"/>
            <a:ext cx="11094415" cy="457200"/>
          </a:xfrm>
          <a:prstGeom prst="rect">
            <a:avLst/>
          </a:prstGeom>
          <a:noFill/>
          <a:ln/>
        </p:spPr>
        <p:txBody>
          <a:bodyPr wrap="square" lIns="0" tIns="0" rIns="0" bIns="0" rtlCol="0" anchor="t"/>
          <a:lstStyle/>
          <a:p>
            <a:pPr indent="0" marL="0">
              <a:buNone/>
            </a:pPr>
            <a:r>
              <a:rPr lang="en-US" sz="1600" b="1" dirty="0">
                <a:solidFill>
                  <a:schemeClr val="accent1"/>
                </a:solidFill>
              </a:rPr>
              <a:t>96 Mbps = a plant's entire 50–100 Mbps internet line, 24 hours a day, before anyone sends an email.</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2 · ENCODING</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How you write it matters as much as how fast you sample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206240"/>
                <a:gridCol w="1463040"/>
                <a:gridCol w="5425135"/>
              </a:tblGrid>
              <a:tr h="411480">
                <a:tc>
                  <a:txBody>
                    <a:bodyPr/>
                    <a:lstStyle/>
                    <a:p>
                      <a:pPr indent="0" marL="0">
                        <a:buNone/>
                      </a:pPr>
                      <a:r>
                        <a:rPr lang="en-US" sz="1500" b="1" dirty="0">
                          <a:solidFill>
                            <a:schemeClr val="bg1"/>
                          </a:solidFill>
                        </a:rPr>
                        <a:t>Message type (measured)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Payload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Bytes per reading on the wire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11480">
                <a:tc>
                  <a:txBody>
                    <a:bodyPr/>
                    <a:lstStyle/>
                    <a:p>
                      <a:pPr indent="0" marL="0">
                        <a:buNone/>
                      </a:pPr>
                      <a:r>
                        <a:rPr lang="en-US" sz="1500" dirty="0">
                          <a:solidFill>
                            <a:schemeClr val="tx1"/>
                          </a:solidFill>
                        </a:rPr>
                        <a:t>JSON, one reading per MQTT message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125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219 B (payload + topic + header + TCP/IP)</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JSON, 10 sensors batched per second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296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38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JSON, 100 Hz one-second block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729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8.25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48640" y="3566160"/>
          <a:ext cx="11094415" cy="914400"/>
        </p:xfrm>
        <a:graphic>
          <a:graphicData uri="http://schemas.openxmlformats.org/drawingml/2006/table">
            <a:tbl>
              <a:tblPr/>
              <a:tblGrid>
                <a:gridCol w="3474720"/>
                <a:gridCol w="2377440"/>
                <a:gridCol w="2926080"/>
                <a:gridCol w="2316175"/>
              </a:tblGrid>
              <a:tr h="411480">
                <a:tc>
                  <a:txBody>
                    <a:bodyPr/>
                    <a:lstStyle/>
                    <a:p>
                      <a:pPr indent="0" marL="0">
                        <a:buNone/>
                      </a:pPr>
                      <a:r>
                        <a:rPr lang="en-US" sz="1500" b="1" dirty="0">
                          <a:solidFill>
                            <a:schemeClr val="bg1"/>
                          </a:solidFill>
                        </a:rPr>
                        <a:t>Scenario</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Binary 20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JSON one per message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JSON batched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11480">
                <a:tc>
                  <a:txBody>
                    <a:bodyPr/>
                    <a:lstStyle/>
                    <a:p>
                      <a:pPr indent="0" marL="0">
                        <a:buNone/>
                      </a:pPr>
                      <a:r>
                        <a:rPr lang="en-US" sz="1500" dirty="0">
                          <a:solidFill>
                            <a:schemeClr val="tx1"/>
                          </a:solidFill>
                        </a:rPr>
                        <a:t>Slow fleet, 1 Hz</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0.16 Mbps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1.75 Mbps (11×)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0.30 Mbps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Design point</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1.76 Mbps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19.3 Mbps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0.96 Mbps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600" b="1" dirty="0">
                          <a:solidFill>
                            <a:schemeClr val="tx1"/>
                          </a:solidFill>
                        </a:rPr>
                        <a:t>Raw 2 kHz × 3 axes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96 Mbps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1,051 Mbps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39.6 Mbps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6" name="Text 2"/>
          <p:cNvSpPr txBox="1"/>
          <p:nvPr/>
        </p:nvSpPr>
        <p:spPr>
          <a:xfrm>
            <a:off x="548640" y="5486400"/>
            <a:ext cx="11094415" cy="457200"/>
          </a:xfrm>
          <a:prstGeom prst="rect">
            <a:avLst/>
          </a:prstGeom>
          <a:noFill/>
          <a:ln/>
        </p:spPr>
        <p:txBody>
          <a:bodyPr wrap="square" lIns="0" tIns="0" rIns="0" bIns="0" rtlCol="0" anchor="t"/>
          <a:lstStyle/>
          <a:p>
            <a:pPr indent="0" marL="0">
              <a:buNone/>
            </a:pPr>
            <a:r>
              <a:rPr lang="en-US" sz="1600" b="1" dirty="0">
                <a:solidFill>
                  <a:schemeClr val="accent2"/>
                </a:solidFill>
              </a:rPr>
              <a:t>Batching = the edge gateway packs a machine's readings for one second into one MQTT message.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2 · COMPRESSION (MEASURED ON REAL DATA)</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Compression helps storage, but noise does not compress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108960"/>
                <a:gridCol w="2651760"/>
                <a:gridCol w="2651760"/>
                <a:gridCol w="2681935"/>
              </a:tblGrid>
              <a:tr h="411480">
                <a:tc>
                  <a:txBody>
                    <a:bodyPr/>
                    <a:lstStyle/>
                    <a:p>
                      <a:pPr indent="0" marL="0">
                        <a:buNone/>
                      </a:pPr>
                      <a:r>
                        <a:rPr lang="en-US" sz="1500" b="1" dirty="0">
                          <a:solidFill>
                            <a:schemeClr val="bg1"/>
                          </a:solidFill>
                        </a:rPr>
                        <a:t>Format</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UMich CNC 10 Hz (REAL)</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Bosch 2 kHz vibration (REAL)</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Azure PdM hourly (BENCHMARK)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11480">
                <a:tc>
                  <a:txBody>
                    <a:bodyPr/>
                    <a:lstStyle/>
                    <a:p>
                      <a:pPr indent="0" marL="0">
                        <a:buNone/>
                      </a:pPr>
                      <a:r>
                        <a:rPr lang="en-US" sz="1500" dirty="0">
                          <a:solidFill>
                            <a:schemeClr val="tx1"/>
                          </a:solidFill>
                        </a:rPr>
                        <a:t>CSV (baseline)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1.0×</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1.0×</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1.0×</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CSV + gzip</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500" dirty="0">
                          <a:solidFill>
                            <a:schemeClr val="tx1"/>
                          </a:solidFill>
                        </a:rPr>
                        <a:t>Parquet + Snappy</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5.8×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3.3×</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2.5×</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11480">
                <a:tc>
                  <a:txBody>
                    <a:bodyPr/>
                    <a:lstStyle/>
                    <a:p>
                      <a:pPr indent="0" marL="0">
                        <a:buNone/>
                      </a:pPr>
                      <a:r>
                        <a:rPr lang="en-US" sz="1600" b="1" dirty="0">
                          <a:solidFill>
                            <a:schemeClr val="tx1"/>
                          </a:solidFill>
                        </a:rPr>
                        <a:t>Parquet + Zstd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6.9×</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5.0×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2.7×</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Text 2"/>
          <p:cNvSpPr txBox="1"/>
          <p:nvPr/>
        </p:nvSpPr>
        <p:spPr>
          <a:xfrm>
            <a:off x="548640" y="3931920"/>
            <a:ext cx="3429000" cy="868680"/>
          </a:xfrm>
          <a:prstGeom prst="rect">
            <a:avLst/>
          </a:prstGeom>
          <a:noFill/>
          <a:ln/>
        </p:spPr>
        <p:txBody>
          <a:bodyPr wrap="square" lIns="0" tIns="0" rIns="0" bIns="0" rtlCol="0" anchor="b"/>
          <a:lstStyle/>
          <a:p>
            <a:pPr indent="0" marL="0">
              <a:buNone/>
            </a:pPr>
            <a:r>
              <a:rPr lang="en-US" sz="4000" b="1" dirty="0">
                <a:solidFill>
                  <a:schemeClr val="accent2"/>
                </a:solidFill>
              </a:rPr>
              <a:t>6.9×</a:t>
            </a:r>
            <a:endParaRPr lang="en-US" sz="4000" dirty="0"/>
          </a:p>
        </p:txBody>
      </p:sp>
      <p:sp>
        <p:nvSpPr>
          <p:cNvPr id="6" name="Text 3"/>
          <p:cNvSpPr txBox="1"/>
          <p:nvPr/>
        </p:nvSpPr>
        <p:spPr>
          <a:xfrm>
            <a:off x="548640" y="4846320"/>
            <a:ext cx="3429000" cy="640080"/>
          </a:xfrm>
          <a:prstGeom prst="rect">
            <a:avLst/>
          </a:prstGeom>
          <a:noFill/>
          <a:ln/>
        </p:spPr>
        <p:txBody>
          <a:bodyPr wrap="square" lIns="0" tIns="0" rIns="0" bIns="0" rtlCol="0" anchor="t"/>
          <a:lstStyle/>
          <a:p>
            <a:pPr indent="0" marL="0">
              <a:buNone/>
            </a:pPr>
            <a:r>
              <a:rPr lang="en-US" sz="1400" dirty="0">
                <a:solidFill>
                  <a:schemeClr val="tx2"/>
                </a:solidFill>
              </a:rPr>
              <a:t>slow machine signals: smooth, repetitive values compress well</a:t>
            </a:r>
            <a:endParaRPr lang="en-US" sz="1400" dirty="0"/>
          </a:p>
        </p:txBody>
      </p:sp>
      <p:sp>
        <p:nvSpPr>
          <p:cNvPr id="7" name="Text 4"/>
          <p:cNvSpPr txBox="1"/>
          <p:nvPr/>
        </p:nvSpPr>
        <p:spPr>
          <a:xfrm>
            <a:off x="4297680" y="3931920"/>
            <a:ext cx="3429000" cy="868680"/>
          </a:xfrm>
          <a:prstGeom prst="rect">
            <a:avLst/>
          </a:prstGeom>
          <a:noFill/>
          <a:ln/>
        </p:spPr>
        <p:txBody>
          <a:bodyPr wrap="square" lIns="0" tIns="0" rIns="0" bIns="0" rtlCol="0" anchor="b"/>
          <a:lstStyle/>
          <a:p>
            <a:pPr indent="0" marL="0">
              <a:buNone/>
            </a:pPr>
            <a:r>
              <a:rPr lang="en-US" sz="4000" b="1" dirty="0">
                <a:solidFill>
                  <a:schemeClr val="accent1"/>
                </a:solidFill>
              </a:rPr>
              <a:t>5.0×</a:t>
            </a:r>
            <a:endParaRPr lang="en-US" sz="4000" dirty="0"/>
          </a:p>
        </p:txBody>
      </p:sp>
      <p:sp>
        <p:nvSpPr>
          <p:cNvPr id="8" name="Text 5"/>
          <p:cNvSpPr txBox="1"/>
          <p:nvPr/>
        </p:nvSpPr>
        <p:spPr>
          <a:xfrm>
            <a:off x="4297680" y="4846320"/>
            <a:ext cx="3429000" cy="640080"/>
          </a:xfrm>
          <a:prstGeom prst="rect">
            <a:avLst/>
          </a:prstGeom>
          <a:noFill/>
          <a:ln/>
        </p:spPr>
        <p:txBody>
          <a:bodyPr wrap="square" lIns="0" tIns="0" rIns="0" bIns="0" rtlCol="0" anchor="t"/>
          <a:lstStyle/>
          <a:p>
            <a:pPr indent="0" marL="0">
              <a:buNone/>
            </a:pPr>
            <a:r>
              <a:rPr lang="en-US" sz="1400" dirty="0">
                <a:solidFill>
                  <a:schemeClr val="tx2"/>
                </a:solidFill>
              </a:rPr>
              <a:t>raw vibration: mostly broadband noise, little pattern to remove</a:t>
            </a:r>
            <a:endParaRPr lang="en-US" sz="1400" dirty="0"/>
          </a:p>
        </p:txBody>
      </p:sp>
      <p:sp>
        <p:nvSpPr>
          <p:cNvPr id="9" name="Text 6"/>
          <p:cNvSpPr txBox="1"/>
          <p:nvPr/>
        </p:nvSpPr>
        <p:spPr>
          <a:xfrm>
            <a:off x="8046720" y="3931920"/>
            <a:ext cx="3429000" cy="868680"/>
          </a:xfrm>
          <a:prstGeom prst="rect">
            <a:avLst/>
          </a:prstGeom>
          <a:noFill/>
          <a:ln/>
        </p:spPr>
        <p:txBody>
          <a:bodyPr wrap="square" lIns="0" tIns="0" rIns="0" bIns="0" rtlCol="0" anchor="b"/>
          <a:lstStyle/>
          <a:p>
            <a:pPr indent="0" marL="0">
              <a:buNone/>
            </a:pPr>
            <a:r>
              <a:rPr lang="en-US" sz="4000" b="1" dirty="0">
                <a:solidFill>
                  <a:schemeClr val="accent2"/>
                </a:solidFill>
              </a:rPr>
              <a:t>2.7×</a:t>
            </a:r>
            <a:endParaRPr lang="en-US" sz="4000" dirty="0"/>
          </a:p>
        </p:txBody>
      </p:sp>
      <p:sp>
        <p:nvSpPr>
          <p:cNvPr id="10" name="Text 7"/>
          <p:cNvSpPr txBox="1"/>
          <p:nvPr/>
        </p:nvSpPr>
        <p:spPr>
          <a:xfrm>
            <a:off x="8046720" y="4846320"/>
            <a:ext cx="3429000" cy="640080"/>
          </a:xfrm>
          <a:prstGeom prst="rect">
            <a:avLst/>
          </a:prstGeom>
          <a:noFill/>
          <a:ln/>
        </p:spPr>
        <p:txBody>
          <a:bodyPr wrap="square" lIns="0" tIns="0" rIns="0" bIns="0" rtlCol="0" anchor="t"/>
          <a:lstStyle/>
          <a:p>
            <a:pPr indent="0" marL="0">
              <a:buNone/>
            </a:pPr>
            <a:r>
              <a:rPr lang="en-US" sz="1400" dirty="0">
                <a:solidFill>
                  <a:schemeClr val="tx2"/>
                </a:solidFill>
              </a:rPr>
              <a:t>already-averaged data: redundancy already gone</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2 · EDGE FEATURE EXTRACTION</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bg1"/>
                </a:solidFill>
              </a:rPr>
              <a:t>Send 42 numbers a second, not 6,000</a:t>
            </a:r>
            <a:endParaRPr lang="en-US" sz="3400" dirty="0"/>
          </a:p>
        </p:txBody>
      </p:sp>
      <p:sp>
        <p:nvSpPr>
          <p:cNvPr id="4" name="Text 2"/>
          <p:cNvSpPr txBox="1"/>
          <p:nvPr/>
        </p:nvSpPr>
        <p:spPr>
          <a:xfrm>
            <a:off x="548640" y="1645920"/>
            <a:ext cx="3429000" cy="868680"/>
          </a:xfrm>
          <a:prstGeom prst="rect">
            <a:avLst/>
          </a:prstGeom>
          <a:noFill/>
          <a:ln/>
        </p:spPr>
        <p:txBody>
          <a:bodyPr wrap="square" lIns="0" tIns="0" rIns="0" bIns="0" rtlCol="0" anchor="b"/>
          <a:lstStyle/>
          <a:p>
            <a:pPr indent="0" marL="0">
              <a:buNone/>
            </a:pPr>
            <a:r>
              <a:rPr lang="en-US" sz="4600" b="1" dirty="0">
                <a:solidFill>
                  <a:schemeClr val="bg1"/>
                </a:solidFill>
              </a:rPr>
              <a:t>24,000 B</a:t>
            </a:r>
            <a:endParaRPr lang="en-US" sz="4600" dirty="0"/>
          </a:p>
        </p:txBody>
      </p:sp>
      <p:sp>
        <p:nvSpPr>
          <p:cNvPr id="5" name="Text 3"/>
          <p:cNvSpPr txBox="1"/>
          <p:nvPr/>
        </p:nvSpPr>
        <p:spPr>
          <a:xfrm>
            <a:off x="548640" y="256032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raw per machine-second: 6,000 values × 4 B</a:t>
            </a:r>
            <a:endParaRPr lang="en-US" sz="1400" dirty="0"/>
          </a:p>
        </p:txBody>
      </p:sp>
      <p:sp>
        <p:nvSpPr>
          <p:cNvPr id="6" name="Text 4"/>
          <p:cNvSpPr txBox="1"/>
          <p:nvPr/>
        </p:nvSpPr>
        <p:spPr>
          <a:xfrm>
            <a:off x="4297680" y="1645920"/>
            <a:ext cx="3429000" cy="868680"/>
          </a:xfrm>
          <a:prstGeom prst="rect">
            <a:avLst/>
          </a:prstGeom>
          <a:noFill/>
          <a:ln/>
        </p:spPr>
        <p:txBody>
          <a:bodyPr wrap="square" lIns="0" tIns="0" rIns="0" bIns="0" rtlCol="0" anchor="b"/>
          <a:lstStyle/>
          <a:p>
            <a:pPr indent="0" marL="0">
              <a:buNone/>
            </a:pPr>
            <a:r>
              <a:rPr lang="en-US" sz="4600" b="1" dirty="0">
                <a:solidFill>
                  <a:schemeClr val="bg1"/>
                </a:solidFill>
              </a:rPr>
              <a:t>168 B</a:t>
            </a:r>
            <a:endParaRPr lang="en-US" sz="4600" dirty="0"/>
          </a:p>
        </p:txBody>
      </p:sp>
      <p:sp>
        <p:nvSpPr>
          <p:cNvPr id="7" name="Text 5"/>
          <p:cNvSpPr txBox="1"/>
          <p:nvPr/>
        </p:nvSpPr>
        <p:spPr>
          <a:xfrm>
            <a:off x="4297680" y="256032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42 features × 4 B (14 per axis × 3)</a:t>
            </a:r>
            <a:endParaRPr lang="en-US" sz="1400" dirty="0"/>
          </a:p>
        </p:txBody>
      </p:sp>
      <p:sp>
        <p:nvSpPr>
          <p:cNvPr id="8" name="Text 6"/>
          <p:cNvSpPr txBox="1"/>
          <p:nvPr/>
        </p:nvSpPr>
        <p:spPr>
          <a:xfrm>
            <a:off x="8046720" y="1645920"/>
            <a:ext cx="3429000" cy="868680"/>
          </a:xfrm>
          <a:prstGeom prst="rect">
            <a:avLst/>
          </a:prstGeom>
          <a:noFill/>
          <a:ln/>
        </p:spPr>
        <p:txBody>
          <a:bodyPr wrap="square" lIns="0" tIns="0" rIns="0" bIns="0" rtlCol="0" anchor="b"/>
          <a:lstStyle/>
          <a:p>
            <a:pPr indent="0" marL="0">
              <a:buNone/>
            </a:pPr>
            <a:r>
              <a:rPr lang="en-US" sz="4600" b="1" dirty="0">
                <a:solidFill>
                  <a:schemeClr val="accent1"/>
                </a:solidFill>
              </a:rPr>
              <a:t>143×</a:t>
            </a:r>
            <a:endParaRPr lang="en-US" sz="4600" dirty="0"/>
          </a:p>
        </p:txBody>
      </p:sp>
      <p:sp>
        <p:nvSpPr>
          <p:cNvPr id="9" name="Text 7"/>
          <p:cNvSpPr txBox="1"/>
          <p:nvPr/>
        </p:nvSpPr>
        <p:spPr>
          <a:xfrm>
            <a:off x="8046720" y="256032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smaller; 120× measured on all 1,702 Bosch files</a:t>
            </a:r>
            <a:endParaRPr lang="en-US" sz="1400" dirty="0"/>
          </a:p>
        </p:txBody>
      </p:sp>
      <p:sp>
        <p:nvSpPr>
          <p:cNvPr id="10" name="Text 8"/>
          <p:cNvSpPr txBox="1"/>
          <p:nvPr/>
        </p:nvSpPr>
        <p:spPr>
          <a:xfrm>
            <a:off x="548640" y="3429000"/>
            <a:ext cx="11094415" cy="548640"/>
          </a:xfrm>
          <a:prstGeom prst="rect">
            <a:avLst/>
          </a:prstGeom>
          <a:noFill/>
          <a:ln/>
        </p:spPr>
        <p:txBody>
          <a:bodyPr wrap="square" lIns="0" tIns="0" rIns="0" bIns="0" rtlCol="0" anchor="t"/>
          <a:lstStyle/>
          <a:p>
            <a:pPr indent="0" marL="0">
              <a:buNone/>
            </a:pPr>
            <a:r>
              <a:rPr lang="en-US" sz="1500" dirty="0">
                <a:solidFill>
                  <a:schemeClr val="accent6"/>
                </a:solidFill>
              </a:rPr>
              <a:t>Per axis: mean, RMS, peak, peak-to-peak, crest factor, kurtosis, skewness, 5 FFT band energies, dominant frequency, spectral centroid</a:t>
            </a:r>
            <a:endParaRPr lang="en-US" sz="1500" dirty="0"/>
          </a:p>
        </p:txBody>
      </p:sp>
      <p:sp>
        <p:nvSpPr>
          <p:cNvPr id="11" name="Text 9"/>
          <p:cNvSpPr txBox="1"/>
          <p:nvPr/>
        </p:nvSpPr>
        <p:spPr>
          <a:xfrm>
            <a:off x="548640" y="4023360"/>
            <a:ext cx="3429000" cy="868680"/>
          </a:xfrm>
          <a:prstGeom prst="rect">
            <a:avLst/>
          </a:prstGeom>
          <a:noFill/>
          <a:ln/>
        </p:spPr>
        <p:txBody>
          <a:bodyPr wrap="square" lIns="0" tIns="0" rIns="0" bIns="0" rtlCol="0" anchor="b"/>
          <a:lstStyle/>
          <a:p>
            <a:pPr indent="0" marL="0">
              <a:buNone/>
            </a:pPr>
            <a:r>
              <a:rPr lang="en-US" sz="3000" b="1" dirty="0">
                <a:solidFill>
                  <a:schemeClr val="accent2"/>
                </a:solidFill>
              </a:rPr>
              <a:t>378 TB → ~0.4 TB</a:t>
            </a:r>
            <a:endParaRPr lang="en-US" sz="3000" dirty="0"/>
          </a:p>
        </p:txBody>
      </p:sp>
      <p:sp>
        <p:nvSpPr>
          <p:cNvPr id="12" name="Text 10"/>
          <p:cNvSpPr txBox="1"/>
          <p:nvPr/>
        </p:nvSpPr>
        <p:spPr>
          <a:xfrm>
            <a:off x="548640" y="493776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a year in the lake for our design (860 B/machine-s, Parquet 6.9×)</a:t>
            </a:r>
            <a:endParaRPr lang="en-US" sz="1400" dirty="0"/>
          </a:p>
        </p:txBody>
      </p:sp>
      <p:sp>
        <p:nvSpPr>
          <p:cNvPr id="13" name="Text 11"/>
          <p:cNvSpPr txBox="1"/>
          <p:nvPr/>
        </p:nvSpPr>
        <p:spPr>
          <a:xfrm>
            <a:off x="4297680" y="4023360"/>
            <a:ext cx="3429000" cy="868680"/>
          </a:xfrm>
          <a:prstGeom prst="rect">
            <a:avLst/>
          </a:prstGeom>
          <a:noFill/>
          <a:ln/>
        </p:spPr>
        <p:txBody>
          <a:bodyPr wrap="square" lIns="0" tIns="0" rIns="0" bIns="0" rtlCol="0" anchor="b"/>
          <a:lstStyle/>
          <a:p>
            <a:pPr indent="0" marL="0">
              <a:buNone/>
            </a:pPr>
            <a:r>
              <a:rPr lang="en-US" sz="3000" b="1" dirty="0">
                <a:solidFill>
                  <a:schemeClr val="accent2"/>
                </a:solidFill>
              </a:rPr>
              <a:t>0.69 Mbps</a:t>
            </a:r>
            <a:endParaRPr lang="en-US" sz="3000" dirty="0"/>
          </a:p>
        </p:txBody>
      </p:sp>
      <p:sp>
        <p:nvSpPr>
          <p:cNvPr id="14" name="Text 12"/>
          <p:cNvSpPr txBox="1"/>
          <p:nvPr/>
        </p:nvSpPr>
        <p:spPr>
          <a:xfrm>
            <a:off x="4297680" y="493776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fleet uplink, about 1 % of a plant's line</a:t>
            </a:r>
            <a:endParaRPr lang="en-US" sz="1400" dirty="0"/>
          </a:p>
        </p:txBody>
      </p:sp>
      <p:sp>
        <p:nvSpPr>
          <p:cNvPr id="15" name="Text 13"/>
          <p:cNvSpPr txBox="1"/>
          <p:nvPr/>
        </p:nvSpPr>
        <p:spPr>
          <a:xfrm>
            <a:off x="8046720" y="4023360"/>
            <a:ext cx="3429000" cy="868680"/>
          </a:xfrm>
          <a:prstGeom prst="rect">
            <a:avLst/>
          </a:prstGeom>
          <a:noFill/>
          <a:ln/>
        </p:spPr>
        <p:txBody>
          <a:bodyPr wrap="square" lIns="0" tIns="0" rIns="0" bIns="0" rtlCol="0" anchor="b"/>
          <a:lstStyle/>
          <a:p>
            <a:pPr indent="0" marL="0">
              <a:buNone/>
            </a:pPr>
            <a:r>
              <a:rPr lang="en-US" sz="3000" b="1" dirty="0">
                <a:solidFill>
                  <a:schemeClr val="accent2"/>
                </a:solidFill>
              </a:rPr>
              <a:t>ROC-AUC 0.98</a:t>
            </a:r>
            <a:endParaRPr lang="en-US" sz="3000" dirty="0"/>
          </a:p>
        </p:txBody>
      </p:sp>
      <p:sp>
        <p:nvSpPr>
          <p:cNvPr id="16" name="Text 14"/>
          <p:cNvSpPr txBox="1"/>
          <p:nvPr/>
        </p:nvSpPr>
        <p:spPr>
          <a:xfrm>
            <a:off x="8046720" y="4937760"/>
            <a:ext cx="3429000" cy="640080"/>
          </a:xfrm>
          <a:prstGeom prst="rect">
            <a:avLst/>
          </a:prstGeom>
          <a:noFill/>
          <a:ln/>
        </p:spPr>
        <p:txBody>
          <a:bodyPr wrap="square" lIns="0" tIns="0" rIns="0" bIns="0" rtlCol="0" anchor="t"/>
          <a:lstStyle/>
          <a:p>
            <a:pPr indent="0" marL="0">
              <a:buNone/>
            </a:pPr>
            <a:r>
              <a:rPr lang="en-US" sz="1400" dirty="0">
                <a:solidFill>
                  <a:schemeClr val="accent6"/>
                </a:solidFill>
              </a:rPr>
              <a:t>fault signal kept: anomaly model on features</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3 · PRICE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A cloud bill has four blocks, and three ways of charging</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737360"/>
                <a:gridCol w="3108960"/>
                <a:gridCol w="3291840"/>
                <a:gridCol w="2956255"/>
              </a:tblGrid>
              <a:tr h="502920">
                <a:tc>
                  <a:txBody>
                    <a:bodyPr/>
                    <a:lstStyle/>
                    <a:p>
                      <a:pPr indent="0" marL="0">
                        <a:buNone/>
                      </a:pPr>
                      <a:r>
                        <a:rPr lang="en-US" sz="1300" b="1" dirty="0">
                          <a:solidFill>
                            <a:schemeClr val="bg1"/>
                          </a:solidFill>
                        </a:rPr>
                        <a:t>Block</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AWS</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Azure</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GCP</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rPr>
                        <a:t>1 Ingestion</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IoT Core: $1.05 per million messages (5 KB units) + rules</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IoT Hub: fixed units, S2 = $350/month for 6 M messages/day (4 KB units)</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Pub/Sub: $40 per TiB + 3 broker VMs ($60 each, assumed)</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300" dirty="0">
                          <a:solidFill>
                            <a:schemeClr val="tx1"/>
                          </a:solidFill>
                        </a:rPr>
                        <a:t>2 Stream</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Kinesis, 2 shards</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Event Hubs, 2 TU</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Dataflow, 1 worker (assumed)</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300" dirty="0">
                          <a:solidFill>
                            <a:schemeClr val="tx1"/>
                          </a:solidFill>
                        </a:rPr>
                        <a:t>3 Lake</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S3 $0.025/GB-month</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ADLS $0.020/GB-month</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Cloud Storage $0.020/GB-month</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300" dirty="0">
                          <a:solidFill>
                            <a:schemeClr val="tx1"/>
                          </a:solidFill>
                        </a:rPr>
                        <a:t>4 PostgreSQL</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RDS 2 vCPU + 128 GB</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Flexible Server B2s</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300" dirty="0">
                          <a:solidFill>
                            <a:schemeClr val="tx1"/>
                          </a:solidFill>
                        </a:rPr>
                        <a:t>Cloud SQL 2 vCPU</a:t>
                      </a:r>
                      <a:endParaRPr lang="en-US" sz="13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600" b="1" dirty="0">
                          <a:solidFill>
                            <a:schemeClr val="tx1"/>
                          </a:solidFill>
                        </a:rPr>
                        <a:t>Charges by</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number of messages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fixed daily quota</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bytes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Text 2"/>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300" dirty="0">
                <a:solidFill>
                  <a:schemeClr val="tx2"/>
                </a:solidFill>
              </a:rPr>
              <a:t>Excluded: egress, support, discounts, GST, edge hardware, labour. Indicative, for comparing designs, not a quote.</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3 · FOUR WAYS TO SEND THE SAME DATA</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Scenarios S0 to S3</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463040"/>
                <a:gridCol w="5303520"/>
                <a:gridCol w="1828800"/>
                <a:gridCol w="2499055"/>
              </a:tblGrid>
              <a:tr h="457200">
                <a:tc>
                  <a:txBody>
                    <a:bodyPr/>
                    <a:lstStyle/>
                    <a:p>
                      <a:pPr indent="0" marL="0">
                        <a:buNone/>
                      </a:pP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is sent per machine per second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Message size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Messages a month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57200">
                <a:tc>
                  <a:txBody>
                    <a:bodyPr/>
                    <a:lstStyle/>
                    <a:p>
                      <a:pPr indent="0" marL="0">
                        <a:buNone/>
                      </a:pPr>
                      <a:r>
                        <a:rPr lang="en-US" sz="1500" dirty="0">
                          <a:solidFill>
                            <a:schemeClr val="tx1"/>
                          </a:solidFill>
                        </a:rPr>
                        <a:t>S0</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every reading as its own message (110 messages)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125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28.5 billion</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500" dirty="0">
                          <a:solidFill>
                            <a:schemeClr val="tx1"/>
                          </a:solidFill>
                        </a:rPr>
                        <a:t>S1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 Hz + raw 100 Hz, batched into 1 message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1,025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259.2 million</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b="1" dirty="0">
                          <a:solidFill>
                            <a:schemeClr val="tx1"/>
                          </a:solidFill>
                        </a:rPr>
                        <a:t>S2 (ours)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1 Hz + 42 edge features, batched</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860 B</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259.2 million</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457200">
                <a:tc>
                  <a:txBody>
                    <a:bodyPr/>
                    <a:lstStyle/>
                    <a:p>
                      <a:pPr indent="0" marL="0">
                        <a:buNone/>
                      </a:pPr>
                      <a:r>
                        <a:rPr lang="en-US" sz="1500" dirty="0">
                          <a:solidFill>
                            <a:schemeClr val="tx1"/>
                          </a:solidFill>
                        </a:rPr>
                        <a:t>S3</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 Hz + raw 2 kHz × 3 axes, batched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42,376 B</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259.2 million</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5" name="card"/>
          <p:cNvSpPr/>
          <p:nvPr/>
        </p:nvSpPr>
        <p:spPr>
          <a:xfrm>
            <a:off x="548640" y="4206240"/>
            <a:ext cx="11094415" cy="548640"/>
          </a:xfrm>
          <a:prstGeom prst="roundRect">
            <a:avLst>
              <a:gd name="adj" fmla="val 13333"/>
            </a:avLst>
          </a:prstGeom>
          <a:solidFill>
            <a:srgbClr val="FCE9DC"/>
          </a:solidFill>
          <a:ln w="12700">
            <a:solidFill>
              <a:srgbClr val="FCE9DC"/>
            </a:solidFill>
            <a:prstDash val="solid"/>
          </a:ln>
        </p:spPr>
      </p:sp>
      <p:sp>
        <p:nvSpPr>
          <p:cNvPr id="6" name="Text 3"/>
          <p:cNvSpPr txBox="1"/>
          <p:nvPr/>
        </p:nvSpPr>
        <p:spPr>
          <a:xfrm>
            <a:off x="777240" y="4206240"/>
            <a:ext cx="10637215" cy="548640"/>
          </a:xfrm>
          <a:prstGeom prst="rect">
            <a:avLst/>
          </a:prstGeom>
          <a:noFill/>
          <a:ln/>
        </p:spPr>
        <p:txBody>
          <a:bodyPr wrap="square" lIns="0" tIns="0" rIns="0" bIns="0" rtlCol="0" anchor="ctr"/>
          <a:lstStyle/>
          <a:p>
            <a:pPr indent="0" marL="0">
              <a:buNone/>
            </a:pPr>
            <a:r>
              <a:rPr lang="en-US" sz="1500" b="1" dirty="0">
                <a:solidFill>
                  <a:schemeClr val="tx1"/>
                </a:solidFill>
              </a:rPr>
              <a:t>Messages = 100 machines × 2,592,000 s × 1 = 259.2 M    ·    Stored GB = GB a month × 12 months ÷ compression</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3 · WORKED EXAMPLE, OUR DESIGN (S2)</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₹33k to ₹80k a month, and storage is under ₹1,000</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120640" cy="914400"/>
        </p:xfrm>
        <a:graphic>
          <a:graphicData uri="http://schemas.openxmlformats.org/drawingml/2006/table">
            <a:tbl>
              <a:tblPr/>
              <a:tblGrid>
                <a:gridCol w="1828800"/>
                <a:gridCol w="1097280"/>
                <a:gridCol w="1097280"/>
                <a:gridCol w="1097280"/>
              </a:tblGrid>
              <a:tr h="429768">
                <a:tc>
                  <a:txBody>
                    <a:bodyPr/>
                    <a:lstStyle/>
                    <a:p>
                      <a:pPr indent="0" marL="0">
                        <a:buNone/>
                      </a:pPr>
                      <a:r>
                        <a:rPr lang="en-US" sz="1500" b="1" dirty="0">
                          <a:solidFill>
                            <a:schemeClr val="bg1"/>
                          </a:solidFill>
                        </a:rPr>
                        <a:t>Block (₹/month)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AWS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Azure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GCP</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29768">
                <a:tc>
                  <a:txBody>
                    <a:bodyPr/>
                    <a:lstStyle/>
                    <a:p>
                      <a:pPr indent="0" marL="0">
                        <a:buNone/>
                      </a:pPr>
                      <a:r>
                        <a:rPr lang="en-US" sz="1500" dirty="0">
                          <a:solidFill>
                            <a:schemeClr val="tx1"/>
                          </a:solidFill>
                        </a:rPr>
                        <a:t>Ingestion</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33,535</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66,300</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17,817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29768">
                <a:tc>
                  <a:txBody>
                    <a:bodyPr/>
                    <a:lstStyle/>
                    <a:p>
                      <a:pPr indent="0" marL="0">
                        <a:buNone/>
                      </a:pPr>
                      <a:r>
                        <a:rPr lang="en-US" sz="1500" dirty="0">
                          <a:solidFill>
                            <a:schemeClr val="tx1"/>
                          </a:solidFill>
                        </a:rPr>
                        <a:t>Stream</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2,841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4,779</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4,774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29768">
                <a:tc>
                  <a:txBody>
                    <a:bodyPr/>
                    <a:lstStyle/>
                    <a:p>
                      <a:pPr indent="0" marL="0">
                        <a:buNone/>
                      </a:pPr>
                      <a:r>
                        <a:rPr lang="en-US" sz="1500" dirty="0">
                          <a:solidFill>
                            <a:schemeClr val="tx1"/>
                          </a:solidFill>
                        </a:rPr>
                        <a:t>Lake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918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734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734</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29768">
                <a:tc>
                  <a:txBody>
                    <a:bodyPr/>
                    <a:lstStyle/>
                    <a:p>
                      <a:pPr indent="0" marL="0">
                        <a:buNone/>
                      </a:pPr>
                      <a:r>
                        <a:rPr lang="en-US" sz="1500" dirty="0">
                          <a:solidFill>
                            <a:schemeClr val="tx1"/>
                          </a:solidFill>
                        </a:rPr>
                        <a:t>PostgreSQL</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5,827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8,271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9,603</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29768">
                <a:tc>
                  <a:txBody>
                    <a:bodyPr/>
                    <a:lstStyle/>
                    <a:p>
                      <a:pPr indent="0" marL="0">
                        <a:buNone/>
                      </a:pPr>
                      <a:r>
                        <a:rPr lang="en-US" sz="1600" b="1" dirty="0">
                          <a:solidFill>
                            <a:schemeClr val="tx1"/>
                          </a:solidFill>
                        </a:rPr>
                        <a:t>Total</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43,121</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80,085</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32,928</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Text 2"/>
          <p:cNvSpPr txBox="1"/>
          <p:nvPr/>
        </p:nvSpPr>
        <p:spPr>
          <a:xfrm>
            <a:off x="6035040" y="1691640"/>
            <a:ext cx="5577840" cy="32918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AWS ingestion: 259.2 M × $1.05 + 259.2 M × $0.316 = $354 → ₹33,535</a:t>
            </a:r>
            <a:endParaRPr lang="en-US" sz="1500" dirty="0"/>
          </a:p>
          <a:p>
            <a:pPr marL="203200" indent="-203200">
              <a:spcAft>
                <a:spcPts val="600"/>
              </a:spcAft>
              <a:buSzPct val="100000"/>
              <a:buChar char="•"/>
            </a:pPr>
            <a:r>
              <a:rPr lang="en-US" sz="1500" dirty="0">
                <a:solidFill>
                  <a:schemeClr val="tx1"/>
                </a:solidFill>
              </a:rPr>
              <a:t>Azure: 259.2 M ÷ 30 = 8.64 M/day → 2 × S2 units × $350 = $700 → ₹66,300 (83 % of Azure's bill)</a:t>
            </a:r>
            <a:endParaRPr lang="en-US" sz="1500" dirty="0"/>
          </a:p>
          <a:p>
            <a:pPr marL="203200" indent="-203200">
              <a:spcAft>
                <a:spcPts val="600"/>
              </a:spcAft>
              <a:buSzPct val="100000"/>
              <a:buChar char="•"/>
            </a:pPr>
            <a:r>
              <a:rPr lang="en-US" sz="1500" dirty="0">
                <a:solidFill>
                  <a:schemeClr val="tx1"/>
                </a:solidFill>
              </a:rPr>
              <a:t>GCP: 0.203 TiB × $40 = $8 + 3 VMs × $60 = $188 → ₹17,817</a:t>
            </a:r>
            <a:endParaRPr lang="en-US" sz="1500" dirty="0"/>
          </a:p>
          <a:p>
            <a:pPr marL="203200" indent="-203200">
              <a:spcAft>
                <a:spcPts val="600"/>
              </a:spcAft>
              <a:buSzPct val="100000"/>
              <a:buChar char="•"/>
            </a:pPr>
            <a:r>
              <a:rPr lang="en-US" sz="1500" dirty="0">
                <a:solidFill>
                  <a:schemeClr val="tx1"/>
                </a:solidFill>
              </a:rPr>
              <a:t>Lake: 222.9 GB × 12 ÷ 6.9 = 388 GB × $0.020–0.025 = ₹734–918</a:t>
            </a:r>
            <a:endParaRPr lang="en-US" sz="1500" dirty="0"/>
          </a:p>
        </p:txBody>
      </p:sp>
      <p:sp>
        <p:nvSpPr>
          <p:cNvPr id="6" name="Text 3"/>
          <p:cNvSpPr txBox="1"/>
          <p:nvPr/>
        </p:nvSpPr>
        <p:spPr>
          <a:xfrm>
            <a:off x="548640" y="5394960"/>
            <a:ext cx="11094415" cy="457200"/>
          </a:xfrm>
          <a:prstGeom prst="rect">
            <a:avLst/>
          </a:prstGeom>
          <a:noFill/>
          <a:ln/>
        </p:spPr>
        <p:txBody>
          <a:bodyPr wrap="square" lIns="0" tIns="0" rIns="0" bIns="0" rtlCol="0" anchor="t"/>
          <a:lstStyle/>
          <a:p>
            <a:pPr indent="0" marL="0">
              <a:buNone/>
            </a:pPr>
            <a:r>
              <a:rPr lang="en-US" sz="1800" b="1" dirty="0">
                <a:solidFill>
                  <a:schemeClr val="accent1"/>
                </a:solidFill>
              </a:rPr>
              <a:t>In IoT you pay for moving data, not for keeping it.</a:t>
            </a:r>
            <a:endParaRPr lang="en-US" sz="18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3 · ALL RESULTS</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Design choices move the bill more than the cloud does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760720" cy="914400"/>
        </p:xfrm>
        <a:graphic>
          <a:graphicData uri="http://schemas.openxmlformats.org/drawingml/2006/table">
            <a:tbl>
              <a:tblPr/>
              <a:tblGrid>
                <a:gridCol w="2651760"/>
                <a:gridCol w="1051560"/>
                <a:gridCol w="1051560"/>
                <a:gridCol w="1005840"/>
              </a:tblGrid>
              <a:tr h="457200">
                <a:tc>
                  <a:txBody>
                    <a:bodyPr/>
                    <a:lstStyle/>
                    <a:p>
                      <a:pPr indent="0" marL="0">
                        <a:buNone/>
                      </a:pPr>
                      <a:r>
                        <a:rPr lang="en-US" sz="1500" b="1" dirty="0">
                          <a:solidFill>
                            <a:schemeClr val="bg1"/>
                          </a:solidFill>
                        </a:rPr>
                        <a:t>₹ per month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AWS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Azure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GCP</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57200">
                <a:tc>
                  <a:txBody>
                    <a:bodyPr/>
                    <a:lstStyle/>
                    <a:p>
                      <a:pPr indent="0" marL="0">
                        <a:buNone/>
                      </a:pPr>
                      <a:r>
                        <a:rPr lang="en-US" sz="1500" dirty="0">
                          <a:solidFill>
                            <a:schemeClr val="tx1"/>
                          </a:solidFill>
                        </a:rPr>
                        <a:t>S0 one message per reading</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29.9 lakh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14.3 lakh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55k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500" dirty="0">
                          <a:solidFill>
                            <a:schemeClr val="tx1"/>
                          </a:solidFill>
                        </a:rPr>
                        <a:t>S1 raw 100 Hz, batched</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43k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80k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33k</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57200">
                <a:tc>
                  <a:txBody>
                    <a:bodyPr/>
                    <a:lstStyle/>
                    <a:p>
                      <a:pPr indent="0" marL="0">
                        <a:buNone/>
                      </a:pPr>
                      <a:r>
                        <a:rPr lang="en-US" sz="1600" b="1" dirty="0">
                          <a:solidFill>
                            <a:schemeClr val="tx1"/>
                          </a:solidFill>
                        </a:rPr>
                        <a:t>S2 edge features (ours)</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43k</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80k</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33k</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457200">
                <a:tc>
                  <a:txBody>
                    <a:bodyPr/>
                    <a:lstStyle/>
                    <a:p>
                      <a:pPr indent="0" marL="0">
                        <a:buNone/>
                      </a:pPr>
                      <a:r>
                        <a:rPr lang="en-US" sz="1500" dirty="0">
                          <a:solidFill>
                            <a:schemeClr val="tx1"/>
                          </a:solidFill>
                        </a:rPr>
                        <a:t>S3 raw 2 kHz</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2.85 lakh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3.94 lakh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1.19 lakh</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5" name="Text 2"/>
          <p:cNvSpPr txBox="1"/>
          <p:nvPr/>
        </p:nvSpPr>
        <p:spPr>
          <a:xfrm>
            <a:off x="6675120" y="1645920"/>
            <a:ext cx="4937760" cy="548640"/>
          </a:xfrm>
          <a:prstGeom prst="rect">
            <a:avLst/>
          </a:prstGeom>
          <a:noFill/>
          <a:ln/>
        </p:spPr>
        <p:txBody>
          <a:bodyPr wrap="square" lIns="0" tIns="0" rIns="0" bIns="0" rtlCol="0" anchor="t"/>
          <a:lstStyle/>
          <a:p>
            <a:pPr indent="0" marL="0">
              <a:buNone/>
            </a:pPr>
            <a:r>
              <a:rPr lang="en-US" sz="3000" b="1" dirty="0">
                <a:solidFill>
                  <a:schemeClr val="accent2"/>
                </a:solidFill>
              </a:rPr>
              <a:t>69×</a:t>
            </a:r>
            <a:endParaRPr lang="en-US" sz="3000" dirty="0"/>
          </a:p>
        </p:txBody>
      </p:sp>
      <p:sp>
        <p:nvSpPr>
          <p:cNvPr id="6" name="Text 3"/>
          <p:cNvSpPr txBox="1"/>
          <p:nvPr/>
        </p:nvSpPr>
        <p:spPr>
          <a:xfrm>
            <a:off x="6675120" y="2194560"/>
            <a:ext cx="4937760" cy="640080"/>
          </a:xfrm>
          <a:prstGeom prst="rect">
            <a:avLst/>
          </a:prstGeom>
          <a:noFill/>
          <a:ln/>
        </p:spPr>
        <p:txBody>
          <a:bodyPr wrap="square" lIns="0" tIns="0" rIns="0" bIns="0" rtlCol="0" anchor="t"/>
          <a:lstStyle/>
          <a:p>
            <a:pPr indent="0" marL="0">
              <a:buNone/>
            </a:pPr>
            <a:r>
              <a:rPr lang="en-US" sz="1400" dirty="0">
                <a:solidFill>
                  <a:schemeClr val="tx2"/>
                </a:solidFill>
              </a:rPr>
              <a:t>cheaper on AWS just by batching (S0 → S1)</a:t>
            </a:r>
            <a:endParaRPr lang="en-US" sz="1400" dirty="0"/>
          </a:p>
        </p:txBody>
      </p:sp>
      <p:sp>
        <p:nvSpPr>
          <p:cNvPr id="7" name="Text 4"/>
          <p:cNvSpPr txBox="1"/>
          <p:nvPr/>
        </p:nvSpPr>
        <p:spPr>
          <a:xfrm>
            <a:off x="6675120" y="3017520"/>
            <a:ext cx="4937760" cy="548640"/>
          </a:xfrm>
          <a:prstGeom prst="rect">
            <a:avLst/>
          </a:prstGeom>
          <a:noFill/>
          <a:ln/>
        </p:spPr>
        <p:txBody>
          <a:bodyPr wrap="square" lIns="0" tIns="0" rIns="0" bIns="0" rtlCol="0" anchor="t"/>
          <a:lstStyle/>
          <a:p>
            <a:pPr indent="0" marL="0">
              <a:buNone/>
            </a:pPr>
            <a:r>
              <a:rPr lang="en-US" sz="3000" b="1" dirty="0">
                <a:solidFill>
                  <a:schemeClr val="accent1"/>
                </a:solidFill>
              </a:rPr>
              <a:t>₹2.4–3.1 lakh</a:t>
            </a:r>
            <a:endParaRPr lang="en-US" sz="3000" dirty="0"/>
          </a:p>
        </p:txBody>
      </p:sp>
      <p:sp>
        <p:nvSpPr>
          <p:cNvPr id="8" name="Text 5"/>
          <p:cNvSpPr txBox="1"/>
          <p:nvPr/>
        </p:nvSpPr>
        <p:spPr>
          <a:xfrm>
            <a:off x="6675120" y="3566160"/>
            <a:ext cx="4937760" cy="640080"/>
          </a:xfrm>
          <a:prstGeom prst="rect">
            <a:avLst/>
          </a:prstGeom>
          <a:noFill/>
          <a:ln/>
        </p:spPr>
        <p:txBody>
          <a:bodyPr wrap="square" lIns="0" tIns="0" rIns="0" bIns="0" rtlCol="0" anchor="t"/>
          <a:lstStyle/>
          <a:p>
            <a:pPr indent="0" marL="0">
              <a:buNone/>
            </a:pPr>
            <a:r>
              <a:rPr lang="en-US" sz="1400" dirty="0">
                <a:solidFill>
                  <a:schemeClr val="tx2"/>
                </a:solidFill>
              </a:rPr>
              <a:t>saved a month by edge features at the real 2 kHz rate (S3 − S2, AWS/Azure)</a:t>
            </a:r>
            <a:endParaRPr lang="en-US" sz="1400" dirty="0"/>
          </a:p>
        </p:txBody>
      </p:sp>
      <p:sp>
        <p:nvSpPr>
          <p:cNvPr id="9" name="Text 6"/>
          <p:cNvSpPr txBox="1"/>
          <p:nvPr/>
        </p:nvSpPr>
        <p:spPr>
          <a:xfrm>
            <a:off x="6675120" y="4389120"/>
            <a:ext cx="4937760" cy="548640"/>
          </a:xfrm>
          <a:prstGeom prst="rect">
            <a:avLst/>
          </a:prstGeom>
          <a:noFill/>
          <a:ln/>
        </p:spPr>
        <p:txBody>
          <a:bodyPr wrap="square" lIns="0" tIns="0" rIns="0" bIns="0" rtlCol="0" anchor="t"/>
          <a:lstStyle/>
          <a:p>
            <a:pPr indent="0" marL="0">
              <a:buNone/>
            </a:pPr>
            <a:r>
              <a:rPr lang="en-US" sz="3000" b="1" dirty="0">
                <a:solidFill>
                  <a:schemeClr val="accent2"/>
                </a:solidFill>
              </a:rPr>
              <a:t>≈ 1.6 %</a:t>
            </a:r>
            <a:endParaRPr lang="en-US" sz="3000" dirty="0"/>
          </a:p>
        </p:txBody>
      </p:sp>
      <p:sp>
        <p:nvSpPr>
          <p:cNvPr id="10" name="Text 7"/>
          <p:cNvSpPr txBox="1"/>
          <p:nvPr/>
        </p:nvSpPr>
        <p:spPr>
          <a:xfrm>
            <a:off x="6675120" y="4937760"/>
            <a:ext cx="4937760" cy="640080"/>
          </a:xfrm>
          <a:prstGeom prst="rect">
            <a:avLst/>
          </a:prstGeom>
          <a:noFill/>
          <a:ln/>
        </p:spPr>
        <p:txBody>
          <a:bodyPr wrap="square" lIns="0" tIns="0" rIns="0" bIns="0" rtlCol="0" anchor="t"/>
          <a:lstStyle/>
          <a:p>
            <a:pPr indent="0" marL="0">
              <a:buNone/>
            </a:pPr>
            <a:r>
              <a:rPr lang="en-US" sz="1400" dirty="0">
                <a:solidFill>
                  <a:schemeClr val="tx2"/>
                </a:solidFill>
              </a:rPr>
              <a:t>Azure's ₹9.6 lakh a year vs ₹5.84 crore estimated benefit</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STORAGE CHOICE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Lake, warehouse, lakehouse: where the cost comes from</a:t>
            </a:r>
            <a:endParaRPr lang="en-US" sz="3400" dirty="0"/>
          </a:p>
        </p:txBody>
      </p:sp>
      <p:sp>
        <p:nvSpPr>
          <p:cNvPr id="4" name="card"/>
          <p:cNvSpPr/>
          <p:nvPr/>
        </p:nvSpPr>
        <p:spPr>
          <a:xfrm>
            <a:off x="548640" y="1737360"/>
            <a:ext cx="2624328" cy="2377440"/>
          </a:xfrm>
          <a:prstGeom prst="roundRect">
            <a:avLst>
              <a:gd name="adj" fmla="val 3077"/>
            </a:avLst>
          </a:prstGeom>
          <a:solidFill>
            <a:schemeClr val="bg2"/>
          </a:solidFill>
          <a:ln w="12700">
            <a:solidFill>
              <a:schemeClr val="bg2"/>
            </a:solidFill>
            <a:prstDash val="solid"/>
          </a:ln>
        </p:spPr>
      </p:sp>
      <p:sp>
        <p:nvSpPr>
          <p:cNvPr id="5" name="Text 3"/>
          <p:cNvSpPr txBox="1"/>
          <p:nvPr/>
        </p:nvSpPr>
        <p:spPr>
          <a:xfrm>
            <a:off x="777240" y="1920240"/>
            <a:ext cx="2194560" cy="640080"/>
          </a:xfrm>
          <a:prstGeom prst="rect">
            <a:avLst/>
          </a:prstGeom>
          <a:noFill/>
          <a:ln/>
        </p:spPr>
        <p:txBody>
          <a:bodyPr wrap="square" lIns="0" tIns="0" rIns="0" bIns="0" rtlCol="0" anchor="t"/>
          <a:lstStyle/>
          <a:p>
            <a:pPr indent="0" marL="0">
              <a:buNone/>
            </a:pPr>
            <a:r>
              <a:rPr lang="en-US" sz="3000" b="1" dirty="0">
                <a:solidFill>
                  <a:schemeClr val="accent1"/>
                </a:solidFill>
              </a:rPr>
              <a:t>₹7.2 lakh</a:t>
            </a:r>
            <a:endParaRPr lang="en-US" sz="3000" dirty="0"/>
          </a:p>
        </p:txBody>
      </p:sp>
      <p:sp>
        <p:nvSpPr>
          <p:cNvPr id="6" name="Text 4"/>
          <p:cNvSpPr txBox="1"/>
          <p:nvPr/>
        </p:nvSpPr>
        <p:spPr>
          <a:xfrm>
            <a:off x="777240" y="2651760"/>
            <a:ext cx="2194560" cy="1280160"/>
          </a:xfrm>
          <a:prstGeom prst="rect">
            <a:avLst/>
          </a:prstGeom>
          <a:noFill/>
          <a:ln/>
        </p:spPr>
        <p:txBody>
          <a:bodyPr wrap="square" lIns="0" tIns="0" rIns="0" bIns="0" rtlCol="0" anchor="t"/>
          <a:lstStyle/>
          <a:p>
            <a:pPr indent="0" marL="0">
              <a:buNone/>
            </a:pPr>
            <a:r>
              <a:rPr lang="en-US" sz="1500" dirty="0">
                <a:solidFill>
                  <a:schemeClr val="tx1"/>
                </a:solidFill>
              </a:rPr>
              <a:t>a month to keep a year of raw 2 kHz in a lake (378 TB × $0.020)</a:t>
            </a:r>
            <a:endParaRPr lang="en-US" sz="1500" dirty="0"/>
          </a:p>
        </p:txBody>
      </p:sp>
      <p:sp>
        <p:nvSpPr>
          <p:cNvPr id="7" name="card"/>
          <p:cNvSpPr/>
          <p:nvPr/>
        </p:nvSpPr>
        <p:spPr>
          <a:xfrm>
            <a:off x="3355848" y="1737360"/>
            <a:ext cx="2624328" cy="2377440"/>
          </a:xfrm>
          <a:prstGeom prst="roundRect">
            <a:avLst>
              <a:gd name="adj" fmla="val 3077"/>
            </a:avLst>
          </a:prstGeom>
          <a:solidFill>
            <a:schemeClr val="bg2"/>
          </a:solidFill>
          <a:ln w="12700">
            <a:solidFill>
              <a:schemeClr val="bg2"/>
            </a:solidFill>
            <a:prstDash val="solid"/>
          </a:ln>
        </p:spPr>
      </p:sp>
      <p:sp>
        <p:nvSpPr>
          <p:cNvPr id="8" name="Text 6"/>
          <p:cNvSpPr txBox="1"/>
          <p:nvPr/>
        </p:nvSpPr>
        <p:spPr>
          <a:xfrm>
            <a:off x="3584448" y="1920240"/>
            <a:ext cx="2194560" cy="640080"/>
          </a:xfrm>
          <a:prstGeom prst="rect">
            <a:avLst/>
          </a:prstGeom>
          <a:noFill/>
          <a:ln/>
        </p:spPr>
        <p:txBody>
          <a:bodyPr wrap="square" lIns="0" tIns="0" rIns="0" bIns="0" rtlCol="0" anchor="t"/>
          <a:lstStyle/>
          <a:p>
            <a:pPr indent="0" marL="0">
              <a:buNone/>
            </a:pPr>
            <a:r>
              <a:rPr lang="en-US" sz="3000" b="1" dirty="0">
                <a:solidFill>
                  <a:schemeClr val="accent1"/>
                </a:solidFill>
              </a:rPr>
              <a:t>₹2 lakh</a:t>
            </a:r>
            <a:endParaRPr lang="en-US" sz="3000" dirty="0"/>
          </a:p>
        </p:txBody>
      </p:sp>
      <p:sp>
        <p:nvSpPr>
          <p:cNvPr id="9" name="Text 7"/>
          <p:cNvSpPr txBox="1"/>
          <p:nvPr/>
        </p:nvSpPr>
        <p:spPr>
          <a:xfrm>
            <a:off x="3584448" y="2651760"/>
            <a:ext cx="2194560" cy="1280160"/>
          </a:xfrm>
          <a:prstGeom prst="rect">
            <a:avLst/>
          </a:prstGeom>
          <a:noFill/>
          <a:ln/>
        </p:spPr>
        <p:txBody>
          <a:bodyPr wrap="square" lIns="0" tIns="0" rIns="0" bIns="0" rtlCol="0" anchor="t"/>
          <a:lstStyle/>
          <a:p>
            <a:pPr indent="0" marL="0">
              <a:buNone/>
            </a:pPr>
            <a:r>
              <a:rPr lang="en-US" sz="1500" dirty="0">
                <a:solidFill>
                  <a:schemeClr val="tx1"/>
                </a:solidFill>
              </a:rPr>
              <a:t>for ONE full BigQuery scan of that raw data (344 TiB × $6.25)</a:t>
            </a:r>
            <a:endParaRPr lang="en-US" sz="1500" dirty="0"/>
          </a:p>
        </p:txBody>
      </p:sp>
      <p:sp>
        <p:nvSpPr>
          <p:cNvPr id="10" name="card"/>
          <p:cNvSpPr/>
          <p:nvPr/>
        </p:nvSpPr>
        <p:spPr>
          <a:xfrm>
            <a:off x="6163056" y="1737360"/>
            <a:ext cx="2624328" cy="2377440"/>
          </a:xfrm>
          <a:prstGeom prst="roundRect">
            <a:avLst>
              <a:gd name="adj" fmla="val 3077"/>
            </a:avLst>
          </a:prstGeom>
          <a:solidFill>
            <a:schemeClr val="bg2"/>
          </a:solidFill>
          <a:ln w="12700">
            <a:solidFill>
              <a:schemeClr val="bg2"/>
            </a:solidFill>
            <a:prstDash val="solid"/>
          </a:ln>
        </p:spPr>
      </p:sp>
      <p:sp>
        <p:nvSpPr>
          <p:cNvPr id="11" name="Text 9"/>
          <p:cNvSpPr txBox="1"/>
          <p:nvPr/>
        </p:nvSpPr>
        <p:spPr>
          <a:xfrm>
            <a:off x="6391656" y="1920240"/>
            <a:ext cx="2194560" cy="640080"/>
          </a:xfrm>
          <a:prstGeom prst="rect">
            <a:avLst/>
          </a:prstGeom>
          <a:noFill/>
          <a:ln/>
        </p:spPr>
        <p:txBody>
          <a:bodyPr wrap="square" lIns="0" tIns="0" rIns="0" bIns="0" rtlCol="0" anchor="t"/>
          <a:lstStyle/>
          <a:p>
            <a:pPr indent="0" marL="0">
              <a:buNone/>
            </a:pPr>
            <a:r>
              <a:rPr lang="en-US" sz="3000" b="1" dirty="0">
                <a:solidFill>
                  <a:schemeClr val="accent1"/>
                </a:solidFill>
              </a:rPr>
              <a:t>≈ ₹1,000</a:t>
            </a:r>
            <a:endParaRPr lang="en-US" sz="3000" dirty="0"/>
          </a:p>
        </p:txBody>
      </p:sp>
      <p:sp>
        <p:nvSpPr>
          <p:cNvPr id="12" name="Text 10"/>
          <p:cNvSpPr txBox="1"/>
          <p:nvPr/>
        </p:nvSpPr>
        <p:spPr>
          <a:xfrm>
            <a:off x="6391656" y="2651760"/>
            <a:ext cx="2194560" cy="1280160"/>
          </a:xfrm>
          <a:prstGeom prst="rect">
            <a:avLst/>
          </a:prstGeom>
          <a:noFill/>
          <a:ln/>
        </p:spPr>
        <p:txBody>
          <a:bodyPr wrap="square" lIns="0" tIns="0" rIns="0" bIns="0" rtlCol="0" anchor="t"/>
          <a:lstStyle/>
          <a:p>
            <a:pPr indent="0" marL="0">
              <a:buNone/>
            </a:pPr>
            <a:r>
              <a:rPr lang="en-US" sz="1500" dirty="0">
                <a:solidFill>
                  <a:schemeClr val="tx1"/>
                </a:solidFill>
              </a:rPr>
              <a:t>a month for a year of edge features (0.53 TB)</a:t>
            </a:r>
            <a:endParaRPr lang="en-US" sz="1500" dirty="0"/>
          </a:p>
        </p:txBody>
      </p:sp>
      <p:sp>
        <p:nvSpPr>
          <p:cNvPr id="13" name="card"/>
          <p:cNvSpPr/>
          <p:nvPr/>
        </p:nvSpPr>
        <p:spPr>
          <a:xfrm>
            <a:off x="8970264" y="1737360"/>
            <a:ext cx="2624328" cy="2377440"/>
          </a:xfrm>
          <a:prstGeom prst="roundRect">
            <a:avLst>
              <a:gd name="adj" fmla="val 3077"/>
            </a:avLst>
          </a:prstGeom>
          <a:solidFill>
            <a:schemeClr val="bg2"/>
          </a:solidFill>
          <a:ln w="12700">
            <a:solidFill>
              <a:schemeClr val="bg2"/>
            </a:solidFill>
            <a:prstDash val="solid"/>
          </a:ln>
        </p:spPr>
      </p:sp>
      <p:sp>
        <p:nvSpPr>
          <p:cNvPr id="14" name="Text 12"/>
          <p:cNvSpPr txBox="1"/>
          <p:nvPr/>
        </p:nvSpPr>
        <p:spPr>
          <a:xfrm>
            <a:off x="9198864" y="1920240"/>
            <a:ext cx="2194560" cy="640080"/>
          </a:xfrm>
          <a:prstGeom prst="rect">
            <a:avLst/>
          </a:prstGeom>
          <a:noFill/>
          <a:ln/>
        </p:spPr>
        <p:txBody>
          <a:bodyPr wrap="square" lIns="0" tIns="0" rIns="0" bIns="0" rtlCol="0" anchor="t"/>
          <a:lstStyle/>
          <a:p>
            <a:pPr indent="0" marL="0">
              <a:buNone/>
            </a:pPr>
            <a:r>
              <a:rPr lang="en-US" sz="3000" b="1" dirty="0">
                <a:solidFill>
                  <a:schemeClr val="accent2"/>
                </a:solidFill>
              </a:rPr>
              <a:t>₹0</a:t>
            </a:r>
            <a:endParaRPr lang="en-US" sz="3000" dirty="0"/>
          </a:p>
        </p:txBody>
      </p:sp>
      <p:sp>
        <p:nvSpPr>
          <p:cNvPr id="15" name="Text 13"/>
          <p:cNvSpPr txBox="1"/>
          <p:nvPr/>
        </p:nvSpPr>
        <p:spPr>
          <a:xfrm>
            <a:off x="9198864" y="2651760"/>
            <a:ext cx="2194560" cy="1280160"/>
          </a:xfrm>
          <a:prstGeom prst="rect">
            <a:avLst/>
          </a:prstGeom>
          <a:noFill/>
          <a:ln/>
        </p:spPr>
        <p:txBody>
          <a:bodyPr wrap="square" lIns="0" tIns="0" rIns="0" bIns="0" rtlCol="0" anchor="t"/>
          <a:lstStyle/>
          <a:p>
            <a:pPr indent="0" marL="0">
              <a:buNone/>
            </a:pPr>
            <a:r>
              <a:rPr lang="en-US" sz="1500" dirty="0">
                <a:solidFill>
                  <a:schemeClr val="tx1"/>
                </a:solidFill>
              </a:rPr>
              <a:t>our live prototype: BigQuery sandbox, 10 tables, ~1.27 M rows</a:t>
            </a:r>
            <a:endParaRPr lang="en-US" sz="1500" dirty="0"/>
          </a:p>
        </p:txBody>
      </p:sp>
      <p:sp>
        <p:nvSpPr>
          <p:cNvPr id="16" name="Text 14"/>
          <p:cNvSpPr txBox="1"/>
          <p:nvPr/>
        </p:nvSpPr>
        <p:spPr>
          <a:xfrm>
            <a:off x="548640" y="4434840"/>
            <a:ext cx="11094415" cy="14630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chemeClr val="tx1"/>
                </a:solidFill>
              </a:rPr>
              <a:t>Lake and warehouse storage cost about the same per GB ($0.020–0.025).</a:t>
            </a:r>
            <a:endParaRPr lang="en-US" sz="1600" dirty="0"/>
          </a:p>
          <a:p>
            <a:pPr marL="203200" indent="-203200">
              <a:spcAft>
                <a:spcPts val="600"/>
              </a:spcAft>
              <a:buSzPct val="100000"/>
              <a:buChar char="•"/>
            </a:pPr>
            <a:r>
              <a:rPr lang="en-US" sz="1600" dirty="0">
                <a:solidFill>
                  <a:schemeClr val="tx1"/>
                </a:solidFill>
              </a:rPr>
              <a:t>A warehouse's real cost is compute: BigQuery charges $6.25 per TiB scanned.</a:t>
            </a:r>
            <a:endParaRPr lang="en-US" sz="1600" dirty="0"/>
          </a:p>
          <a:p>
            <a:pPr marL="203200" indent="-203200">
              <a:spcAft>
                <a:spcPts val="600"/>
              </a:spcAft>
              <a:buSzPct val="100000"/>
              <a:buChar char="•"/>
            </a:pPr>
            <a:r>
              <a:rPr lang="en-US" sz="1600" dirty="0">
                <a:solidFill>
                  <a:schemeClr val="tx1"/>
                </a:solidFill>
              </a:rPr>
              <a:t>The edge is what makes the warehouse affordable.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4 · DECIDE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Weighted decision matrix: cost is 13 of 100 points</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914400"/>
        </p:xfrm>
        <a:graphic>
          <a:graphicData uri="http://schemas.openxmlformats.org/drawingml/2006/table">
            <a:tbl>
              <a:tblPr/>
              <a:tblGrid>
                <a:gridCol w="3291840"/>
                <a:gridCol w="914400"/>
                <a:gridCol w="850392"/>
                <a:gridCol w="850392"/>
                <a:gridCol w="859536"/>
              </a:tblGrid>
              <a:tr h="329184">
                <a:tc>
                  <a:txBody>
                    <a:bodyPr/>
                    <a:lstStyle/>
                    <a:p>
                      <a:pPr indent="0" marL="0">
                        <a:buNone/>
                      </a:pPr>
                      <a:r>
                        <a:rPr lang="en-US" sz="1200" b="1" dirty="0">
                          <a:solidFill>
                            <a:schemeClr val="bg1"/>
                          </a:solidFill>
                        </a:rPr>
                        <a:t>Criterion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Weight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AWS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Azure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GCP</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Industrial IoT / OT connectivity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Indicative cost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Edge and offline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12</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Security and India residency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12</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Storage and data lake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Stream and analytics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AI / ML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Integration (ERP, M365, OPC UA)</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8</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Scalability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Ease and skills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600" b="1" dirty="0">
                          <a:solidFill>
                            <a:schemeClr val="tx1"/>
                          </a:solidFill>
                        </a:rPr>
                        <a:t>Weighted total</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100</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3.92</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4.22</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c>
                  <a:txBody>
                    <a:bodyPr/>
                    <a:lstStyle/>
                    <a:p>
                      <a:pPr indent="0" marL="0">
                        <a:buNone/>
                      </a:pPr>
                      <a:r>
                        <a:rPr lang="en-US" sz="1600" b="1" dirty="0">
                          <a:solidFill>
                            <a:schemeClr val="tx1"/>
                          </a:solidFill>
                        </a:rPr>
                        <a:t>3.57</a:t>
                      </a:r>
                      <a:endParaRPr lang="en-US" sz="16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Text 2"/>
          <p:cNvSpPr txBox="1"/>
          <p:nvPr/>
        </p:nvSpPr>
        <p:spPr>
          <a:xfrm>
            <a:off x="7589520" y="1645920"/>
            <a:ext cx="4023360" cy="420624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chemeClr val="tx1"/>
                </a:solidFill>
              </a:rPr>
              <a:t>Total = Σ (weight × score) ÷ 100</a:t>
            </a:r>
            <a:endParaRPr lang="en-US" sz="1500" dirty="0"/>
          </a:p>
          <a:p>
            <a:pPr marL="203200" indent="-203200">
              <a:spcAft>
                <a:spcPts val="600"/>
              </a:spcAft>
              <a:buSzPct val="100000"/>
              <a:buChar char="•"/>
            </a:pPr>
            <a:r>
              <a:rPr lang="en-US" sz="1500" dirty="0">
                <a:solidFill>
                  <a:schemeClr val="tx1"/>
                </a:solidFill>
              </a:rPr>
              <a:t>Azure: 75 + 26 + 48 + 48 + 50 + 50 + 40 + 40 + 25 + 20 = 422 → 4.22</a:t>
            </a:r>
            <a:endParaRPr lang="en-US" sz="1500" dirty="0"/>
          </a:p>
          <a:p>
            <a:pPr marL="203200" indent="-203200">
              <a:spcAft>
                <a:spcPts val="600"/>
              </a:spcAft>
              <a:buSzPct val="100000"/>
              <a:buChar char="•"/>
            </a:pPr>
            <a:r>
              <a:rPr lang="en-US" sz="1500" dirty="0">
                <a:solidFill>
                  <a:schemeClr val="tx1"/>
                </a:solidFill>
              </a:rPr>
              <a:t>Cost score is computed: cheapest = 5, others = 5 × cheapest ÷ cost</a:t>
            </a:r>
            <a:endParaRPr lang="en-US" sz="1500" dirty="0"/>
          </a:p>
          <a:p>
            <a:pPr marL="203200" indent="-203200">
              <a:spcAft>
                <a:spcPts val="600"/>
              </a:spcAft>
              <a:buSzPct val="100000"/>
              <a:buChar char="•"/>
            </a:pPr>
            <a:r>
              <a:rPr lang="en-US" sz="1500" dirty="0">
                <a:solidFill>
                  <a:schemeClr val="tx1"/>
                </a:solidFill>
              </a:rPr>
              <a:t>AWS: 5 × 32,928 ÷ 43,121 = 3.8 → 4;  Azure: 5 × 32,928 ÷ 80,085 = 2.1 → 2</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STEP 4 · IS IT ROBUST?</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Azure wins unless cost is a third of the decision</a:t>
            </a:r>
            <a:endParaRPr lang="en-US" sz="3400" dirty="0"/>
          </a:p>
        </p:txBody>
      </p:sp>
      <p:pic>
        <p:nvPicPr>
          <p:cNvPr id="4" name="Image 0" descr="Sensitivity analysis">    </p:cNvPr>
          <p:cNvPicPr>
            <a:picLocks noChangeAspect="1"/>
          </p:cNvPicPr>
          <p:nvPr/>
        </p:nvPicPr>
        <p:blipFill>
          <a:blip r:embed="rId1"/>
          <a:srcRect l="0" r="0" t="0" b="0"/>
          <a:stretch/>
        </p:blipFill>
        <p:spPr>
          <a:xfrm>
            <a:off x="548640" y="1600200"/>
            <a:ext cx="6766560" cy="4206240"/>
          </a:xfrm>
          <a:prstGeom prst="rect">
            <a:avLst/>
          </a:prstGeom>
        </p:spPr>
      </p:pic>
      <p:sp>
        <p:nvSpPr>
          <p:cNvPr id="5" name="Text 2"/>
          <p:cNvSpPr txBox="1"/>
          <p:nvPr/>
        </p:nvSpPr>
        <p:spPr>
          <a:xfrm>
            <a:off x="7680960" y="1645920"/>
            <a:ext cx="3931920" cy="548640"/>
          </a:xfrm>
          <a:prstGeom prst="rect">
            <a:avLst/>
          </a:prstGeom>
          <a:noFill/>
          <a:ln/>
        </p:spPr>
        <p:txBody>
          <a:bodyPr wrap="square" lIns="0" tIns="0" rIns="0" bIns="0" rtlCol="0" anchor="t"/>
          <a:lstStyle/>
          <a:p>
            <a:pPr indent="0" marL="0">
              <a:buNone/>
            </a:pPr>
            <a:r>
              <a:rPr lang="en-US" sz="3200" b="1" dirty="0">
                <a:solidFill>
                  <a:schemeClr val="accent1"/>
                </a:solidFill>
              </a:rPr>
              <a:t>35 %</a:t>
            </a:r>
            <a:endParaRPr lang="en-US" sz="3200" dirty="0"/>
          </a:p>
        </p:txBody>
      </p:sp>
      <p:sp>
        <p:nvSpPr>
          <p:cNvPr id="6" name="Text 3"/>
          <p:cNvSpPr txBox="1"/>
          <p:nvPr/>
        </p:nvSpPr>
        <p:spPr>
          <a:xfrm>
            <a:off x="7680960" y="2194560"/>
            <a:ext cx="3931920" cy="731520"/>
          </a:xfrm>
          <a:prstGeom prst="rect">
            <a:avLst/>
          </a:prstGeom>
          <a:noFill/>
          <a:ln/>
        </p:spPr>
        <p:txBody>
          <a:bodyPr wrap="square" lIns="0" tIns="0" rIns="0" bIns="0" rtlCol="0" anchor="t"/>
          <a:lstStyle/>
          <a:p>
            <a:pPr indent="0" marL="0">
              <a:buNone/>
            </a:pPr>
            <a:r>
              <a:rPr lang="en-US" sz="1400" dirty="0">
                <a:solidFill>
                  <a:schemeClr val="tx2"/>
                </a:solidFill>
              </a:rPr>
              <a:t>cost weight needed before AWS overtakes Azure (we use 13 %)</a:t>
            </a:r>
            <a:endParaRPr lang="en-US" sz="1400" dirty="0"/>
          </a:p>
        </p:txBody>
      </p:sp>
      <p:sp>
        <p:nvSpPr>
          <p:cNvPr id="7" name="Text 4"/>
          <p:cNvSpPr txBox="1"/>
          <p:nvPr/>
        </p:nvSpPr>
        <p:spPr>
          <a:xfrm>
            <a:off x="7680960" y="3063240"/>
            <a:ext cx="3931920" cy="548640"/>
          </a:xfrm>
          <a:prstGeom prst="rect">
            <a:avLst/>
          </a:prstGeom>
          <a:noFill/>
          <a:ln/>
        </p:spPr>
        <p:txBody>
          <a:bodyPr wrap="square" lIns="0" tIns="0" rIns="0" bIns="0" rtlCol="0" anchor="t"/>
          <a:lstStyle/>
          <a:p>
            <a:pPr indent="0" marL="0">
              <a:buNone/>
            </a:pPr>
            <a:r>
              <a:rPr lang="en-US" sz="3200" b="1" dirty="0">
                <a:solidFill>
                  <a:schemeClr val="accent1"/>
                </a:solidFill>
              </a:rPr>
              <a:t>88.7 %</a:t>
            </a:r>
            <a:endParaRPr lang="en-US" sz="3200" dirty="0"/>
          </a:p>
        </p:txBody>
      </p:sp>
      <p:sp>
        <p:nvSpPr>
          <p:cNvPr id="8" name="Text 5"/>
          <p:cNvSpPr txBox="1"/>
          <p:nvPr/>
        </p:nvSpPr>
        <p:spPr>
          <a:xfrm>
            <a:off x="7680960" y="3611880"/>
            <a:ext cx="3931920" cy="731520"/>
          </a:xfrm>
          <a:prstGeom prst="rect">
            <a:avLst/>
          </a:prstGeom>
          <a:noFill/>
          <a:ln/>
        </p:spPr>
        <p:txBody>
          <a:bodyPr wrap="square" lIns="0" tIns="0" rIns="0" bIns="0" rtlCol="0" anchor="t"/>
          <a:lstStyle/>
          <a:p>
            <a:pPr indent="0" marL="0">
              <a:buNone/>
            </a:pPr>
            <a:r>
              <a:rPr lang="en-US" sz="1400" dirty="0">
                <a:solidFill>
                  <a:schemeClr val="tx2"/>
                </a:solidFill>
              </a:rPr>
              <a:t>of 10,000 Monte Carlo runs won by Azure (AWS 10.9 %, GCP 0.4 %)</a:t>
            </a:r>
            <a:endParaRPr lang="en-US" sz="1400" dirty="0"/>
          </a:p>
        </p:txBody>
      </p:sp>
      <p:sp>
        <p:nvSpPr>
          <p:cNvPr id="9" name="Text 6"/>
          <p:cNvSpPr txBox="1"/>
          <p:nvPr/>
        </p:nvSpPr>
        <p:spPr>
          <a:xfrm>
            <a:off x="7680960" y="4480560"/>
            <a:ext cx="3931920" cy="548640"/>
          </a:xfrm>
          <a:prstGeom prst="rect">
            <a:avLst/>
          </a:prstGeom>
          <a:noFill/>
          <a:ln/>
        </p:spPr>
        <p:txBody>
          <a:bodyPr wrap="square" lIns="0" tIns="0" rIns="0" bIns="0" rtlCol="0" anchor="t"/>
          <a:lstStyle/>
          <a:p>
            <a:pPr indent="0" marL="0">
              <a:buNone/>
            </a:pPr>
            <a:r>
              <a:rPr lang="en-US" sz="3200" b="1" dirty="0">
                <a:solidFill>
                  <a:schemeClr val="accent1"/>
                </a:solidFill>
              </a:rPr>
              <a:t>5 of 6</a:t>
            </a:r>
            <a:endParaRPr lang="en-US" sz="3200" dirty="0"/>
          </a:p>
        </p:txBody>
      </p:sp>
      <p:sp>
        <p:nvSpPr>
          <p:cNvPr id="10" name="Text 7"/>
          <p:cNvSpPr txBox="1"/>
          <p:nvPr/>
        </p:nvSpPr>
        <p:spPr>
          <a:xfrm>
            <a:off x="7680960" y="5029200"/>
            <a:ext cx="3931920" cy="731520"/>
          </a:xfrm>
          <a:prstGeom prst="rect">
            <a:avLst/>
          </a:prstGeom>
          <a:noFill/>
          <a:ln/>
        </p:spPr>
        <p:txBody>
          <a:bodyPr wrap="square" lIns="0" tIns="0" rIns="0" bIns="0" rtlCol="0" anchor="t"/>
          <a:lstStyle/>
          <a:p>
            <a:pPr indent="0" marL="0">
              <a:buNone/>
            </a:pPr>
            <a:r>
              <a:rPr lang="en-US" sz="1400" dirty="0">
                <a:solidFill>
                  <a:schemeClr val="tx2"/>
                </a:solidFill>
              </a:rPr>
              <a:t>weight profiles won by Azure; only cost-heavy picks AWS</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lIns="0" tIns="0" rIns="0" bIns="0" rtlCol="0"/>
          <a:lstStyle/>
          <a:p>
            <a:pPr indent="0" marL="0">
              <a:buNone/>
            </a:pPr>
            <a:r>
              <a:rPr lang="en-US" sz="1600" b="1" spc="200" kern="0" dirty="0">
                <a:solidFill>
                  <a:schemeClr val="accent1"/>
                </a:solidFill>
              </a:rPr>
              <a:t>THE TAKEAWAY</a:t>
            </a: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lIns="0" tIns="0" rIns="0" bIns="0" rtlCol="0" anchor="t"/>
          <a:lstStyle/>
          <a:p>
            <a:pPr algn="l" indent="0" marL="0">
              <a:buNone/>
            </a:pPr>
            <a:r>
              <a:rPr lang="en-US" sz="4800" b="1" dirty="0">
                <a:solidFill>
                  <a:schemeClr val="bg1"/>
                </a:solidFill>
              </a:rPr>
              <a:t>Process at the edge, batch the messages, then choose the cloud</a:t>
            </a: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lIns="0" tIns="0" rIns="0" bIns="0" rtlCol="0" anchor="t"/>
          <a:lstStyle/>
          <a:p>
            <a:pPr indent="0" marL="0">
              <a:buNone/>
            </a:pPr>
            <a:r>
              <a:rPr lang="en-US" sz="2200" dirty="0">
                <a:solidFill>
                  <a:schemeClr val="accent6"/>
                </a:solidFill>
              </a:rPr>
              <a:t>378 TB → 0.4 TB a year · ₹30 lakh → ₹43k a month by batching · cloud cost ≈ 1–2 % of the benefit · Azure recommended, 4.22</a:t>
            </a:r>
            <a:endParaRPr lang="en-US" sz="2200" dirty="0"/>
          </a:p>
        </p:txBody>
      </p:sp>
    </p:spTree>
  </p:cSld>
  <p:clrMapOvr>
    <a:masterClrMapping/>
  </p:clrMapOvr>
</p:sld>
</file>

<file path=ppt/theme/theme1.xml><?xml version="1.0" encoding="utf-8"?>
<a:theme xmlns:a="http://schemas.openxmlformats.org/drawingml/2006/main" name="Industrial Signal">
  <a:themeElements>
    <a:clrScheme name="Industrial Signal">
      <a:dk1>
        <a:srgbClr val="1E262B"/>
      </a:dk1>
      <a:lt1>
        <a:srgbClr val="FFFFFF"/>
      </a:lt1>
      <a:dk2>
        <a:srgbClr val="34434B"/>
      </a:dk2>
      <a:lt2>
        <a:srgbClr val="EEF1F2"/>
      </a:lt2>
      <a:accent1>
        <a:srgbClr val="E8702A"/>
      </a:accent1>
      <a:accent2>
        <a:srgbClr val="1B8A8F"/>
      </a:accent2>
      <a:accent3>
        <a:srgbClr val="6C7A82"/>
      </a:accent3>
      <a:accent4>
        <a:srgbClr val="F2B134"/>
      </a:accent4>
      <a:accent5>
        <a:srgbClr val="3C6E91"/>
      </a:accent5>
      <a:accent6>
        <a:srgbClr val="9AA5AB"/>
      </a:accent6>
      <a:hlink>
        <a:srgbClr val="1B8A8F"/>
      </a:hlink>
      <a:folHlink>
        <a:srgbClr val="6C7A82"/>
      </a:folHlink>
    </a:clrScheme>
    <a:fontScheme name="Industrial 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volume and cloud cost</dc:title>
  <dc:subject>PptxGenJS Presentation</dc:subject>
  <dc:creator>Tirthanker Singh</dc:creator>
  <cp:lastModifiedBy>Tirthanker Singh</cp:lastModifiedBy>
  <cp:revision>1</cp:revision>
  <dcterms:created xsi:type="dcterms:W3CDTF">2026-10-28T20:07:19Z</dcterms:created>
  <dcterms:modified xsi:type="dcterms:W3CDTF">2026-10-28T20:07:19Z</dcterms:modified>
</cp:coreProperties>
</file>